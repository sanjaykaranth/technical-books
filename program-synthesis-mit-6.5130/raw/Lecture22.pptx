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sldIdLst>
    <p:sldId id="336" r:id="rId2"/>
    <p:sldId id="446" r:id="rId3"/>
    <p:sldId id="447" r:id="rId4"/>
    <p:sldId id="448" r:id="rId5"/>
    <p:sldId id="449" r:id="rId6"/>
    <p:sldId id="461" r:id="rId7"/>
    <p:sldId id="462" r:id="rId8"/>
    <p:sldId id="463" r:id="rId9"/>
    <p:sldId id="469" r:id="rId10"/>
    <p:sldId id="472" r:id="rId11"/>
    <p:sldId id="471" r:id="rId12"/>
    <p:sldId id="470" r:id="rId13"/>
    <p:sldId id="468" r:id="rId14"/>
    <p:sldId id="464" r:id="rId15"/>
    <p:sldId id="451" r:id="rId16"/>
    <p:sldId id="452" r:id="rId17"/>
    <p:sldId id="453" r:id="rId18"/>
    <p:sldId id="454" r:id="rId19"/>
    <p:sldId id="455" r:id="rId20"/>
    <p:sldId id="476" r:id="rId21"/>
    <p:sldId id="475" r:id="rId22"/>
    <p:sldId id="474" r:id="rId23"/>
    <p:sldId id="473" r:id="rId24"/>
    <p:sldId id="456" r:id="rId25"/>
    <p:sldId id="457" r:id="rId26"/>
    <p:sldId id="458" r:id="rId27"/>
    <p:sldId id="459" r:id="rId28"/>
    <p:sldId id="460" r:id="rId29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6608"/>
    <a:srgbClr val="A50021"/>
    <a:srgbClr val="080F0B"/>
    <a:srgbClr val="CA703B"/>
    <a:srgbClr val="CFE5C9"/>
    <a:srgbClr val="9AC890"/>
    <a:srgbClr val="C7CEFF"/>
    <a:srgbClr val="7F8AFF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84761" autoAdjust="0"/>
  </p:normalViewPr>
  <p:slideViewPr>
    <p:cSldViewPr snapToGrid="0">
      <p:cViewPr varScale="1">
        <p:scale>
          <a:sx n="93" d="100"/>
          <a:sy n="93" d="100"/>
        </p:scale>
        <p:origin x="72" y="27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do Solar-Lezama" userId="e82942028eae7d90" providerId="LiveId" clId="{7045F0CB-D5AF-40A1-87D3-1AA82FA5AFA3}"/>
    <pc:docChg chg="delSld modSld">
      <pc:chgData name="Armando Solar-Lezama" userId="e82942028eae7d90" providerId="LiveId" clId="{7045F0CB-D5AF-40A1-87D3-1AA82FA5AFA3}" dt="2025-11-19T16:06:47.396" v="4" actId="20577"/>
      <pc:docMkLst>
        <pc:docMk/>
      </pc:docMkLst>
      <pc:sldChg chg="modSp mod">
        <pc:chgData name="Armando Solar-Lezama" userId="e82942028eae7d90" providerId="LiveId" clId="{7045F0CB-D5AF-40A1-87D3-1AA82FA5AFA3}" dt="2025-11-19T16:06:47.396" v="4" actId="20577"/>
        <pc:sldMkLst>
          <pc:docMk/>
          <pc:sldMk cId="3642210361" sldId="336"/>
        </pc:sldMkLst>
        <pc:spChg chg="mod">
          <ac:chgData name="Armando Solar-Lezama" userId="e82942028eae7d90" providerId="LiveId" clId="{7045F0CB-D5AF-40A1-87D3-1AA82FA5AFA3}" dt="2025-11-19T16:06:47.396" v="4" actId="20577"/>
          <ac:spMkLst>
            <pc:docMk/>
            <pc:sldMk cId="3642210361" sldId="336"/>
            <ac:spMk id="2" creationId="{00000000-0000-0000-0000-000000000000}"/>
          </ac:spMkLst>
        </pc:spChg>
      </pc:sldChg>
      <pc:sldChg chg="del">
        <pc:chgData name="Armando Solar-Lezama" userId="e82942028eae7d90" providerId="LiveId" clId="{7045F0CB-D5AF-40A1-87D3-1AA82FA5AFA3}" dt="2025-11-19T15:52:03.290" v="1" actId="47"/>
        <pc:sldMkLst>
          <pc:docMk/>
          <pc:sldMk cId="1527228882" sldId="426"/>
        </pc:sldMkLst>
      </pc:sldChg>
      <pc:sldChg chg="del">
        <pc:chgData name="Armando Solar-Lezama" userId="e82942028eae7d90" providerId="LiveId" clId="{7045F0CB-D5AF-40A1-87D3-1AA82FA5AFA3}" dt="2025-11-19T15:51:58.936" v="0" actId="47"/>
        <pc:sldMkLst>
          <pc:docMk/>
          <pc:sldMk cId="1327992032" sldId="427"/>
        </pc:sldMkLst>
      </pc:sldChg>
      <pc:sldChg chg="del">
        <pc:chgData name="Armando Solar-Lezama" userId="e82942028eae7d90" providerId="LiveId" clId="{7045F0CB-D5AF-40A1-87D3-1AA82FA5AFA3}" dt="2025-11-19T15:52:06.610" v="2" actId="47"/>
        <pc:sldMkLst>
          <pc:docMk/>
          <pc:sldMk cId="54140058" sldId="42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0CA21C-B112-4BD8-B9E9-462888A5211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A80BC8A-3D2D-4399-A152-F8F7638B0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4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5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46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74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65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92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87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89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17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76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22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54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11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684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tool is called </a:t>
            </a:r>
            <a:r>
              <a:rPr lang="en-US" dirty="0" err="1"/>
              <a:t>Synquid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330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81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737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019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973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939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415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446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388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3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4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8604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6869903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4351338"/>
          </a:xfrm>
        </p:spPr>
        <p:txBody>
          <a:bodyPr/>
          <a:lstStyle>
            <a:lvl1pPr>
              <a:buClr>
                <a:schemeClr val="bg1"/>
              </a:buClr>
              <a:buSzPct val="25000"/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7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0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B1FC-33B3-4A41-B046-2D6AAAB3391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tiny.cc/synquid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Lecture 22</a:t>
            </a:r>
            <a:br>
              <a:rPr lang="en-US" dirty="0"/>
            </a:br>
            <a:r>
              <a:rPr lang="en-US" dirty="0"/>
              <a:t>Synthesis from </a:t>
            </a:r>
            <a:br>
              <a:rPr lang="en-US" dirty="0"/>
            </a:br>
            <a:r>
              <a:rPr lang="en-US" dirty="0"/>
              <a:t>Refinement Types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With slides from Nadia Polikarpova</a:t>
            </a:r>
          </a:p>
        </p:txBody>
      </p:sp>
    </p:spTree>
    <p:extLst>
      <p:ext uri="{BB962C8B-B14F-4D97-AF65-F5344CB8AC3E}">
        <p14:creationId xmlns:p14="http://schemas.microsoft.com/office/powerpoint/2010/main" val="364221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Refinement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2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168060" y="1977956"/>
            <a:ext cx="8753476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 Cons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h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         t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≥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h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7439" y="1995875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CB6608"/>
                </a:solidFill>
              </a:rPr>
              <a:t>sorted lists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949774" y="2948383"/>
            <a:ext cx="2190750" cy="552450"/>
          </a:xfrm>
          <a:prstGeom prst="rect">
            <a:avLst/>
          </a:prstGeom>
          <a:noFill/>
          <a:ln w="19050">
            <a:solidFill>
              <a:srgbClr val="CB66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8117344" y="2367410"/>
            <a:ext cx="391495" cy="288518"/>
            <a:chOff x="5918963" y="3812965"/>
            <a:chExt cx="391495" cy="288518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5918963" y="3957224"/>
              <a:ext cx="326210" cy="0"/>
            </a:xfrm>
            <a:prstGeom prst="line">
              <a:avLst/>
            </a:prstGeom>
            <a:ln w="25400">
              <a:solidFill>
                <a:srgbClr val="CB66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253307" y="3812965"/>
              <a:ext cx="0" cy="288518"/>
            </a:xfrm>
            <a:prstGeom prst="line">
              <a:avLst/>
            </a:prstGeom>
            <a:ln w="25400">
              <a:solidFill>
                <a:srgbClr val="CB66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6310458" y="3865784"/>
              <a:ext cx="0" cy="182880"/>
            </a:xfrm>
            <a:prstGeom prst="line">
              <a:avLst/>
            </a:prstGeom>
            <a:ln w="25400">
              <a:solidFill>
                <a:srgbClr val="CB66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/>
          <p:cNvSpPr/>
          <p:nvPr/>
        </p:nvSpPr>
        <p:spPr>
          <a:xfrm>
            <a:off x="8117344" y="3073732"/>
            <a:ext cx="302429" cy="301752"/>
          </a:xfrm>
          <a:prstGeom prst="rect">
            <a:avLst/>
          </a:prstGeom>
          <a:pattFill prst="pct50">
            <a:fgClr>
              <a:srgbClr val="CB6608"/>
            </a:fgClr>
            <a:bgClr>
              <a:schemeClr val="bg1"/>
            </a:bgClr>
          </a:pattFill>
          <a:ln w="25400">
            <a:solidFill>
              <a:srgbClr val="CB66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19785" y="3073732"/>
            <a:ext cx="1341163" cy="301752"/>
          </a:xfrm>
          <a:prstGeom prst="rect">
            <a:avLst/>
          </a:prstGeom>
          <a:pattFill prst="pct70">
            <a:fgClr>
              <a:srgbClr val="CB6608"/>
            </a:fgClr>
            <a:bgClr>
              <a:schemeClr val="bg1"/>
            </a:bgClr>
          </a:pattFill>
          <a:ln w="25400">
            <a:solidFill>
              <a:srgbClr val="CB66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168060" y="4585439"/>
            <a:ext cx="81011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Consolas" panose="020B0609020204030204" pitchFamily="49" charset="0"/>
              </a:rPr>
              <a:t>measure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elems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::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CB6608"/>
                </a:solidFill>
                <a:effectLst/>
                <a:latin typeface="Consolas" panose="020B0609020204030204" pitchFamily="49" charset="0"/>
              </a:rPr>
              <a:t>SList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 -&gt;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B6608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Consolas" panose="020B0609020204030204" pitchFamily="49" charset="0"/>
              </a:rPr>
              <a:t>where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200" dirty="0">
                <a:latin typeface="Consolas" panose="020B0609020204030204" pitchFamily="49" charset="0"/>
              </a:rPr>
              <a:t>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Nil -&gt; []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Cons x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xs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-&gt;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elems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xs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+ [x]</a:t>
            </a:r>
          </a:p>
        </p:txBody>
      </p:sp>
    </p:spTree>
    <p:extLst>
      <p:ext uri="{BB962C8B-B14F-4D97-AF65-F5344CB8AC3E}">
        <p14:creationId xmlns:p14="http://schemas.microsoft.com/office/powerpoint/2010/main" val="17316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/>
          <p:cNvCxnSpPr/>
          <p:nvPr/>
        </p:nvCxnSpPr>
        <p:spPr>
          <a:xfrm flipH="1">
            <a:off x="5429250" y="3724275"/>
            <a:ext cx="640080" cy="0"/>
          </a:xfrm>
          <a:prstGeom prst="straightConnector1">
            <a:avLst/>
          </a:prstGeom>
          <a:ln w="38100">
            <a:solidFill>
              <a:srgbClr val="CB6608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804657" y="1816573"/>
            <a:ext cx="253497" cy="5032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Refinement types as specs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3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178225" y="1813238"/>
            <a:ext cx="8232600" cy="4835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Insert 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into a sorted list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=</a:t>
            </a:r>
          </a:p>
          <a:p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match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≤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 x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t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</p:txBody>
      </p:sp>
      <p:pic>
        <p:nvPicPr>
          <p:cNvPr id="8" name="Picture 2" descr="http://vector.me/files/images/4/3/436768/red_green_ok_not_ok_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479" y="3266162"/>
            <a:ext cx="273851" cy="273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5353803" y="3074853"/>
            <a:ext cx="4774064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ea typeface="Open Sans Light" panose="020B0306030504020204" pitchFamily="34" charset="0"/>
                <a:cs typeface="Consolas" panose="020B0609020204030204" pitchFamily="49" charset="0"/>
              </a:rPr>
              <a:t>Expected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dirty="0">
                <a:ea typeface="Open Sans Light" panose="020B0306030504020204" pitchFamily="34" charset="0"/>
                <a:cs typeface="Consolas" panose="020B0609020204030204" pitchFamily="49" charset="0"/>
              </a:rPr>
              <a:t>and got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{</a:t>
            </a:r>
            <a:r>
              <a:rPr lang="en-US" i="1" dirty="0" err="1"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v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:</a:t>
            </a:r>
            <a:r>
              <a:rPr lang="en-US" dirty="0" err="1">
                <a:solidFill>
                  <a:srgbClr val="CB6608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SList</a:t>
            </a:r>
            <a:r>
              <a:rPr lang="en-US" dirty="0"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40D38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e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|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⊆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elems</a:t>
            </a:r>
            <a:r>
              <a:rPr lang="en-US" dirty="0"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i="1" dirty="0"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v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}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2564423" y="3540012"/>
            <a:ext cx="2093303" cy="0"/>
          </a:xfrm>
          <a:prstGeom prst="line">
            <a:avLst/>
          </a:prstGeom>
          <a:ln w="254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46956" y="932988"/>
            <a:ext cx="5106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[</a:t>
            </a:r>
            <a:r>
              <a:rPr lang="en-US" sz="2000" dirty="0" err="1"/>
              <a:t>Rondon</a:t>
            </a:r>
            <a:r>
              <a:rPr lang="en-US" sz="2000" dirty="0"/>
              <a:t> et al. PLDI’08]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839203" y="3873387"/>
            <a:ext cx="1554480" cy="0"/>
          </a:xfrm>
          <a:prstGeom prst="line">
            <a:avLst/>
          </a:prstGeom>
          <a:ln w="254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877303" y="4187712"/>
            <a:ext cx="1554480" cy="0"/>
          </a:xfrm>
          <a:prstGeom prst="line">
            <a:avLst/>
          </a:prstGeom>
          <a:ln w="254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201153" y="4549662"/>
            <a:ext cx="1280160" cy="0"/>
          </a:xfrm>
          <a:prstGeom prst="line">
            <a:avLst/>
          </a:prstGeom>
          <a:ln w="254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534528" y="4863987"/>
            <a:ext cx="2194560" cy="0"/>
          </a:xfrm>
          <a:prstGeom prst="line">
            <a:avLst/>
          </a:prstGeom>
          <a:ln w="254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525003" y="5235462"/>
            <a:ext cx="3657600" cy="0"/>
          </a:xfrm>
          <a:prstGeom prst="line">
            <a:avLst/>
          </a:prstGeom>
          <a:ln w="254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14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804657" y="1816573"/>
            <a:ext cx="253497" cy="5032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Incomplete programs?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4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178225" y="1813238"/>
            <a:ext cx="8232600" cy="4835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Insert 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into a sorted list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=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endParaRPr lang="en-US" sz="2200" dirty="0">
              <a:solidFill>
                <a:srgbClr val="B30167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rgbClr val="B30167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4" name="Picture 4" descr="http://images.clipartpanda.com/question-701-question-mark-desig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656" y="3251073"/>
            <a:ext cx="266092" cy="26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98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178225" y="1822116"/>
            <a:ext cx="8232600" cy="4835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4657" y="1816573"/>
            <a:ext cx="253497" cy="5032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Bidirectional type checking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5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609975" y="2892312"/>
            <a:ext cx="0" cy="723900"/>
          </a:xfrm>
          <a:prstGeom prst="straightConnector1">
            <a:avLst/>
          </a:prstGeom>
          <a:ln w="38100">
            <a:solidFill>
              <a:srgbClr val="CB6608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162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178225" y="1822116"/>
            <a:ext cx="8232600" cy="4835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70937" y="1756129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8877" y="3825763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4657" y="1816573"/>
            <a:ext cx="253497" cy="5032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Bidirectional type checking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6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609975" y="2892312"/>
            <a:ext cx="0" cy="723900"/>
          </a:xfrm>
          <a:prstGeom prst="straightConnector1">
            <a:avLst/>
          </a:prstGeom>
          <a:ln w="38100">
            <a:solidFill>
              <a:srgbClr val="CB6608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52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178225" y="1822116"/>
            <a:ext cx="8232600" cy="4835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713" y="1828801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4881" y="1756129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8877" y="3825763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78876" y="3825763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→ 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 h t →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4657" y="1816573"/>
            <a:ext cx="253497" cy="5032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Bidirectional type checking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7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609975" y="2892312"/>
            <a:ext cx="0" cy="723900"/>
          </a:xfrm>
          <a:prstGeom prst="straightConnector1">
            <a:avLst/>
          </a:prstGeom>
          <a:ln w="38100">
            <a:solidFill>
              <a:srgbClr val="CB6608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950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178225" y="1822116"/>
            <a:ext cx="8232600" cy="4835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713" y="1828801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6713" y="1828801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8877" y="3825763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78876" y="3825763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→ 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 h t →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4657" y="1816573"/>
            <a:ext cx="253497" cy="5032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Bidirectional type checking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8</a:t>
            </a:fld>
            <a:endParaRPr lang="en-US"/>
          </a:p>
        </p:txBody>
      </p:sp>
      <p:pic>
        <p:nvPicPr>
          <p:cNvPr id="28" name="Picture 2" descr="http://vector.me/files/images/4/3/436768/red_green_ok_not_ok_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479" y="4561562"/>
            <a:ext cx="273851" cy="273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3609975" y="2892312"/>
            <a:ext cx="0" cy="723900"/>
          </a:xfrm>
          <a:prstGeom prst="straightConnector1">
            <a:avLst/>
          </a:prstGeom>
          <a:ln w="38100">
            <a:solidFill>
              <a:srgbClr val="CB6608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729851" y="4890847"/>
            <a:ext cx="640080" cy="0"/>
          </a:xfrm>
          <a:prstGeom prst="line">
            <a:avLst/>
          </a:prstGeom>
          <a:ln w="254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716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178225" y="1892595"/>
            <a:ext cx="8232600" cy="4755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 x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rgbClr val="B30167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04657" y="1816573"/>
            <a:ext cx="253497" cy="5032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Round-trip type checking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9</a:t>
            </a:fld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609975" y="2892312"/>
            <a:ext cx="0" cy="723900"/>
          </a:xfrm>
          <a:prstGeom prst="straightConnector1">
            <a:avLst/>
          </a:prstGeom>
          <a:ln w="38100">
            <a:solidFill>
              <a:srgbClr val="CB6608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262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178225" y="1892595"/>
            <a:ext cx="8232600" cy="4755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 x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rgbClr val="B30167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78876" y="3900194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→ Cons x Nil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→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6713" y="1817803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4657" y="1816573"/>
            <a:ext cx="253497" cy="5032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Round-trip type checking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10</a:t>
            </a:fld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609975" y="2892312"/>
            <a:ext cx="0" cy="723900"/>
          </a:xfrm>
          <a:prstGeom prst="straightConnector1">
            <a:avLst/>
          </a:prstGeom>
          <a:ln w="38100">
            <a:solidFill>
              <a:srgbClr val="CB6608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295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178225" y="1892595"/>
            <a:ext cx="8232600" cy="4755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 x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rgbClr val="B30167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78876" y="3900194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→ Cons x Nil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→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6713" y="1817803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4657" y="1816573"/>
            <a:ext cx="253497" cy="5032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Round-trip type checking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11</a:t>
            </a:fld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609975" y="2892312"/>
            <a:ext cx="0" cy="723900"/>
          </a:xfrm>
          <a:prstGeom prst="straightConnector1">
            <a:avLst/>
          </a:prstGeom>
          <a:ln w="38100">
            <a:solidFill>
              <a:srgbClr val="CB6608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907874" y="5314925"/>
            <a:ext cx="302429" cy="301752"/>
          </a:xfrm>
          <a:prstGeom prst="rect">
            <a:avLst/>
          </a:prstGeom>
          <a:pattFill prst="pct50">
            <a:fgClr>
              <a:srgbClr val="CB6608"/>
            </a:fgClr>
            <a:bgClr>
              <a:schemeClr val="bg1"/>
            </a:bgClr>
          </a:pattFill>
          <a:ln w="25400">
            <a:solidFill>
              <a:srgbClr val="CB66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0315" y="5314925"/>
            <a:ext cx="1990135" cy="301752"/>
          </a:xfrm>
          <a:prstGeom prst="rect">
            <a:avLst/>
          </a:prstGeom>
          <a:pattFill prst="pct70">
            <a:fgClr>
              <a:srgbClr val="CB6608"/>
            </a:fgClr>
            <a:bgClr>
              <a:schemeClr val="bg1"/>
            </a:bgClr>
          </a:pattFill>
          <a:ln w="25400">
            <a:solidFill>
              <a:srgbClr val="CB66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(insert x ...)</a:t>
            </a:r>
          </a:p>
        </p:txBody>
      </p:sp>
    </p:spTree>
    <p:extLst>
      <p:ext uri="{BB962C8B-B14F-4D97-AF65-F5344CB8AC3E}">
        <p14:creationId xmlns:p14="http://schemas.microsoft.com/office/powerpoint/2010/main" val="52467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178225" y="1892595"/>
            <a:ext cx="8232600" cy="4755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 x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rgbClr val="B30167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78876" y="3900194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→ Cons x Nil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→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82368" y="3896624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→ Cons x Nil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→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6713" y="1817803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3824" y="1809669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≥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4657" y="1816573"/>
            <a:ext cx="253497" cy="5032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Round-trip type checking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12</a:t>
            </a:fld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609975" y="2892312"/>
            <a:ext cx="0" cy="723900"/>
          </a:xfrm>
          <a:prstGeom prst="straightConnector1">
            <a:avLst/>
          </a:prstGeom>
          <a:ln w="38100">
            <a:solidFill>
              <a:srgbClr val="CB6608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907874" y="5314925"/>
            <a:ext cx="302429" cy="301752"/>
          </a:xfrm>
          <a:prstGeom prst="rect">
            <a:avLst/>
          </a:prstGeom>
          <a:pattFill prst="pct50">
            <a:fgClr>
              <a:srgbClr val="CB6608"/>
            </a:fgClr>
            <a:bgClr>
              <a:schemeClr val="bg1"/>
            </a:bgClr>
          </a:pattFill>
          <a:ln w="25400">
            <a:solidFill>
              <a:srgbClr val="CB66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0315" y="5314925"/>
            <a:ext cx="1990135" cy="301752"/>
          </a:xfrm>
          <a:prstGeom prst="rect">
            <a:avLst/>
          </a:prstGeom>
          <a:pattFill prst="pct70">
            <a:fgClr>
              <a:srgbClr val="CB6608"/>
            </a:fgClr>
            <a:bgClr>
              <a:schemeClr val="bg1"/>
            </a:bgClr>
          </a:pattFill>
          <a:ln w="25400">
            <a:solidFill>
              <a:srgbClr val="CB66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(insert x ...)</a:t>
            </a:r>
          </a:p>
        </p:txBody>
      </p:sp>
    </p:spTree>
    <p:extLst>
      <p:ext uri="{BB962C8B-B14F-4D97-AF65-F5344CB8AC3E}">
        <p14:creationId xmlns:p14="http://schemas.microsoft.com/office/powerpoint/2010/main" val="2548406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178225" y="1892595"/>
            <a:ext cx="8232600" cy="4755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 x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rgbClr val="B30167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78876" y="3900194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→ Cons x Nil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→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82368" y="3896624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→ Cons x Nil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→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82368" y="3896624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→ Cons x Nil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→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 h (insert 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6713" y="1817803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3824" y="1809669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≥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3824" y="1804480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≥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4657" y="1816573"/>
            <a:ext cx="253497" cy="5032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Round-trip type checking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13</a:t>
            </a:fld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609975" y="2892312"/>
            <a:ext cx="0" cy="723900"/>
          </a:xfrm>
          <a:prstGeom prst="straightConnector1">
            <a:avLst/>
          </a:prstGeom>
          <a:ln w="38100">
            <a:solidFill>
              <a:srgbClr val="CB6608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907874" y="5314925"/>
            <a:ext cx="302429" cy="301752"/>
          </a:xfrm>
          <a:prstGeom prst="rect">
            <a:avLst/>
          </a:prstGeom>
          <a:pattFill prst="pct50">
            <a:fgClr>
              <a:srgbClr val="CB6608"/>
            </a:fgClr>
            <a:bgClr>
              <a:schemeClr val="bg1"/>
            </a:bgClr>
          </a:pattFill>
          <a:ln w="25400">
            <a:solidFill>
              <a:srgbClr val="CB66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0315" y="5314925"/>
            <a:ext cx="1990135" cy="301752"/>
          </a:xfrm>
          <a:prstGeom prst="rect">
            <a:avLst/>
          </a:prstGeom>
          <a:pattFill prst="pct70">
            <a:fgClr>
              <a:srgbClr val="CB6608"/>
            </a:fgClr>
            <a:bgClr>
              <a:schemeClr val="bg1"/>
            </a:bgClr>
          </a:pattFill>
          <a:ln w="25400">
            <a:solidFill>
              <a:srgbClr val="CB66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(insert x ...)</a:t>
            </a:r>
          </a:p>
        </p:txBody>
      </p:sp>
    </p:spTree>
    <p:extLst>
      <p:ext uri="{BB962C8B-B14F-4D97-AF65-F5344CB8AC3E}">
        <p14:creationId xmlns:p14="http://schemas.microsoft.com/office/powerpoint/2010/main" val="602769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178225" y="1892595"/>
            <a:ext cx="8232600" cy="4755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∪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=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 x Nil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200" dirty="0">
              <a:solidFill>
                <a:schemeClr val="tx1"/>
              </a:solidFill>
              <a:latin typeface="Consolas" panose="020B0609020204030204" pitchFamily="49" charset="0"/>
              <a:ea typeface="Open Sans Light" panose="020B0306030504020204" pitchFamily="34" charset="0"/>
              <a:cs typeface="Consolas" panose="020B0609020204030204" pitchFamily="49" charset="0"/>
            </a:endParaRPr>
          </a:p>
          <a:p>
            <a:endParaRPr lang="en-US" sz="2200" dirty="0">
              <a:solidFill>
                <a:srgbClr val="B30167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78876" y="3900194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→ Cons x Nil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→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82368" y="3896624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→ Cons x Nil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→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 h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x ...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82368" y="3896624"/>
            <a:ext cx="8089074" cy="1990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insert x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=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Nil → Cons x Nil</a:t>
            </a:r>
          </a:p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Cons h t → 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 h (insert 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6713" y="1817803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3824" y="1809669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rgbClr val="CB66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SList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≥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3824" y="1804480"/>
            <a:ext cx="8089074" cy="1220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r>
              <a:rPr lang="en-US" sz="22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rgbClr val="640D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500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≥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4657" y="1816573"/>
            <a:ext cx="253497" cy="5032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Round-trip type checking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14</a:t>
            </a:fld>
            <a:endParaRPr lang="en-US"/>
          </a:p>
        </p:txBody>
      </p:sp>
      <p:pic>
        <p:nvPicPr>
          <p:cNvPr id="68" name="Picture 2" descr="http://vector.me/files/images/4/3/436768/red_green_ok_not_ok_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027" y="5314926"/>
            <a:ext cx="273851" cy="273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Arrow Connector 19"/>
          <p:cNvCxnSpPr/>
          <p:nvPr/>
        </p:nvCxnSpPr>
        <p:spPr>
          <a:xfrm flipH="1">
            <a:off x="3609975" y="2892312"/>
            <a:ext cx="0" cy="723900"/>
          </a:xfrm>
          <a:prstGeom prst="straightConnector1">
            <a:avLst/>
          </a:prstGeom>
          <a:ln w="38100">
            <a:solidFill>
              <a:srgbClr val="CB6608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482590" y="5613689"/>
            <a:ext cx="205740" cy="0"/>
          </a:xfrm>
          <a:prstGeom prst="line">
            <a:avLst/>
          </a:prstGeom>
          <a:ln w="254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907874" y="5314925"/>
            <a:ext cx="302429" cy="301752"/>
          </a:xfrm>
          <a:prstGeom prst="rect">
            <a:avLst/>
          </a:prstGeom>
          <a:pattFill prst="pct50">
            <a:fgClr>
              <a:srgbClr val="CB6608"/>
            </a:fgClr>
            <a:bgClr>
              <a:schemeClr val="bg1"/>
            </a:bgClr>
          </a:pattFill>
          <a:ln w="25400">
            <a:solidFill>
              <a:srgbClr val="CB66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0315" y="5314925"/>
            <a:ext cx="1990135" cy="301752"/>
          </a:xfrm>
          <a:prstGeom prst="rect">
            <a:avLst/>
          </a:prstGeom>
          <a:pattFill prst="pct70">
            <a:fgClr>
              <a:srgbClr val="CB6608"/>
            </a:fgClr>
            <a:bgClr>
              <a:schemeClr val="bg1"/>
            </a:bgClr>
          </a:pattFill>
          <a:ln w="25400">
            <a:solidFill>
              <a:srgbClr val="CB66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(insert x ...)</a:t>
            </a:r>
          </a:p>
        </p:txBody>
      </p:sp>
    </p:spTree>
    <p:extLst>
      <p:ext uri="{BB962C8B-B14F-4D97-AF65-F5344CB8AC3E}">
        <p14:creationId xmlns:p14="http://schemas.microsoft.com/office/powerpoint/2010/main" val="3686398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Type-driven Synthesis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70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24000" y="373795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hlinkClick r:id="rId3"/>
              </a:rPr>
              <a:t>http://tiny.cc/synquid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27" y="1952112"/>
            <a:ext cx="1269946" cy="126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96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60" y="29189"/>
            <a:ext cx="8110840" cy="1325563"/>
          </a:xfrm>
        </p:spPr>
        <p:txBody>
          <a:bodyPr/>
          <a:lstStyle/>
          <a:p>
            <a:r>
              <a:rPr lang="en-US" dirty="0"/>
              <a:t>Synthesis from refinement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0" y="1758962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5400" dirty="0"/>
              <a:t>Γ</a:t>
            </a:r>
            <a:r>
              <a:rPr lang="en-US" sz="5400" dirty="0"/>
              <a:t> ⊢ </a:t>
            </a:r>
            <a:r>
              <a:rPr lang="en-US" sz="5400" dirty="0">
                <a:solidFill>
                  <a:srgbClr val="C00000"/>
                </a:solidFill>
              </a:rPr>
              <a:t>??</a:t>
            </a:r>
            <a:r>
              <a:rPr lang="en-US" sz="5400" dirty="0"/>
              <a:t> :: 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124877" y="2596326"/>
            <a:ext cx="918" cy="86296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834066" y="3526272"/>
            <a:ext cx="2204185" cy="100541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5494983" y="2546993"/>
            <a:ext cx="1525726" cy="1157312"/>
          </a:xfrm>
          <a:prstGeom prst="line">
            <a:avLst/>
          </a:prstGeom>
          <a:ln w="50800">
            <a:solidFill>
              <a:srgbClr val="CB660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143412" y="3648062"/>
            <a:ext cx="16177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</a:rPr>
              <a:t>?? </a:t>
            </a:r>
            <a:r>
              <a:rPr lang="en-US" sz="4400" dirty="0"/>
              <a:t>:: U</a:t>
            </a:r>
            <a:endParaRPr lang="en-US" sz="4400" baseline="-25000" dirty="0"/>
          </a:p>
        </p:txBody>
      </p:sp>
      <p:sp>
        <p:nvSpPr>
          <p:cNvPr id="17" name="Rectangle 16"/>
          <p:cNvSpPr/>
          <p:nvPr/>
        </p:nvSpPr>
        <p:spPr>
          <a:xfrm>
            <a:off x="6231708" y="3529740"/>
            <a:ext cx="2204185" cy="100541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Rectangle 17"/>
          <p:cNvSpPr/>
          <p:nvPr/>
        </p:nvSpPr>
        <p:spPr>
          <a:xfrm>
            <a:off x="6564298" y="3651530"/>
            <a:ext cx="15712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</a:rPr>
              <a:t>?? </a:t>
            </a:r>
            <a:r>
              <a:rPr lang="en-US" sz="4400" dirty="0"/>
              <a:t>:: V</a:t>
            </a:r>
            <a:endParaRPr lang="en-US" sz="4400" baseline="-250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33800" y="2596327"/>
            <a:ext cx="362571" cy="1159805"/>
          </a:xfrm>
          <a:prstGeom prst="line">
            <a:avLst/>
          </a:prstGeom>
          <a:ln w="50800">
            <a:solidFill>
              <a:srgbClr val="CB660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34066" y="4687566"/>
            <a:ext cx="4601827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I. top-down enumerative search</a:t>
            </a:r>
          </a:p>
        </p:txBody>
      </p:sp>
      <p:pic>
        <p:nvPicPr>
          <p:cNvPr id="24" name="Picture 4" descr="ok checkmark gre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990" y="3701774"/>
            <a:ext cx="680013" cy="68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ok checkmark gre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495" y="3701774"/>
            <a:ext cx="680013" cy="68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2485566" y="1451380"/>
            <a:ext cx="2670372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400" dirty="0"/>
              <a:t>x</a:t>
            </a:r>
            <a:r>
              <a:rPr lang="en-US" sz="4400" baseline="-25000" dirty="0"/>
              <a:t>1</a:t>
            </a:r>
            <a:r>
              <a:rPr lang="en-US" sz="4400" dirty="0"/>
              <a:t> :: T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  <a:p>
            <a:pPr algn="r"/>
            <a:r>
              <a:rPr lang="el-GR" sz="4400" dirty="0"/>
              <a:t>φ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0070" y="3651529"/>
            <a:ext cx="88036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dirty="0"/>
              <a:t>:: T</a:t>
            </a:r>
            <a:endParaRPr lang="en-US" sz="4400" baseline="-25000" dirty="0"/>
          </a:p>
        </p:txBody>
      </p:sp>
      <p:pic>
        <p:nvPicPr>
          <p:cNvPr id="27" name="Picture 4" descr="ok checkmark gre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871" y="1869513"/>
            <a:ext cx="680013" cy="68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86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/>
      <p:bldP spid="17" grpId="0" animBg="1"/>
      <p:bldP spid="18" grpId="0"/>
      <p:bldP spid="15" grpId="0" animBg="1"/>
      <p:bldP spid="23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60" y="29189"/>
            <a:ext cx="8110840" cy="1325563"/>
          </a:xfrm>
        </p:spPr>
        <p:txBody>
          <a:bodyPr/>
          <a:lstStyle/>
          <a:p>
            <a:r>
              <a:rPr lang="en-US" dirty="0"/>
              <a:t>Synthesis from refinement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0" y="1758962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5400" dirty="0"/>
              <a:t>Γ</a:t>
            </a:r>
            <a:r>
              <a:rPr lang="en-US" sz="5400" dirty="0"/>
              <a:t> ⊢ </a:t>
            </a:r>
            <a:r>
              <a:rPr lang="en-US" sz="5400" dirty="0">
                <a:solidFill>
                  <a:srgbClr val="C00000"/>
                </a:solidFill>
              </a:rPr>
              <a:t>??</a:t>
            </a:r>
            <a:r>
              <a:rPr lang="en-US" sz="5400" dirty="0"/>
              <a:t> :: 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124877" y="2596326"/>
            <a:ext cx="918" cy="86296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834066" y="3526272"/>
            <a:ext cx="2204185" cy="100541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Rectangle 15"/>
          <p:cNvSpPr/>
          <p:nvPr/>
        </p:nvSpPr>
        <p:spPr>
          <a:xfrm>
            <a:off x="4182687" y="3648062"/>
            <a:ext cx="153920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</a:rPr>
              <a:t>?? </a:t>
            </a:r>
            <a:r>
              <a:rPr lang="en-US" sz="4400" dirty="0"/>
              <a:t>:: </a:t>
            </a:r>
            <a:r>
              <a:rPr lang="en-US" sz="4400" dirty="0">
                <a:solidFill>
                  <a:srgbClr val="C00000"/>
                </a:solidFill>
              </a:rPr>
              <a:t>_</a:t>
            </a:r>
            <a:endParaRPr lang="en-US" sz="4400" baseline="-25000" dirty="0">
              <a:solidFill>
                <a:srgbClr val="C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31708" y="3529740"/>
            <a:ext cx="2204185" cy="100541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Rectangle 17"/>
          <p:cNvSpPr/>
          <p:nvPr/>
        </p:nvSpPr>
        <p:spPr>
          <a:xfrm>
            <a:off x="6564298" y="3651530"/>
            <a:ext cx="15712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</a:rPr>
              <a:t>?? </a:t>
            </a:r>
            <a:r>
              <a:rPr lang="en-US" sz="4400" dirty="0"/>
              <a:t>:: </a:t>
            </a:r>
            <a:r>
              <a:rPr lang="en-US" sz="4400" dirty="0">
                <a:solidFill>
                  <a:srgbClr val="C00000"/>
                </a:solidFill>
              </a:rPr>
              <a:t>_</a:t>
            </a:r>
            <a:endParaRPr lang="en-US" sz="4400" baseline="-25000" dirty="0">
              <a:solidFill>
                <a:srgbClr val="C0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34066" y="4687566"/>
            <a:ext cx="4601827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I. top-down enumerative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34065" y="5280420"/>
            <a:ext cx="4601828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II. round-trip type checking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5566" y="1451380"/>
            <a:ext cx="2670372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400" dirty="0"/>
              <a:t>x</a:t>
            </a:r>
            <a:r>
              <a:rPr lang="en-US" sz="4400" baseline="-25000" dirty="0"/>
              <a:t>1</a:t>
            </a:r>
            <a:r>
              <a:rPr lang="en-US" sz="4400" dirty="0"/>
              <a:t> :: T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  <a:p>
            <a:pPr algn="r"/>
            <a:r>
              <a:rPr lang="el-GR" sz="4400" dirty="0"/>
              <a:t>φ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22196" y="3651529"/>
            <a:ext cx="110029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:: T’</a:t>
            </a:r>
            <a:endParaRPr lang="en-US" sz="4400" baseline="-25000" dirty="0"/>
          </a:p>
        </p:txBody>
      </p:sp>
      <p:cxnSp>
        <p:nvCxnSpPr>
          <p:cNvPr id="29" name="Straight Connector 28"/>
          <p:cNvCxnSpPr>
            <a:endCxn id="26" idx="0"/>
          </p:cNvCxnSpPr>
          <p:nvPr/>
        </p:nvCxnSpPr>
        <p:spPr>
          <a:xfrm>
            <a:off x="7546174" y="2490176"/>
            <a:ext cx="1426168" cy="1161352"/>
          </a:xfrm>
          <a:prstGeom prst="line">
            <a:avLst/>
          </a:prstGeom>
          <a:ln w="50800">
            <a:solidFill>
              <a:srgbClr val="CB6608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183650" y="3670276"/>
            <a:ext cx="1617751" cy="76944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</a:rPr>
              <a:t>?? </a:t>
            </a:r>
            <a:r>
              <a:rPr lang="en-US" sz="4400" dirty="0"/>
              <a:t>:: </a:t>
            </a:r>
            <a:r>
              <a:rPr lang="en-US" sz="4400" dirty="0">
                <a:solidFill>
                  <a:srgbClr val="660066"/>
                </a:solidFill>
              </a:rPr>
              <a:t>U</a:t>
            </a:r>
            <a:endParaRPr lang="en-US" sz="4400" baseline="-25000" dirty="0">
              <a:solidFill>
                <a:srgbClr val="660066"/>
              </a:solidFill>
            </a:endParaRPr>
          </a:p>
        </p:txBody>
      </p:sp>
      <p:pic>
        <p:nvPicPr>
          <p:cNvPr id="33" name="Picture 2" descr="http://vector.me/files/images/4/3/436768/red_green_ok_not_ok_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675" y="3707524"/>
            <a:ext cx="694944" cy="69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/>
          <p:cNvCxnSpPr/>
          <p:nvPr/>
        </p:nvCxnSpPr>
        <p:spPr>
          <a:xfrm flipH="1">
            <a:off x="5494983" y="2546993"/>
            <a:ext cx="1525726" cy="1157312"/>
          </a:xfrm>
          <a:prstGeom prst="line">
            <a:avLst/>
          </a:prstGeom>
          <a:ln w="50800">
            <a:solidFill>
              <a:srgbClr val="CB6608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6" idx="3"/>
            <a:endCxn id="18" idx="1"/>
          </p:cNvCxnSpPr>
          <p:nvPr/>
        </p:nvCxnSpPr>
        <p:spPr>
          <a:xfrm>
            <a:off x="5721890" y="4032782"/>
            <a:ext cx="842409" cy="3468"/>
          </a:xfrm>
          <a:prstGeom prst="line">
            <a:avLst/>
          </a:prstGeom>
          <a:ln w="50800">
            <a:solidFill>
              <a:srgbClr val="CB660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4" descr="http://images.clipartpanda.com/question-701-question-mark-desig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619" y="3704305"/>
            <a:ext cx="676656" cy="67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33"/>
          <p:cNvSpPr/>
          <p:nvPr/>
        </p:nvSpPr>
        <p:spPr>
          <a:xfrm>
            <a:off x="6624264" y="3661210"/>
            <a:ext cx="1571264" cy="76944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</a:rPr>
              <a:t>?? </a:t>
            </a:r>
            <a:r>
              <a:rPr lang="en-US" sz="4400" dirty="0"/>
              <a:t>:: </a:t>
            </a:r>
            <a:r>
              <a:rPr lang="en-US" sz="4400" dirty="0">
                <a:solidFill>
                  <a:srgbClr val="660066"/>
                </a:solidFill>
              </a:rPr>
              <a:t>V</a:t>
            </a:r>
            <a:endParaRPr lang="en-US" sz="4400" baseline="-25000" dirty="0">
              <a:solidFill>
                <a:srgbClr val="660066"/>
              </a:solidFill>
            </a:endParaRPr>
          </a:p>
        </p:txBody>
      </p:sp>
      <p:pic>
        <p:nvPicPr>
          <p:cNvPr id="31" name="Picture 4" descr="http://images.clipartpanda.com/question-701-question-mark-desig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733" y="3704305"/>
            <a:ext cx="676656" cy="67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97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6" grpId="0"/>
      <p:bldP spid="26" grpId="1"/>
      <p:bldP spid="26" grpId="2"/>
      <p:bldP spid="32" grpId="0" animBg="1"/>
      <p:bldP spid="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60" y="29189"/>
            <a:ext cx="7729840" cy="1325563"/>
          </a:xfrm>
        </p:spPr>
        <p:txBody>
          <a:bodyPr/>
          <a:lstStyle/>
          <a:p>
            <a:r>
              <a:rPr lang="en-US" dirty="0"/>
              <a:t>Synthesis from refinement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0" y="1758962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5400" dirty="0"/>
              <a:t>Γ</a:t>
            </a:r>
            <a:r>
              <a:rPr lang="en-US" sz="5400" dirty="0"/>
              <a:t> ⊢ </a:t>
            </a:r>
            <a:r>
              <a:rPr lang="en-US" sz="5400" dirty="0">
                <a:solidFill>
                  <a:srgbClr val="C00000"/>
                </a:solidFill>
              </a:rPr>
              <a:t>??</a:t>
            </a:r>
            <a:r>
              <a:rPr lang="en-US" sz="5400" dirty="0"/>
              <a:t> :: 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124877" y="2596326"/>
            <a:ext cx="918" cy="86296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34066" y="4687566"/>
            <a:ext cx="4601827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I. top-down enumerative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34065" y="5280420"/>
            <a:ext cx="4601828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II. round-trip type checking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5566" y="1451380"/>
            <a:ext cx="2670372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400" dirty="0"/>
              <a:t>x</a:t>
            </a:r>
            <a:r>
              <a:rPr lang="en-US" sz="4400" baseline="-25000" dirty="0"/>
              <a:t>1</a:t>
            </a:r>
            <a:r>
              <a:rPr lang="en-US" sz="4400" dirty="0"/>
              <a:t> :: T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  <a:p>
            <a:pPr algn="r"/>
            <a:r>
              <a:rPr lang="el-GR" sz="4400" dirty="0"/>
              <a:t>φ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113" y="3526864"/>
            <a:ext cx="70585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if     </a:t>
            </a:r>
            <a:r>
              <a:rPr lang="en-US" sz="4400" dirty="0"/>
              <a:t>             </a:t>
            </a:r>
            <a:r>
              <a:rPr lang="en-US" sz="4400" b="1" dirty="0"/>
              <a:t>then</a:t>
            </a:r>
            <a:r>
              <a:rPr lang="en-US" sz="4400" dirty="0"/>
              <a:t> </a:t>
            </a:r>
            <a:r>
              <a:rPr lang="en-US" sz="4400" dirty="0">
                <a:solidFill>
                  <a:srgbClr val="C00000"/>
                </a:solidFill>
              </a:rPr>
              <a:t>               </a:t>
            </a:r>
            <a:r>
              <a:rPr lang="en-US" sz="4400" b="1" dirty="0"/>
              <a:t>else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84724" y="3541784"/>
            <a:ext cx="1793308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Rectangle 16"/>
          <p:cNvSpPr/>
          <p:nvPr/>
        </p:nvSpPr>
        <p:spPr>
          <a:xfrm>
            <a:off x="2378296" y="3541784"/>
            <a:ext cx="1881410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3" name="Rectangle 32"/>
          <p:cNvSpPr/>
          <p:nvPr/>
        </p:nvSpPr>
        <p:spPr>
          <a:xfrm>
            <a:off x="8435893" y="3524536"/>
            <a:ext cx="1706593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65971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60" y="29189"/>
            <a:ext cx="7729840" cy="1325563"/>
          </a:xfrm>
        </p:spPr>
        <p:txBody>
          <a:bodyPr/>
          <a:lstStyle/>
          <a:p>
            <a:r>
              <a:rPr lang="en-US" dirty="0"/>
              <a:t>Synthesis from refinement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0" y="1758962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5400" dirty="0"/>
              <a:t>Γ</a:t>
            </a:r>
            <a:r>
              <a:rPr lang="en-US" sz="5400" dirty="0"/>
              <a:t> ⊢ </a:t>
            </a:r>
            <a:r>
              <a:rPr lang="en-US" sz="5400" dirty="0">
                <a:solidFill>
                  <a:srgbClr val="C00000"/>
                </a:solidFill>
              </a:rPr>
              <a:t>??</a:t>
            </a:r>
            <a:r>
              <a:rPr lang="en-US" sz="5400" dirty="0"/>
              <a:t> :: 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124877" y="2596326"/>
            <a:ext cx="918" cy="86296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34066" y="4687566"/>
            <a:ext cx="4601827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I. top-down enumerative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34065" y="5280420"/>
            <a:ext cx="4601828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II. round-trip type checking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5566" y="1451380"/>
            <a:ext cx="2670372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400" dirty="0"/>
              <a:t>x</a:t>
            </a:r>
            <a:r>
              <a:rPr lang="en-US" sz="4400" baseline="-25000" dirty="0"/>
              <a:t>1</a:t>
            </a:r>
            <a:r>
              <a:rPr lang="en-US" sz="4400" dirty="0"/>
              <a:t> :: T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  <a:p>
            <a:pPr algn="r"/>
            <a:r>
              <a:rPr lang="el-GR" sz="4400" dirty="0"/>
              <a:t>φ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113" y="3526864"/>
            <a:ext cx="70585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if     </a:t>
            </a:r>
            <a:r>
              <a:rPr lang="en-US" sz="4400" dirty="0"/>
              <a:t>             </a:t>
            </a:r>
            <a:r>
              <a:rPr lang="en-US" sz="4400" b="1" dirty="0"/>
              <a:t>then</a:t>
            </a:r>
            <a:r>
              <a:rPr lang="en-US" sz="4400" dirty="0"/>
              <a:t> </a:t>
            </a:r>
            <a:r>
              <a:rPr lang="en-US" sz="4400" dirty="0">
                <a:solidFill>
                  <a:srgbClr val="C00000"/>
                </a:solidFill>
              </a:rPr>
              <a:t>               </a:t>
            </a:r>
            <a:r>
              <a:rPr lang="en-US" sz="4400" b="1" dirty="0"/>
              <a:t>else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84724" y="3541784"/>
            <a:ext cx="1793308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4" name="Rectangle 33"/>
          <p:cNvSpPr/>
          <p:nvPr/>
        </p:nvSpPr>
        <p:spPr>
          <a:xfrm>
            <a:off x="2368248" y="3614707"/>
            <a:ext cx="18934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?? </a:t>
            </a:r>
            <a:r>
              <a:rPr lang="en-US" sz="3600" dirty="0"/>
              <a:t>:: </a:t>
            </a:r>
            <a:r>
              <a:rPr lang="en-US" sz="3600" dirty="0" err="1"/>
              <a:t>Bool</a:t>
            </a:r>
            <a:endParaRPr lang="en-US" sz="3600" baseline="-25000" dirty="0"/>
          </a:p>
        </p:txBody>
      </p:sp>
      <p:sp>
        <p:nvSpPr>
          <p:cNvPr id="17" name="Rectangle 16"/>
          <p:cNvSpPr/>
          <p:nvPr/>
        </p:nvSpPr>
        <p:spPr>
          <a:xfrm>
            <a:off x="2378296" y="3541784"/>
            <a:ext cx="1881410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3" name="Rectangle 32"/>
          <p:cNvSpPr/>
          <p:nvPr/>
        </p:nvSpPr>
        <p:spPr>
          <a:xfrm>
            <a:off x="8435893" y="3524536"/>
            <a:ext cx="1706593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684042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60" y="29189"/>
            <a:ext cx="7729840" cy="1325563"/>
          </a:xfrm>
        </p:spPr>
        <p:txBody>
          <a:bodyPr/>
          <a:lstStyle/>
          <a:p>
            <a:r>
              <a:rPr lang="en-US" dirty="0"/>
              <a:t>Synthesis from refinement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0" y="1758962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5400" dirty="0"/>
              <a:t>Γ</a:t>
            </a:r>
            <a:r>
              <a:rPr lang="en-US" sz="5400" dirty="0"/>
              <a:t> ⊢ </a:t>
            </a:r>
            <a:r>
              <a:rPr lang="en-US" sz="5400" dirty="0">
                <a:solidFill>
                  <a:srgbClr val="C00000"/>
                </a:solidFill>
              </a:rPr>
              <a:t>??</a:t>
            </a:r>
            <a:r>
              <a:rPr lang="en-US" sz="5400" dirty="0"/>
              <a:t> :: 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124877" y="2596326"/>
            <a:ext cx="918" cy="86296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34066" y="4687566"/>
            <a:ext cx="4601827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I. top-down enumerative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34065" y="5280420"/>
            <a:ext cx="4601828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II. round-trip type checking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5566" y="1451380"/>
            <a:ext cx="2670372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400" dirty="0"/>
              <a:t>x</a:t>
            </a:r>
            <a:r>
              <a:rPr lang="en-US" sz="4400" baseline="-25000" dirty="0"/>
              <a:t>1</a:t>
            </a:r>
            <a:r>
              <a:rPr lang="en-US" sz="4400" dirty="0"/>
              <a:t> :: T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  <a:p>
            <a:pPr algn="r"/>
            <a:r>
              <a:rPr lang="el-GR" sz="4400" dirty="0"/>
              <a:t>φ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113" y="3526864"/>
            <a:ext cx="70585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if     </a:t>
            </a:r>
            <a:r>
              <a:rPr lang="en-US" sz="4400" dirty="0"/>
              <a:t>             </a:t>
            </a:r>
            <a:r>
              <a:rPr lang="en-US" sz="4400" b="1" dirty="0"/>
              <a:t>then</a:t>
            </a:r>
            <a:r>
              <a:rPr lang="en-US" sz="4400" dirty="0"/>
              <a:t> </a:t>
            </a:r>
            <a:r>
              <a:rPr lang="en-US" sz="4400" dirty="0">
                <a:solidFill>
                  <a:srgbClr val="C00000"/>
                </a:solidFill>
              </a:rPr>
              <a:t>               </a:t>
            </a:r>
            <a:r>
              <a:rPr lang="en-US" sz="4400" b="1" dirty="0"/>
              <a:t>else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84724" y="3541784"/>
            <a:ext cx="1793308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4" name="Rectangle 33"/>
          <p:cNvSpPr/>
          <p:nvPr/>
        </p:nvSpPr>
        <p:spPr>
          <a:xfrm>
            <a:off x="2368248" y="3614707"/>
            <a:ext cx="18934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?? </a:t>
            </a:r>
            <a:r>
              <a:rPr lang="en-US" sz="3600" dirty="0"/>
              <a:t>:: </a:t>
            </a:r>
            <a:r>
              <a:rPr lang="en-US" sz="3600" dirty="0" err="1"/>
              <a:t>Bool</a:t>
            </a:r>
            <a:endParaRPr lang="en-US" sz="3600" baseline="-25000" dirty="0"/>
          </a:p>
        </p:txBody>
      </p:sp>
      <p:sp>
        <p:nvSpPr>
          <p:cNvPr id="35" name="Rectangle 34"/>
          <p:cNvSpPr/>
          <p:nvPr/>
        </p:nvSpPr>
        <p:spPr>
          <a:xfrm>
            <a:off x="5547082" y="3614707"/>
            <a:ext cx="18309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P</a:t>
            </a:r>
            <a:r>
              <a:rPr lang="en-US" sz="3600" dirty="0"/>
              <a:t>⊢</a:t>
            </a:r>
            <a:r>
              <a:rPr lang="en-US" sz="3600" dirty="0">
                <a:solidFill>
                  <a:srgbClr val="C00000"/>
                </a:solidFill>
              </a:rPr>
              <a:t>?? </a:t>
            </a:r>
            <a:r>
              <a:rPr lang="en-US" sz="3600" dirty="0"/>
              <a:t>:: T</a:t>
            </a:r>
            <a:endParaRPr lang="en-US" sz="3600" baseline="-25000" dirty="0"/>
          </a:p>
        </p:txBody>
      </p:sp>
      <p:cxnSp>
        <p:nvCxnSpPr>
          <p:cNvPr id="37" name="Straight Connector 36"/>
          <p:cNvCxnSpPr/>
          <p:nvPr/>
        </p:nvCxnSpPr>
        <p:spPr>
          <a:xfrm flipH="1">
            <a:off x="6782495" y="2574166"/>
            <a:ext cx="401037" cy="1130172"/>
          </a:xfrm>
          <a:prstGeom prst="line">
            <a:avLst/>
          </a:prstGeom>
          <a:ln w="50800">
            <a:solidFill>
              <a:srgbClr val="CB660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823963" y="5884977"/>
            <a:ext cx="4601828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III. condition abduction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8296" y="3541784"/>
            <a:ext cx="1881410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3" name="Rectangle 32"/>
          <p:cNvSpPr/>
          <p:nvPr/>
        </p:nvSpPr>
        <p:spPr>
          <a:xfrm>
            <a:off x="8435893" y="3524536"/>
            <a:ext cx="1706593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01747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60" y="29189"/>
            <a:ext cx="7729840" cy="1325563"/>
          </a:xfrm>
        </p:spPr>
        <p:txBody>
          <a:bodyPr/>
          <a:lstStyle/>
          <a:p>
            <a:r>
              <a:rPr lang="en-US" dirty="0"/>
              <a:t>Synthesis from refinement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0" y="1758962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5400" dirty="0"/>
              <a:t>Γ</a:t>
            </a:r>
            <a:r>
              <a:rPr lang="en-US" sz="5400" dirty="0"/>
              <a:t> ⊢ </a:t>
            </a:r>
            <a:r>
              <a:rPr lang="en-US" sz="5400" dirty="0">
                <a:solidFill>
                  <a:srgbClr val="C00000"/>
                </a:solidFill>
              </a:rPr>
              <a:t>??</a:t>
            </a:r>
            <a:r>
              <a:rPr lang="en-US" sz="5400" dirty="0"/>
              <a:t> :: 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124877" y="2596326"/>
            <a:ext cx="918" cy="86296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34066" y="4687566"/>
            <a:ext cx="4601827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I. top-down enumerative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34065" y="5280420"/>
            <a:ext cx="4601828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II. round-trip type checking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5566" y="1451380"/>
            <a:ext cx="2670372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400" dirty="0"/>
              <a:t>x</a:t>
            </a:r>
            <a:r>
              <a:rPr lang="en-US" sz="4400" baseline="-25000" dirty="0"/>
              <a:t>1</a:t>
            </a:r>
            <a:r>
              <a:rPr lang="en-US" sz="4400" dirty="0"/>
              <a:t> :: T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  <a:p>
            <a:pPr algn="r"/>
            <a:r>
              <a:rPr lang="el-GR" sz="4400" dirty="0"/>
              <a:t>φ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113" y="3526864"/>
            <a:ext cx="70585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if     </a:t>
            </a:r>
            <a:r>
              <a:rPr lang="en-US" sz="4400" dirty="0"/>
              <a:t>             </a:t>
            </a:r>
            <a:r>
              <a:rPr lang="en-US" sz="4400" b="1" dirty="0"/>
              <a:t>then</a:t>
            </a:r>
            <a:r>
              <a:rPr lang="en-US" sz="4400" dirty="0"/>
              <a:t> </a:t>
            </a:r>
            <a:r>
              <a:rPr lang="en-US" sz="4400" dirty="0">
                <a:solidFill>
                  <a:srgbClr val="C00000"/>
                </a:solidFill>
              </a:rPr>
              <a:t>               </a:t>
            </a:r>
            <a:r>
              <a:rPr lang="en-US" sz="4400" b="1" dirty="0"/>
              <a:t>else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84724" y="3541784"/>
            <a:ext cx="1793308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4" name="Rectangle 33"/>
          <p:cNvSpPr/>
          <p:nvPr/>
        </p:nvSpPr>
        <p:spPr>
          <a:xfrm>
            <a:off x="2368248" y="3614707"/>
            <a:ext cx="18934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?? </a:t>
            </a:r>
            <a:r>
              <a:rPr lang="en-US" sz="3600" dirty="0"/>
              <a:t>:: </a:t>
            </a:r>
            <a:r>
              <a:rPr lang="en-US" sz="3600" dirty="0" err="1"/>
              <a:t>Bool</a:t>
            </a:r>
            <a:endParaRPr lang="en-US" sz="3600" baseline="-25000" dirty="0"/>
          </a:p>
        </p:txBody>
      </p:sp>
      <p:sp>
        <p:nvSpPr>
          <p:cNvPr id="35" name="Rectangle 34"/>
          <p:cNvSpPr/>
          <p:nvPr/>
        </p:nvSpPr>
        <p:spPr>
          <a:xfrm>
            <a:off x="5547082" y="3614707"/>
            <a:ext cx="18309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P</a:t>
            </a:r>
            <a:r>
              <a:rPr lang="en-US" sz="3600" dirty="0"/>
              <a:t>⊢</a:t>
            </a:r>
            <a:r>
              <a:rPr lang="en-US" sz="3600" dirty="0">
                <a:solidFill>
                  <a:srgbClr val="C00000"/>
                </a:solidFill>
              </a:rPr>
              <a:t>?? </a:t>
            </a:r>
            <a:r>
              <a:rPr lang="en-US" sz="3600" dirty="0"/>
              <a:t>:: T</a:t>
            </a:r>
            <a:endParaRPr lang="en-US" sz="3600" baseline="-25000" dirty="0"/>
          </a:p>
        </p:txBody>
      </p:sp>
      <p:cxnSp>
        <p:nvCxnSpPr>
          <p:cNvPr id="37" name="Straight Connector 36"/>
          <p:cNvCxnSpPr/>
          <p:nvPr/>
        </p:nvCxnSpPr>
        <p:spPr>
          <a:xfrm flipH="1">
            <a:off x="6782495" y="2574166"/>
            <a:ext cx="401037" cy="1130172"/>
          </a:xfrm>
          <a:prstGeom prst="line">
            <a:avLst/>
          </a:prstGeom>
          <a:ln w="50800">
            <a:solidFill>
              <a:srgbClr val="CB660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823963" y="5884977"/>
            <a:ext cx="4601828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III. condition abduction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8296" y="3541784"/>
            <a:ext cx="1881410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0" name="Picture 4" descr="ok checkmark gre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257" y="3725709"/>
            <a:ext cx="486600" cy="48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8435893" y="3524536"/>
            <a:ext cx="1706593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37603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60" y="29189"/>
            <a:ext cx="7729840" cy="1325563"/>
          </a:xfrm>
        </p:spPr>
        <p:txBody>
          <a:bodyPr/>
          <a:lstStyle/>
          <a:p>
            <a:r>
              <a:rPr lang="en-US" dirty="0"/>
              <a:t>Synthesis from refinement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0" y="1758962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5400" dirty="0"/>
              <a:t>Γ</a:t>
            </a:r>
            <a:r>
              <a:rPr lang="en-US" sz="5400" dirty="0"/>
              <a:t> ⊢ </a:t>
            </a:r>
            <a:r>
              <a:rPr lang="en-US" sz="5400" dirty="0">
                <a:solidFill>
                  <a:srgbClr val="C00000"/>
                </a:solidFill>
              </a:rPr>
              <a:t>??</a:t>
            </a:r>
            <a:r>
              <a:rPr lang="en-US" sz="5400" dirty="0"/>
              <a:t> :: 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124877" y="2596326"/>
            <a:ext cx="918" cy="86296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34066" y="4687566"/>
            <a:ext cx="4601827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I. top-down enumerative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34065" y="5280420"/>
            <a:ext cx="4601828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II. round-trip type checking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5566" y="1451380"/>
            <a:ext cx="2670372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400" dirty="0"/>
              <a:t>x</a:t>
            </a:r>
            <a:r>
              <a:rPr lang="en-US" sz="4400" baseline="-25000" dirty="0"/>
              <a:t>1</a:t>
            </a:r>
            <a:r>
              <a:rPr lang="en-US" sz="4400" dirty="0"/>
              <a:t> :: T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  <a:p>
            <a:pPr algn="r"/>
            <a:r>
              <a:rPr lang="el-GR" sz="4400" dirty="0"/>
              <a:t>φ</a:t>
            </a:r>
            <a:r>
              <a:rPr lang="en-US" sz="4400" baseline="-25000" dirty="0"/>
              <a:t>1</a:t>
            </a:r>
            <a:r>
              <a:rPr lang="en-US" sz="4400" dirty="0"/>
              <a:t>; 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113" y="3526864"/>
            <a:ext cx="70585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if     </a:t>
            </a:r>
            <a:r>
              <a:rPr lang="en-US" sz="4400" dirty="0"/>
              <a:t>             </a:t>
            </a:r>
            <a:r>
              <a:rPr lang="en-US" sz="4400" b="1" dirty="0"/>
              <a:t>then</a:t>
            </a:r>
            <a:r>
              <a:rPr lang="en-US" sz="4400" dirty="0"/>
              <a:t> </a:t>
            </a:r>
            <a:r>
              <a:rPr lang="en-US" sz="4400" dirty="0">
                <a:solidFill>
                  <a:srgbClr val="C00000"/>
                </a:solidFill>
              </a:rPr>
              <a:t>               </a:t>
            </a:r>
            <a:r>
              <a:rPr lang="en-US" sz="4400" b="1" dirty="0"/>
              <a:t>else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84724" y="3541784"/>
            <a:ext cx="1793308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4" name="Rectangle 33"/>
          <p:cNvSpPr/>
          <p:nvPr/>
        </p:nvSpPr>
        <p:spPr>
          <a:xfrm>
            <a:off x="2368248" y="3614707"/>
            <a:ext cx="18934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?? </a:t>
            </a:r>
            <a:r>
              <a:rPr lang="en-US" sz="3600" dirty="0"/>
              <a:t>:: </a:t>
            </a:r>
            <a:r>
              <a:rPr lang="en-US" sz="3600" dirty="0" err="1"/>
              <a:t>Bool</a:t>
            </a:r>
            <a:endParaRPr lang="en-US" sz="3600" baseline="-25000" dirty="0"/>
          </a:p>
        </p:txBody>
      </p:sp>
      <p:sp>
        <p:nvSpPr>
          <p:cNvPr id="35" name="Rectangle 34"/>
          <p:cNvSpPr/>
          <p:nvPr/>
        </p:nvSpPr>
        <p:spPr>
          <a:xfrm>
            <a:off x="5547082" y="3614707"/>
            <a:ext cx="18309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P</a:t>
            </a:r>
            <a:r>
              <a:rPr lang="en-US" sz="3600" dirty="0"/>
              <a:t>⊢</a:t>
            </a:r>
            <a:r>
              <a:rPr lang="en-US" sz="3600" dirty="0">
                <a:solidFill>
                  <a:srgbClr val="C00000"/>
                </a:solidFill>
              </a:rPr>
              <a:t>?? </a:t>
            </a:r>
            <a:r>
              <a:rPr lang="en-US" sz="3600" dirty="0"/>
              <a:t>:: T</a:t>
            </a:r>
            <a:endParaRPr lang="en-US" sz="3600" baseline="-25000" dirty="0"/>
          </a:p>
        </p:txBody>
      </p:sp>
      <p:cxnSp>
        <p:nvCxnSpPr>
          <p:cNvPr id="37" name="Straight Connector 36"/>
          <p:cNvCxnSpPr/>
          <p:nvPr/>
        </p:nvCxnSpPr>
        <p:spPr>
          <a:xfrm flipH="1">
            <a:off x="6782495" y="2574166"/>
            <a:ext cx="401037" cy="1130172"/>
          </a:xfrm>
          <a:prstGeom prst="line">
            <a:avLst/>
          </a:prstGeom>
          <a:ln w="50800">
            <a:solidFill>
              <a:srgbClr val="CB660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823963" y="5884977"/>
            <a:ext cx="4601828" cy="517890"/>
          </a:xfrm>
          <a:prstGeom prst="rect">
            <a:avLst/>
          </a:prstGeom>
          <a:solidFill>
            <a:srgbClr val="CB66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III. condition abduction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4483" y="3694041"/>
            <a:ext cx="21409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??</a:t>
            </a:r>
            <a:r>
              <a:rPr lang="en-US" sz="2400" dirty="0"/>
              <a:t>::{</a:t>
            </a:r>
            <a:r>
              <a:rPr lang="en-US" sz="2400" dirty="0" err="1"/>
              <a:t>Bool</a:t>
            </a:r>
            <a:r>
              <a:rPr lang="en-US" sz="2400" dirty="0"/>
              <a:t>|</a:t>
            </a:r>
            <a:r>
              <a:rPr lang="el-GR" sz="2400" dirty="0"/>
              <a:t>ν</a:t>
            </a:r>
            <a:r>
              <a:rPr lang="en-US" sz="2400" dirty="0"/>
              <a:t>=P}</a:t>
            </a:r>
            <a:endParaRPr lang="en-US" sz="2400" baseline="-25000" dirty="0"/>
          </a:p>
        </p:txBody>
      </p:sp>
      <p:sp>
        <p:nvSpPr>
          <p:cNvPr id="17" name="Rectangle 16"/>
          <p:cNvSpPr/>
          <p:nvPr/>
        </p:nvSpPr>
        <p:spPr>
          <a:xfrm>
            <a:off x="2378296" y="3541784"/>
            <a:ext cx="1881410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0" name="Picture 4" descr="ok checkmark gre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257" y="3725709"/>
            <a:ext cx="486600" cy="48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Connector 38"/>
          <p:cNvCxnSpPr/>
          <p:nvPr/>
        </p:nvCxnSpPr>
        <p:spPr>
          <a:xfrm flipH="1">
            <a:off x="4100311" y="4272122"/>
            <a:ext cx="1808125" cy="3468"/>
          </a:xfrm>
          <a:prstGeom prst="line">
            <a:avLst/>
          </a:prstGeom>
          <a:ln w="50800">
            <a:solidFill>
              <a:srgbClr val="CB660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359860" y="3601822"/>
            <a:ext cx="1833906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¬P⊢</a:t>
            </a:r>
            <a:r>
              <a:rPr lang="en-US" sz="3600" dirty="0">
                <a:solidFill>
                  <a:srgbClr val="C00000"/>
                </a:solidFill>
              </a:rPr>
              <a:t>??</a:t>
            </a:r>
            <a:r>
              <a:rPr lang="en-US" sz="3600" dirty="0"/>
              <a:t>::T</a:t>
            </a:r>
            <a:endParaRPr lang="en-US" sz="3600" baseline="-25000" dirty="0"/>
          </a:p>
        </p:txBody>
      </p:sp>
      <p:sp>
        <p:nvSpPr>
          <p:cNvPr id="33" name="Rectangle 32"/>
          <p:cNvSpPr/>
          <p:nvPr/>
        </p:nvSpPr>
        <p:spPr>
          <a:xfrm>
            <a:off x="8435893" y="3524536"/>
            <a:ext cx="1706593" cy="81482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22" name="Straight Connector 21"/>
          <p:cNvCxnSpPr/>
          <p:nvPr/>
        </p:nvCxnSpPr>
        <p:spPr>
          <a:xfrm>
            <a:off x="7091083" y="4279156"/>
            <a:ext cx="1539311" cy="0"/>
          </a:xfrm>
          <a:prstGeom prst="line">
            <a:avLst/>
          </a:prstGeom>
          <a:ln w="50800">
            <a:solidFill>
              <a:srgbClr val="CB660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193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Round-trip type checking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1" y="1537946"/>
            <a:ext cx="5125915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CB6608"/>
                </a:solidFill>
              </a:rPr>
              <a:t>Nil</a:t>
            </a:r>
            <a:r>
              <a:rPr lang="en-US" sz="2000" dirty="0"/>
              <a:t> ; </a:t>
            </a:r>
            <a:r>
              <a:rPr lang="en-US" sz="2000" dirty="0">
                <a:solidFill>
                  <a:srgbClr val="CB6608"/>
                </a:solidFill>
              </a:rPr>
              <a:t>0</a:t>
            </a:r>
            <a:r>
              <a:rPr lang="en-US" sz="2000" dirty="0"/>
              <a:t> ; </a:t>
            </a:r>
            <a:r>
              <a:rPr lang="en-US" sz="2000" dirty="0">
                <a:solidFill>
                  <a:srgbClr val="CB6608"/>
                </a:solidFill>
              </a:rPr>
              <a:t>5</a:t>
            </a:r>
            <a:r>
              <a:rPr lang="en-US" sz="2000" dirty="0"/>
              <a:t> ; </a:t>
            </a:r>
            <a:r>
              <a:rPr lang="en-US" sz="2000" dirty="0">
                <a:solidFill>
                  <a:srgbClr val="CB6608"/>
                </a:solidFill>
              </a:rPr>
              <a:t>-5 </a:t>
            </a:r>
          </a:p>
          <a:p>
            <a:pPr algn="r"/>
            <a:r>
              <a:rPr lang="en-US" sz="2000" dirty="0" err="1">
                <a:solidFill>
                  <a:srgbClr val="CB6608"/>
                </a:solidFill>
              </a:rPr>
              <a:t>zeros</a:t>
            </a:r>
            <a:endParaRPr lang="en-US" sz="2000" dirty="0">
              <a:solidFill>
                <a:srgbClr val="CB6608"/>
              </a:solidFill>
            </a:endParaRPr>
          </a:p>
          <a:p>
            <a:pPr algn="r"/>
            <a:r>
              <a:rPr lang="en-US" sz="2000" dirty="0">
                <a:solidFill>
                  <a:srgbClr val="CB6608"/>
                </a:solidFill>
              </a:rPr>
              <a:t>replicate</a:t>
            </a:r>
            <a:r>
              <a:rPr lang="en-US" sz="2000" dirty="0"/>
              <a:t> ; </a:t>
            </a:r>
            <a:r>
              <a:rPr lang="en-US" sz="2000" dirty="0">
                <a:solidFill>
                  <a:srgbClr val="CB6608"/>
                </a:solidFill>
              </a:rPr>
              <a:t>Cons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649916" y="1948544"/>
            <a:ext cx="3789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⊢  </a:t>
            </a:r>
            <a:r>
              <a:rPr lang="en-US" sz="2400" dirty="0">
                <a:solidFill>
                  <a:srgbClr val="C00000"/>
                </a:solidFill>
              </a:rPr>
              <a:t>?? </a:t>
            </a:r>
            <a:r>
              <a:rPr lang="en-US" sz="2400" dirty="0"/>
              <a:t>  ::  {List </a:t>
            </a:r>
            <a:r>
              <a:rPr lang="en-US" sz="2400" dirty="0" err="1"/>
              <a:t>Neg</a:t>
            </a:r>
            <a:r>
              <a:rPr lang="en-US" sz="2400" dirty="0"/>
              <a:t> | </a:t>
            </a:r>
            <a:r>
              <a:rPr lang="en-US" sz="2400" dirty="0" err="1"/>
              <a:t>len</a:t>
            </a:r>
            <a:r>
              <a:rPr lang="en-US" sz="2400" dirty="0"/>
              <a:t> </a:t>
            </a:r>
            <a:r>
              <a:rPr lang="el-GR" sz="2400" dirty="0"/>
              <a:t>ν</a:t>
            </a:r>
            <a:r>
              <a:rPr lang="en-US" sz="2400" dirty="0"/>
              <a:t> ≥ 5}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2830" y="3679026"/>
            <a:ext cx="1113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Nil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7184572" y="2381275"/>
            <a:ext cx="1" cy="11130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17822" y="3672839"/>
            <a:ext cx="2927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::  {List </a:t>
            </a:r>
            <a:r>
              <a:rPr lang="en-US" sz="2400" dirty="0" err="1"/>
              <a:t>Neg|len</a:t>
            </a:r>
            <a:r>
              <a:rPr lang="en-US" sz="2400" dirty="0"/>
              <a:t> </a:t>
            </a:r>
            <a:r>
              <a:rPr lang="el-GR" sz="2400" dirty="0"/>
              <a:t>ν</a:t>
            </a:r>
            <a:r>
              <a:rPr lang="en-US" sz="2400" dirty="0"/>
              <a:t> = 0}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9492345" y="2489831"/>
            <a:ext cx="0" cy="1122957"/>
          </a:xfrm>
          <a:prstGeom prst="line">
            <a:avLst/>
          </a:prstGeom>
          <a:ln w="50800">
            <a:solidFill>
              <a:srgbClr val="C0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44641" y="1586787"/>
            <a:ext cx="3753652" cy="307777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r"/>
            <a:r>
              <a:rPr lang="en-US" sz="2000" dirty="0">
                <a:solidFill>
                  <a:srgbClr val="CB6608"/>
                </a:solidFill>
              </a:rPr>
              <a:t>Nil</a:t>
            </a:r>
            <a:r>
              <a:rPr lang="en-US" sz="2000" dirty="0"/>
              <a:t> :: {List a | </a:t>
            </a:r>
            <a:r>
              <a:rPr lang="en-US" sz="2000" dirty="0" err="1"/>
              <a:t>len</a:t>
            </a:r>
            <a:r>
              <a:rPr lang="en-US" sz="2000" dirty="0"/>
              <a:t> </a:t>
            </a:r>
            <a:r>
              <a:rPr lang="el-GR" sz="2000" dirty="0"/>
              <a:t>ν</a:t>
            </a:r>
            <a:r>
              <a:rPr lang="en-US" sz="2000" dirty="0"/>
              <a:t> = 0}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8506" y="1900547"/>
            <a:ext cx="5125915" cy="307777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r"/>
            <a:r>
              <a:rPr lang="en-US" sz="2000" dirty="0" err="1">
                <a:solidFill>
                  <a:srgbClr val="CB6608"/>
                </a:solidFill>
              </a:rPr>
              <a:t>zeros</a:t>
            </a:r>
            <a:r>
              <a:rPr lang="en-US" sz="2000" dirty="0"/>
              <a:t> :: n:Nat → {List Zero | </a:t>
            </a:r>
            <a:r>
              <a:rPr lang="en-US" sz="2000" dirty="0" err="1"/>
              <a:t>len</a:t>
            </a:r>
            <a:r>
              <a:rPr lang="en-US" sz="2000" dirty="0"/>
              <a:t> </a:t>
            </a:r>
            <a:r>
              <a:rPr lang="el-GR" sz="2000" dirty="0"/>
              <a:t>ν</a:t>
            </a:r>
            <a:r>
              <a:rPr lang="en-US" sz="2000" dirty="0"/>
              <a:t> = n}</a:t>
            </a:r>
          </a:p>
        </p:txBody>
      </p:sp>
      <p:sp>
        <p:nvSpPr>
          <p:cNvPr id="3" name="Rectangle 2"/>
          <p:cNvSpPr/>
          <p:nvPr/>
        </p:nvSpPr>
        <p:spPr>
          <a:xfrm>
            <a:off x="4624846" y="1422477"/>
            <a:ext cx="2054657" cy="1487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l-GR" sz="3600">
                <a:solidFill>
                  <a:schemeClr val="tx1"/>
                </a:solidFill>
              </a:rPr>
              <a:t>Γ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92639" y="5273968"/>
            <a:ext cx="49069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 err="1"/>
              <a:t>zeros</a:t>
            </a:r>
            <a:r>
              <a:rPr lang="en-US" sz="2400" dirty="0"/>
              <a:t> :: n:Nat → {List Zero | </a:t>
            </a:r>
            <a:r>
              <a:rPr lang="en-US" sz="2400" dirty="0" err="1"/>
              <a:t>len</a:t>
            </a:r>
            <a:r>
              <a:rPr lang="en-US" sz="2400" dirty="0"/>
              <a:t> </a:t>
            </a:r>
            <a:r>
              <a:rPr lang="el-GR" sz="2400" dirty="0"/>
              <a:t>ν</a:t>
            </a:r>
            <a:r>
              <a:rPr lang="en-US" sz="2400" dirty="0"/>
              <a:t> = n}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1094" y="3587403"/>
            <a:ext cx="1318151" cy="65282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>
            <a:off x="5407375" y="4160905"/>
            <a:ext cx="0" cy="1122957"/>
          </a:xfrm>
          <a:prstGeom prst="line">
            <a:avLst/>
          </a:prstGeom>
          <a:ln w="50800">
            <a:solidFill>
              <a:srgbClr val="C0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282463" y="3590717"/>
            <a:ext cx="3887580" cy="65282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41729" y="3702981"/>
            <a:ext cx="3648935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??</a:t>
            </a:r>
            <a:r>
              <a:rPr lang="en-US" sz="2400" dirty="0"/>
              <a:t> :: </a:t>
            </a:r>
            <a:r>
              <a:rPr lang="en-US" sz="2400" i="1" dirty="0">
                <a:solidFill>
                  <a:srgbClr val="660066"/>
                </a:solidFill>
              </a:rPr>
              <a:t>_</a:t>
            </a:r>
            <a:r>
              <a:rPr lang="en-US" sz="2400" dirty="0">
                <a:solidFill>
                  <a:srgbClr val="660066"/>
                </a:solidFill>
              </a:rPr>
              <a:t> → {List </a:t>
            </a:r>
            <a:r>
              <a:rPr lang="en-US" sz="2400" dirty="0" err="1">
                <a:solidFill>
                  <a:srgbClr val="660066"/>
                </a:solidFill>
              </a:rPr>
              <a:t>Neg</a:t>
            </a:r>
            <a:r>
              <a:rPr lang="en-US" sz="2400" dirty="0">
                <a:solidFill>
                  <a:srgbClr val="660066"/>
                </a:solidFill>
              </a:rPr>
              <a:t> | </a:t>
            </a:r>
            <a:r>
              <a:rPr lang="en-US" sz="2400" dirty="0" err="1">
                <a:solidFill>
                  <a:srgbClr val="660066"/>
                </a:solidFill>
              </a:rPr>
              <a:t>len</a:t>
            </a:r>
            <a:r>
              <a:rPr lang="en-US" sz="2400" dirty="0">
                <a:solidFill>
                  <a:srgbClr val="660066"/>
                </a:solidFill>
              </a:rPr>
              <a:t> </a:t>
            </a:r>
            <a:r>
              <a:rPr lang="el-GR" sz="2400" dirty="0">
                <a:solidFill>
                  <a:srgbClr val="660066"/>
                </a:solidFill>
              </a:rPr>
              <a:t>ν</a:t>
            </a:r>
            <a:r>
              <a:rPr lang="en-US" sz="2400" dirty="0">
                <a:solidFill>
                  <a:srgbClr val="660066"/>
                </a:solidFill>
              </a:rPr>
              <a:t> ≥ 5}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3546258" y="4160905"/>
            <a:ext cx="1" cy="11130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4448070" y="2406931"/>
            <a:ext cx="4049480" cy="1296051"/>
          </a:xfrm>
          <a:prstGeom prst="line">
            <a:avLst/>
          </a:prstGeom>
          <a:ln w="25400">
            <a:solidFill>
              <a:srgbClr val="CB6608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http://vector.me/files/images/4/3/436768/red_green_ok_not_ok_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659" y="3672838"/>
            <a:ext cx="393192" cy="39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http://vector.me/files/images/4/3/436768/red_green_ok_not_ok_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827" y="1976953"/>
            <a:ext cx="393192" cy="39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575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8" grpId="0"/>
      <p:bldP spid="18" grpId="1"/>
      <p:bldP spid="31" grpId="0" animBg="1"/>
      <p:bldP spid="31" grpId="1" animBg="1"/>
      <p:bldP spid="30" grpId="0" animBg="1"/>
      <p:bldP spid="3" grpId="0" animBg="1"/>
      <p:bldP spid="34" grpId="0" animBg="1"/>
      <p:bldP spid="37" grpId="0" animBg="1"/>
      <p:bldP spid="17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5787246" y="5212081"/>
            <a:ext cx="168728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0 :: { </a:t>
            </a:r>
            <a:r>
              <a:rPr lang="el-GR" sz="2400" dirty="0"/>
              <a:t>ν</a:t>
            </a:r>
            <a:r>
              <a:rPr lang="en-US" sz="2400" dirty="0"/>
              <a:t> = 0 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87246" y="5212081"/>
            <a:ext cx="168728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5 :: { </a:t>
            </a:r>
            <a:r>
              <a:rPr lang="el-GR" sz="2400" dirty="0"/>
              <a:t>ν</a:t>
            </a:r>
            <a:r>
              <a:rPr lang="en-US" sz="2400" dirty="0"/>
              <a:t> = 5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1" y="1537946"/>
            <a:ext cx="5125915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CB6608"/>
                </a:solidFill>
              </a:rPr>
              <a:t>Nil</a:t>
            </a:r>
            <a:r>
              <a:rPr lang="en-US" sz="2000" dirty="0"/>
              <a:t> ; </a:t>
            </a:r>
            <a:r>
              <a:rPr lang="en-US" sz="2000" dirty="0">
                <a:solidFill>
                  <a:srgbClr val="CB6608"/>
                </a:solidFill>
              </a:rPr>
              <a:t>0</a:t>
            </a:r>
            <a:r>
              <a:rPr lang="en-US" sz="2000" dirty="0"/>
              <a:t> ; </a:t>
            </a:r>
            <a:r>
              <a:rPr lang="en-US" sz="2000" dirty="0">
                <a:solidFill>
                  <a:srgbClr val="CB6608"/>
                </a:solidFill>
              </a:rPr>
              <a:t>5</a:t>
            </a:r>
            <a:r>
              <a:rPr lang="en-US" sz="2000" dirty="0"/>
              <a:t> ; </a:t>
            </a:r>
            <a:r>
              <a:rPr lang="en-US" sz="2000" dirty="0">
                <a:solidFill>
                  <a:srgbClr val="CB6608"/>
                </a:solidFill>
              </a:rPr>
              <a:t>-5 </a:t>
            </a:r>
          </a:p>
          <a:p>
            <a:pPr algn="r"/>
            <a:r>
              <a:rPr lang="en-US" sz="2000" dirty="0" err="1">
                <a:solidFill>
                  <a:srgbClr val="CB6608"/>
                </a:solidFill>
              </a:rPr>
              <a:t>zeros</a:t>
            </a:r>
            <a:endParaRPr lang="en-US" sz="2000" dirty="0">
              <a:solidFill>
                <a:srgbClr val="CB6608"/>
              </a:solidFill>
            </a:endParaRPr>
          </a:p>
          <a:p>
            <a:pPr algn="r"/>
            <a:r>
              <a:rPr lang="en-US" sz="2000" dirty="0">
                <a:solidFill>
                  <a:srgbClr val="CB6608"/>
                </a:solidFill>
              </a:rPr>
              <a:t>replicate</a:t>
            </a:r>
          </a:p>
          <a:p>
            <a:pPr algn="r"/>
            <a:r>
              <a:rPr lang="en-US" sz="2000" dirty="0">
                <a:solidFill>
                  <a:srgbClr val="CB6608"/>
                </a:solidFill>
              </a:rPr>
              <a:t>Cons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Round-trip type checking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25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74228" y="1948544"/>
            <a:ext cx="4811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⊢  </a:t>
            </a:r>
            <a:r>
              <a:rPr lang="en-US" sz="2400" dirty="0">
                <a:solidFill>
                  <a:srgbClr val="C00000"/>
                </a:solidFill>
              </a:rPr>
              <a:t>?? </a:t>
            </a:r>
            <a:r>
              <a:rPr lang="en-US" sz="2400" dirty="0"/>
              <a:t>   ::  {List </a:t>
            </a:r>
            <a:r>
              <a:rPr lang="en-US" sz="2400" dirty="0" err="1"/>
              <a:t>Neg</a:t>
            </a:r>
            <a:r>
              <a:rPr lang="en-US" sz="2400" dirty="0"/>
              <a:t> | </a:t>
            </a:r>
            <a:r>
              <a:rPr lang="en-US" sz="2400" dirty="0" err="1"/>
              <a:t>len</a:t>
            </a:r>
            <a:r>
              <a:rPr lang="en-US" sz="2400" dirty="0"/>
              <a:t> </a:t>
            </a:r>
            <a:r>
              <a:rPr lang="el-GR" sz="2400" dirty="0"/>
              <a:t>ν</a:t>
            </a:r>
            <a:r>
              <a:rPr lang="en-US" sz="2400" dirty="0"/>
              <a:t> ≥ 5}    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7184572" y="2381275"/>
            <a:ext cx="1" cy="11130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53258" y="5794369"/>
            <a:ext cx="651832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replicate :: n: Nat → x: </a:t>
            </a:r>
            <a:r>
              <a:rPr lang="en-US" sz="2400" dirty="0" err="1"/>
              <a:t>Neg</a:t>
            </a:r>
            <a:r>
              <a:rPr lang="en-US" sz="2400" dirty="0"/>
              <a:t> → {List </a:t>
            </a:r>
            <a:r>
              <a:rPr lang="en-US" sz="2400" dirty="0" err="1"/>
              <a:t>Neg</a:t>
            </a:r>
            <a:r>
              <a:rPr lang="en-US" sz="2400" dirty="0"/>
              <a:t> | </a:t>
            </a:r>
            <a:r>
              <a:rPr lang="en-US" sz="2400" dirty="0" err="1"/>
              <a:t>len</a:t>
            </a:r>
            <a:r>
              <a:rPr lang="en-US" sz="2400" dirty="0"/>
              <a:t> </a:t>
            </a:r>
            <a:r>
              <a:rPr lang="el-GR" sz="2400" dirty="0"/>
              <a:t>ν</a:t>
            </a:r>
            <a:r>
              <a:rPr lang="en-US" sz="2400" dirty="0"/>
              <a:t> = n}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0676" y="3749323"/>
            <a:ext cx="137860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??</a:t>
            </a:r>
            <a:r>
              <a:rPr lang="en-US" sz="2400" dirty="0"/>
              <a:t> :: </a:t>
            </a:r>
            <a:r>
              <a:rPr lang="en-US" sz="2400" dirty="0">
                <a:solidFill>
                  <a:srgbClr val="660066"/>
                </a:solidFill>
              </a:rPr>
              <a:t>Nat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3020" y="3749323"/>
            <a:ext cx="128760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??</a:t>
            </a:r>
            <a:r>
              <a:rPr lang="en-US" sz="2400" dirty="0"/>
              <a:t> :: </a:t>
            </a:r>
            <a:r>
              <a:rPr lang="en-US" sz="2400" dirty="0" err="1"/>
              <a:t>Neg</a:t>
            </a:r>
            <a:endParaRPr lang="en-US" sz="2400" dirty="0"/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5161507" y="4211144"/>
            <a:ext cx="1" cy="10515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929743" y="5212081"/>
            <a:ext cx="1687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 :: { </a:t>
            </a:r>
            <a:r>
              <a:rPr lang="el-GR" sz="2400" dirty="0"/>
              <a:t>ν</a:t>
            </a:r>
            <a:r>
              <a:rPr lang="en-US" sz="2400" dirty="0"/>
              <a:t> = 0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29743" y="5212081"/>
            <a:ext cx="168728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5 :: { </a:t>
            </a:r>
            <a:r>
              <a:rPr lang="el-GR" sz="2400" dirty="0"/>
              <a:t>ν</a:t>
            </a:r>
            <a:r>
              <a:rPr lang="en-US" sz="2400" dirty="0"/>
              <a:t> = 5 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9161" y="3751286"/>
            <a:ext cx="304007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:: {List </a:t>
            </a:r>
            <a:r>
              <a:rPr lang="en-US" sz="2400" dirty="0" err="1"/>
              <a:t>Neg</a:t>
            </a:r>
            <a:r>
              <a:rPr lang="en-US" sz="2400" dirty="0"/>
              <a:t> | </a:t>
            </a:r>
            <a:r>
              <a:rPr lang="en-US" sz="2400" dirty="0" err="1"/>
              <a:t>len</a:t>
            </a:r>
            <a:r>
              <a:rPr lang="en-US" sz="2400" dirty="0"/>
              <a:t> </a:t>
            </a:r>
            <a:r>
              <a:rPr lang="el-GR" sz="2400" dirty="0"/>
              <a:t>ν</a:t>
            </a:r>
            <a:r>
              <a:rPr lang="en-US" sz="2400" dirty="0"/>
              <a:t> = 0}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7822" y="3755887"/>
            <a:ext cx="305017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:: {List </a:t>
            </a:r>
            <a:r>
              <a:rPr lang="en-US" sz="2400" dirty="0" err="1"/>
              <a:t>Neg</a:t>
            </a:r>
            <a:r>
              <a:rPr lang="en-US" sz="2400" dirty="0"/>
              <a:t> | </a:t>
            </a:r>
            <a:r>
              <a:rPr lang="en-US" sz="2400" dirty="0" err="1"/>
              <a:t>len</a:t>
            </a:r>
            <a:r>
              <a:rPr lang="en-US" sz="2400" dirty="0"/>
              <a:t> </a:t>
            </a:r>
            <a:r>
              <a:rPr lang="el-GR" sz="2400" dirty="0"/>
              <a:t>ν</a:t>
            </a:r>
            <a:r>
              <a:rPr lang="en-US" sz="2400" dirty="0"/>
              <a:t> = 5}</a:t>
            </a:r>
          </a:p>
        </p:txBody>
      </p:sp>
      <p:cxnSp>
        <p:nvCxnSpPr>
          <p:cNvPr id="40" name="Straight Connector 39"/>
          <p:cNvCxnSpPr/>
          <p:nvPr/>
        </p:nvCxnSpPr>
        <p:spPr>
          <a:xfrm flipH="1">
            <a:off x="6585482" y="4212950"/>
            <a:ext cx="1" cy="10515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95342" y="5212081"/>
            <a:ext cx="176348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-5 :: { </a:t>
            </a:r>
            <a:r>
              <a:rPr lang="el-GR" sz="2400" dirty="0"/>
              <a:t>ν</a:t>
            </a:r>
            <a:r>
              <a:rPr lang="en-US" sz="2400" dirty="0"/>
              <a:t> = -5 }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9492345" y="2489831"/>
            <a:ext cx="0" cy="1122957"/>
          </a:xfrm>
          <a:prstGeom prst="line">
            <a:avLst/>
          </a:prstGeom>
          <a:ln w="50800">
            <a:solidFill>
              <a:srgbClr val="C0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" descr="ok checkmark gre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766" y="1948545"/>
            <a:ext cx="391610" cy="39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1549273" y="2179376"/>
            <a:ext cx="5125915" cy="307777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algn="r"/>
            <a:r>
              <a:rPr lang="en-US" sz="2000" dirty="0">
                <a:solidFill>
                  <a:srgbClr val="CB6608"/>
                </a:solidFill>
              </a:rPr>
              <a:t>replicate</a:t>
            </a:r>
            <a:r>
              <a:rPr lang="en-US" sz="2000" dirty="0"/>
              <a:t> :: n: Nat → x: a → {List a | </a:t>
            </a:r>
            <a:r>
              <a:rPr lang="en-US" sz="2000" dirty="0" err="1"/>
              <a:t>len</a:t>
            </a:r>
            <a:r>
              <a:rPr lang="en-US" sz="2000" dirty="0"/>
              <a:t> </a:t>
            </a:r>
            <a:r>
              <a:rPr lang="el-GR" sz="2000" dirty="0"/>
              <a:t>ν</a:t>
            </a:r>
            <a:r>
              <a:rPr lang="en-US" sz="2000" dirty="0"/>
              <a:t> = n}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26938" y="3587402"/>
            <a:ext cx="1318151" cy="78548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48527" y="3587402"/>
            <a:ext cx="1418425" cy="78548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787218" y="3587402"/>
            <a:ext cx="2933693" cy="78548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H="1">
            <a:off x="4122822" y="2410208"/>
            <a:ext cx="4583915" cy="1278826"/>
          </a:xfrm>
          <a:prstGeom prst="line">
            <a:avLst/>
          </a:prstGeom>
          <a:ln w="25400">
            <a:solidFill>
              <a:srgbClr val="CB6608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3691512" y="4217552"/>
            <a:ext cx="2061197" cy="1620757"/>
          </a:xfrm>
          <a:prstGeom prst="line">
            <a:avLst/>
          </a:prstGeom>
          <a:ln w="25400">
            <a:solidFill>
              <a:srgbClr val="CB660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795744" y="3553329"/>
            <a:ext cx="30782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??</a:t>
            </a:r>
            <a:r>
              <a:rPr lang="en-US" sz="2400" dirty="0"/>
              <a:t> ::</a:t>
            </a:r>
            <a:r>
              <a:rPr lang="en-US" sz="2400" dirty="0">
                <a:solidFill>
                  <a:srgbClr val="660066"/>
                </a:solidFill>
              </a:rPr>
              <a:t> </a:t>
            </a:r>
            <a:r>
              <a:rPr lang="en-US" sz="2400" i="1" dirty="0">
                <a:solidFill>
                  <a:srgbClr val="660066"/>
                </a:solidFill>
              </a:rPr>
              <a:t>_ </a:t>
            </a:r>
            <a:r>
              <a:rPr lang="en-US" sz="2400" dirty="0">
                <a:solidFill>
                  <a:srgbClr val="660066"/>
                </a:solidFill>
              </a:rPr>
              <a:t>→ </a:t>
            </a:r>
            <a:r>
              <a:rPr lang="en-US" sz="2400" i="1" dirty="0">
                <a:solidFill>
                  <a:srgbClr val="660066"/>
                </a:solidFill>
              </a:rPr>
              <a:t>_ </a:t>
            </a:r>
            <a:r>
              <a:rPr lang="en-US" sz="2400" dirty="0">
                <a:solidFill>
                  <a:srgbClr val="660066"/>
                </a:solidFill>
              </a:rPr>
              <a:t>→ </a:t>
            </a:r>
          </a:p>
          <a:p>
            <a:r>
              <a:rPr lang="en-US" sz="2400" dirty="0">
                <a:solidFill>
                  <a:srgbClr val="660066"/>
                </a:solidFill>
              </a:rPr>
              <a:t>       {List </a:t>
            </a:r>
            <a:r>
              <a:rPr lang="en-US" sz="2400" dirty="0" err="1">
                <a:solidFill>
                  <a:srgbClr val="660066"/>
                </a:solidFill>
              </a:rPr>
              <a:t>Neg|len</a:t>
            </a:r>
            <a:r>
              <a:rPr lang="en-US" sz="2400" dirty="0">
                <a:solidFill>
                  <a:srgbClr val="660066"/>
                </a:solidFill>
              </a:rPr>
              <a:t> </a:t>
            </a:r>
            <a:r>
              <a:rPr lang="el-GR" sz="2400" dirty="0">
                <a:solidFill>
                  <a:srgbClr val="660066"/>
                </a:solidFill>
              </a:rPr>
              <a:t>ν</a:t>
            </a:r>
            <a:r>
              <a:rPr lang="en-US" sz="2400" dirty="0">
                <a:solidFill>
                  <a:srgbClr val="660066"/>
                </a:solidFill>
              </a:rPr>
              <a:t> ≥ 5}</a:t>
            </a:r>
            <a:r>
              <a:rPr lang="en-US" sz="2400" dirty="0"/>
              <a:t> 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2046091" y="4055228"/>
            <a:ext cx="2" cy="17830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21" idx="0"/>
          </p:cNvCxnSpPr>
          <p:nvPr/>
        </p:nvCxnSpPr>
        <p:spPr>
          <a:xfrm flipV="1">
            <a:off x="4912418" y="4227924"/>
            <a:ext cx="2353998" cy="1566445"/>
          </a:xfrm>
          <a:prstGeom prst="line">
            <a:avLst/>
          </a:prstGeom>
          <a:ln w="25400">
            <a:solidFill>
              <a:srgbClr val="CB660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2" descr="http://vector.me/files/images/4/3/436768/red_green_ok_not_ok_ic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717" y="1896343"/>
            <a:ext cx="473802" cy="47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http://vector.me/files/images/4/3/436768/red_green_ok_not_ok_ic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474" y="3725928"/>
            <a:ext cx="473802" cy="47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ok checkmark gre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460" y="3762673"/>
            <a:ext cx="391610" cy="39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" descr="http://images.clipartpanda.com/question-701-question-mark-design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495" y="3624719"/>
            <a:ext cx="393192" cy="39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4" descr="ok checkmark gre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172" y="3626846"/>
            <a:ext cx="391610" cy="39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4" descr="http://images.clipartpanda.com/question-701-question-mark-design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489" y="3772230"/>
            <a:ext cx="393192" cy="39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 descr="ok checkmark gre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062" y="3779530"/>
            <a:ext cx="391610" cy="39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471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21" grpId="0" animBg="1"/>
      <p:bldP spid="27" grpId="0" animBg="1"/>
      <p:bldP spid="28" grpId="0" animBg="1"/>
      <p:bldP spid="33" grpId="0"/>
      <p:bldP spid="34" grpId="0" animBg="1"/>
      <p:bldP spid="37" grpId="0" animBg="1"/>
      <p:bldP spid="37" grpId="1" animBg="1"/>
      <p:bldP spid="39" grpId="0" animBg="1"/>
      <p:bldP spid="41" grpId="0" animBg="1"/>
      <p:bldP spid="26" grpId="0" animBg="1"/>
      <p:bldP spid="3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60" y="29189"/>
            <a:ext cx="10770991" cy="1325563"/>
          </a:xfrm>
        </p:spPr>
        <p:txBody>
          <a:bodyPr/>
          <a:lstStyle/>
          <a:p>
            <a:r>
              <a:rPr lang="en-US" dirty="0"/>
              <a:t>Q3: Can RTTC reject these terms?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inc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?? :: {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l-GR" sz="2400" dirty="0">
                <a:latin typeface="Consolas" panose="020B0609020204030204" pitchFamily="49" charset="0"/>
                <a:cs typeface="Consolas" panose="020B0609020204030204" pitchFamily="49" charset="0"/>
              </a:rPr>
              <a:t>ν = 5}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where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:: x:Int → {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l-GR" sz="2000" dirty="0">
                <a:latin typeface="Consolas" panose="020B0609020204030204" pitchFamily="49" charset="0"/>
                <a:cs typeface="Consolas" panose="020B0609020204030204" pitchFamily="49" charset="0"/>
              </a:rPr>
              <a:t>ν =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 + 1}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NO! don’t know if we can find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?? :: {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l-GR" sz="2000" dirty="0">
                <a:latin typeface="Consolas" panose="020B0609020204030204" pitchFamily="49" charset="0"/>
                <a:cs typeface="Consolas" panose="020B0609020204030204" pitchFamily="49" charset="0"/>
              </a:rPr>
              <a:t>ν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+ 1</a:t>
            </a:r>
            <a:r>
              <a:rPr lang="el-GR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5}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nats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?? :: List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where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nats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:: n:Nat → {List Nat|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l-GR" sz="2000" dirty="0">
                <a:latin typeface="Consolas" panose="020B0609020204030204" pitchFamily="49" charset="0"/>
                <a:cs typeface="Consolas" panose="020B0609020204030204" pitchFamily="49" charset="0"/>
              </a:rPr>
              <a:t>ν =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n}</a:t>
            </a:r>
            <a:br>
              <a:rPr lang="en-US" dirty="0"/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Nat = {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l-GR" sz="2000" dirty="0">
                <a:latin typeface="Consolas" panose="020B0609020204030204" pitchFamily="49" charset="0"/>
                <a:cs typeface="Consolas" panose="020B0609020204030204" pitchFamily="49" charset="0"/>
              </a:rPr>
              <a:t>ν &gt;= 0}</a:t>
            </a:r>
            <a:r>
              <a:rPr lang="el-GR" dirty="0"/>
              <a:t>,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{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l-GR" sz="2000" dirty="0">
                <a:latin typeface="Consolas" panose="020B0609020204030204" pitchFamily="49" charset="0"/>
                <a:cs typeface="Consolas" panose="020B0609020204030204" pitchFamily="49" charset="0"/>
              </a:rPr>
              <a:t>ν &gt; 0}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YES!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n:Nat → {List Nat|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l-GR" dirty="0">
                <a:latin typeface="Consolas" panose="020B0609020204030204" pitchFamily="49" charset="0"/>
                <a:cs typeface="Consolas" panose="020B0609020204030204" pitchFamily="49" charset="0"/>
              </a:rPr>
              <a:t>ν =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n} </a:t>
            </a:r>
            <a:r>
              <a:rPr lang="en-US" dirty="0">
                <a:latin typeface="+mn-lt"/>
                <a:cs typeface="Consolas" panose="020B0609020204030204" pitchFamily="49" charset="0"/>
              </a:rPr>
              <a:t>not a subtype of </a:t>
            </a:r>
            <a:br>
              <a:rPr lang="en-US" dirty="0">
                <a:latin typeface="+mn-lt"/>
                <a:cs typeface="Consolas" panose="020B0609020204030204" pitchFamily="49" charset="0"/>
              </a:rPr>
            </a:br>
            <a:r>
              <a:rPr lang="en-US" dirty="0">
                <a:latin typeface="+mn-lt"/>
                <a:cs typeface="Consolas" panose="020B0609020204030204" pitchFamily="49" charset="0"/>
              </a:rPr>
              <a:t>                    </a:t>
            </a:r>
            <a:r>
              <a:rPr lang="en-US" dirty="0"/>
              <a:t>_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→ List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endParaRPr lang="en-US" dirty="0"/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duplicate ?? :: {List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l-GR" sz="2400" dirty="0">
                <a:latin typeface="Consolas" panose="020B0609020204030204" pitchFamily="49" charset="0"/>
                <a:cs typeface="Consolas" panose="020B0609020204030204" pitchFamily="49" charset="0"/>
              </a:rPr>
              <a:t>ν = 5}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where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duplicate ::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xs:List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a → {List a |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l-GR" sz="2000" dirty="0">
                <a:latin typeface="Consolas" panose="020B0609020204030204" pitchFamily="49" charset="0"/>
                <a:cs typeface="Consolas" panose="020B0609020204030204" pitchFamily="49" charset="0"/>
              </a:rPr>
              <a:t>ν = 2*(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)}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YES! using a consistency check (</a:t>
            </a:r>
            <a:r>
              <a:rPr lang="en-US" dirty="0" err="1"/>
              <a:t>len</a:t>
            </a:r>
            <a:r>
              <a:rPr lang="en-US" dirty="0"/>
              <a:t> </a:t>
            </a:r>
            <a:r>
              <a:rPr lang="el-GR" dirty="0"/>
              <a:t>ν = 2*(</a:t>
            </a:r>
            <a:r>
              <a:rPr lang="en-US" dirty="0" err="1"/>
              <a:t>len</a:t>
            </a:r>
            <a:r>
              <a:rPr lang="en-US" dirty="0"/>
              <a:t> </a:t>
            </a:r>
            <a:r>
              <a:rPr lang="en-US" dirty="0" err="1"/>
              <a:t>xs</a:t>
            </a:r>
            <a:r>
              <a:rPr lang="en-US" dirty="0"/>
              <a:t>) ∧ </a:t>
            </a:r>
            <a:r>
              <a:rPr lang="en-US" dirty="0" err="1"/>
              <a:t>len</a:t>
            </a:r>
            <a:r>
              <a:rPr lang="en-US" dirty="0"/>
              <a:t> </a:t>
            </a:r>
            <a:r>
              <a:rPr lang="el-GR" dirty="0"/>
              <a:t>ν = 5</a:t>
            </a:r>
            <a:r>
              <a:rPr lang="en-US" dirty="0"/>
              <a:t> → UNSAT)</a:t>
            </a:r>
          </a:p>
        </p:txBody>
      </p:sp>
    </p:spTree>
    <p:extLst>
      <p:ext uri="{BB962C8B-B14F-4D97-AF65-F5344CB8AC3E}">
        <p14:creationId xmlns:p14="http://schemas.microsoft.com/office/powerpoint/2010/main" val="152243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abduction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1" y="1578406"/>
            <a:ext cx="512591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CB6608"/>
                </a:solidFill>
              </a:rPr>
              <a:t>Nil</a:t>
            </a:r>
            <a:r>
              <a:rPr lang="en-US" sz="2400" dirty="0"/>
              <a:t> ; </a:t>
            </a:r>
            <a:r>
              <a:rPr lang="en-US" sz="2400" dirty="0">
                <a:solidFill>
                  <a:srgbClr val="CB6608"/>
                </a:solidFill>
              </a:rPr>
              <a:t>0 </a:t>
            </a:r>
            <a:r>
              <a:rPr lang="en-US" sz="2400" dirty="0"/>
              <a:t>; </a:t>
            </a:r>
            <a:r>
              <a:rPr lang="en-US" sz="2400" dirty="0">
                <a:solidFill>
                  <a:srgbClr val="CB6608"/>
                </a:solidFill>
              </a:rPr>
              <a:t>-5</a:t>
            </a:r>
            <a:r>
              <a:rPr lang="en-US" sz="2400" dirty="0"/>
              <a:t> ; </a:t>
            </a:r>
            <a:r>
              <a:rPr lang="en-US" sz="2400" dirty="0">
                <a:solidFill>
                  <a:srgbClr val="CB6608"/>
                </a:solidFill>
              </a:rPr>
              <a:t>n</a:t>
            </a:r>
            <a:r>
              <a:rPr lang="en-US" sz="2400" dirty="0"/>
              <a:t> :: Nat</a:t>
            </a:r>
          </a:p>
          <a:p>
            <a:pPr algn="r"/>
            <a:r>
              <a:rPr lang="en-US" sz="2400" dirty="0"/>
              <a:t> </a:t>
            </a:r>
            <a:r>
              <a:rPr lang="en-US" sz="2400" dirty="0">
                <a:solidFill>
                  <a:srgbClr val="CB6608"/>
                </a:solidFill>
              </a:rPr>
              <a:t>(≤)</a:t>
            </a:r>
            <a:r>
              <a:rPr lang="en-US" sz="2400" dirty="0"/>
              <a:t> ; </a:t>
            </a:r>
            <a:r>
              <a:rPr lang="en-US" sz="2400" dirty="0">
                <a:solidFill>
                  <a:srgbClr val="CB6608"/>
                </a:solidFill>
              </a:rPr>
              <a:t>(≠)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9916" y="1948544"/>
            <a:ext cx="5360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⊢  </a:t>
            </a:r>
            <a:r>
              <a:rPr lang="en-US" sz="2400" dirty="0">
                <a:solidFill>
                  <a:srgbClr val="C00000"/>
                </a:solidFill>
              </a:rPr>
              <a:t>?? </a:t>
            </a:r>
            <a:r>
              <a:rPr lang="en-US" sz="2400" dirty="0"/>
              <a:t>  ::  {List </a:t>
            </a:r>
            <a:r>
              <a:rPr lang="en-US" sz="2400" dirty="0" err="1"/>
              <a:t>Neg</a:t>
            </a:r>
            <a:r>
              <a:rPr lang="en-US" sz="2400" dirty="0"/>
              <a:t> | </a:t>
            </a:r>
            <a:r>
              <a:rPr lang="en-US" sz="2400" dirty="0" err="1"/>
              <a:t>len</a:t>
            </a:r>
            <a:r>
              <a:rPr lang="en-US" sz="2400" dirty="0"/>
              <a:t> </a:t>
            </a:r>
            <a:r>
              <a:rPr lang="el-GR" sz="2400" dirty="0"/>
              <a:t>ν</a:t>
            </a:r>
            <a:r>
              <a:rPr lang="en-US" sz="2400" dirty="0"/>
              <a:t> = n}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2830" y="3679026"/>
            <a:ext cx="1113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Nil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7184572" y="2381275"/>
            <a:ext cx="1" cy="11130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17822" y="3672839"/>
            <a:ext cx="2927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::  {List </a:t>
            </a:r>
            <a:r>
              <a:rPr lang="en-US" sz="2400" dirty="0" err="1"/>
              <a:t>Neg</a:t>
            </a:r>
            <a:r>
              <a:rPr lang="en-US" sz="2400" dirty="0"/>
              <a:t> |</a:t>
            </a:r>
            <a:r>
              <a:rPr lang="en-US" sz="2400" dirty="0" err="1"/>
              <a:t>len</a:t>
            </a:r>
            <a:r>
              <a:rPr lang="en-US" sz="2400" dirty="0"/>
              <a:t> </a:t>
            </a:r>
            <a:r>
              <a:rPr lang="el-GR" sz="2400" dirty="0"/>
              <a:t>ν</a:t>
            </a:r>
            <a:r>
              <a:rPr lang="en-US" sz="2400" dirty="0"/>
              <a:t> = 0}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" y="2330444"/>
            <a:ext cx="512591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C00000"/>
                </a:solidFill>
              </a:rPr>
              <a:t>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3999" y="2330444"/>
            <a:ext cx="512591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n ≤ 0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9492345" y="2489831"/>
            <a:ext cx="0" cy="1122957"/>
          </a:xfrm>
          <a:prstGeom prst="line">
            <a:avLst/>
          </a:prstGeom>
          <a:ln w="25400">
            <a:solidFill>
              <a:srgbClr val="CB6608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7" idx="3"/>
          </p:cNvCxnSpPr>
          <p:nvPr/>
        </p:nvCxnSpPr>
        <p:spPr>
          <a:xfrm flipH="1" flipV="1">
            <a:off x="6649914" y="2561277"/>
            <a:ext cx="2842432" cy="334071"/>
          </a:xfrm>
          <a:prstGeom prst="line">
            <a:avLst/>
          </a:prstGeom>
          <a:ln w="25400">
            <a:solidFill>
              <a:srgbClr val="CB6608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818646" y="3700798"/>
            <a:ext cx="754153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if</a:t>
            </a:r>
            <a:r>
              <a:rPr lang="en-US" sz="2400" dirty="0"/>
              <a:t> n ≤ 0 </a:t>
            </a:r>
            <a:r>
              <a:rPr lang="en-US" sz="2400" b="1" dirty="0"/>
              <a:t>then</a:t>
            </a:r>
            <a:r>
              <a:rPr lang="en-US" sz="2400" dirty="0"/>
              <a:t> Nil </a:t>
            </a:r>
            <a:r>
              <a:rPr lang="en-US" sz="2400" b="1" dirty="0"/>
              <a:t>else</a:t>
            </a:r>
            <a:r>
              <a:rPr lang="en-US" sz="2400" dirty="0"/>
              <a:t>   </a:t>
            </a:r>
            <a:r>
              <a:rPr lang="el-GR" sz="2400" dirty="0"/>
              <a:t>Γ</a:t>
            </a:r>
            <a:r>
              <a:rPr lang="en-US" sz="2400" dirty="0"/>
              <a:t>;¬(n ≤ 0) ⊢ </a:t>
            </a:r>
            <a:r>
              <a:rPr lang="en-US" sz="2400" dirty="0">
                <a:solidFill>
                  <a:srgbClr val="C00000"/>
                </a:solidFill>
              </a:rPr>
              <a:t>??</a:t>
            </a:r>
            <a:r>
              <a:rPr lang="en-US" sz="2400" dirty="0"/>
              <a:t> :: {List </a:t>
            </a:r>
            <a:r>
              <a:rPr lang="en-US" sz="2400" dirty="0" err="1"/>
              <a:t>Neg</a:t>
            </a:r>
            <a:r>
              <a:rPr lang="en-US" sz="2400" dirty="0"/>
              <a:t> | </a:t>
            </a:r>
            <a:r>
              <a:rPr lang="en-US" sz="2400" dirty="0" err="1"/>
              <a:t>len</a:t>
            </a:r>
            <a:r>
              <a:rPr lang="en-US" sz="2400" dirty="0"/>
              <a:t> </a:t>
            </a:r>
            <a:r>
              <a:rPr lang="el-GR" sz="2400" dirty="0"/>
              <a:t>ν</a:t>
            </a:r>
            <a:r>
              <a:rPr lang="en-US" sz="2400" dirty="0"/>
              <a:t> = n}</a:t>
            </a:r>
          </a:p>
        </p:txBody>
      </p:sp>
      <p:pic>
        <p:nvPicPr>
          <p:cNvPr id="35" name="Picture 4" descr="ok checkmark gree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766" y="1920570"/>
            <a:ext cx="391610" cy="39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5404590" y="3633902"/>
            <a:ext cx="4753612" cy="65282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21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27" grpId="0" animBg="1"/>
      <p:bldP spid="27" grpId="1" animBg="1"/>
      <p:bldP spid="28" grpId="0" animBg="1"/>
      <p:bldP spid="28" grpId="1" animBg="1"/>
      <p:bldP spid="33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Liquid abduction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1" y="2276605"/>
            <a:ext cx="914399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 ≥ 0  ∧  </a:t>
            </a:r>
            <a:r>
              <a:rPr lang="en-US" sz="2800" dirty="0" err="1"/>
              <a:t>len</a:t>
            </a:r>
            <a:r>
              <a:rPr lang="en-US" sz="2800" dirty="0"/>
              <a:t> </a:t>
            </a:r>
            <a:r>
              <a:rPr lang="el-GR" sz="2800" dirty="0"/>
              <a:t>ν</a:t>
            </a:r>
            <a:r>
              <a:rPr lang="en-US" sz="2800" dirty="0"/>
              <a:t> = 0  ∧    </a:t>
            </a:r>
            <a:r>
              <a:rPr lang="en-US" sz="2800" dirty="0">
                <a:solidFill>
                  <a:srgbClr val="C00000"/>
                </a:solidFill>
              </a:rPr>
              <a:t>P</a:t>
            </a:r>
            <a:r>
              <a:rPr lang="en-US" sz="2800" dirty="0"/>
              <a:t>     ⇒   </a:t>
            </a:r>
            <a:r>
              <a:rPr lang="en-US" sz="2800" dirty="0" err="1"/>
              <a:t>len</a:t>
            </a:r>
            <a:r>
              <a:rPr lang="en-US" sz="2800" dirty="0"/>
              <a:t> </a:t>
            </a:r>
            <a:r>
              <a:rPr lang="el-GR" sz="2800" dirty="0"/>
              <a:t>ν</a:t>
            </a:r>
            <a:r>
              <a:rPr lang="en-US" sz="2800" dirty="0"/>
              <a:t> = 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28171" y="3623981"/>
            <a:ext cx="1164747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★ ≤ ★</a:t>
            </a:r>
          </a:p>
          <a:p>
            <a:pPr algn="ctr"/>
            <a:r>
              <a:rPr lang="en-US" sz="2800" dirty="0"/>
              <a:t>★ ≠ ★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610545" y="2799825"/>
            <a:ext cx="1" cy="73152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89449" y="3531397"/>
            <a:ext cx="1051712" cy="26776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B6608"/>
                </a:solidFill>
              </a:rPr>
              <a:t>n</a:t>
            </a:r>
            <a:r>
              <a:rPr lang="en-US" sz="2800" dirty="0"/>
              <a:t> ≤ </a:t>
            </a:r>
            <a:r>
              <a:rPr lang="en-US" sz="2800" dirty="0">
                <a:solidFill>
                  <a:srgbClr val="CB6608"/>
                </a:solidFill>
              </a:rPr>
              <a:t>0</a:t>
            </a:r>
          </a:p>
          <a:p>
            <a:pPr algn="ctr"/>
            <a:r>
              <a:rPr lang="en-US" sz="2800" dirty="0">
                <a:solidFill>
                  <a:srgbClr val="CB6608"/>
                </a:solidFill>
              </a:rPr>
              <a:t>n</a:t>
            </a:r>
            <a:r>
              <a:rPr lang="en-US" sz="2800" dirty="0"/>
              <a:t> ≤ </a:t>
            </a:r>
            <a:r>
              <a:rPr lang="en-US" sz="2800" dirty="0">
                <a:solidFill>
                  <a:srgbClr val="CB6608"/>
                </a:solidFill>
              </a:rPr>
              <a:t>-5</a:t>
            </a:r>
          </a:p>
          <a:p>
            <a:pPr algn="ctr"/>
            <a:r>
              <a:rPr lang="en-US" sz="2800" dirty="0">
                <a:solidFill>
                  <a:srgbClr val="CB6608"/>
                </a:solidFill>
              </a:rPr>
              <a:t>-5</a:t>
            </a:r>
            <a:r>
              <a:rPr lang="en-US" sz="2800" dirty="0"/>
              <a:t> ≤ </a:t>
            </a:r>
            <a:r>
              <a:rPr lang="en-US" sz="2800" dirty="0">
                <a:solidFill>
                  <a:srgbClr val="CB6608"/>
                </a:solidFill>
              </a:rPr>
              <a:t>n</a:t>
            </a:r>
          </a:p>
          <a:p>
            <a:pPr algn="ctr"/>
            <a:r>
              <a:rPr lang="en-US" sz="2800" dirty="0">
                <a:solidFill>
                  <a:srgbClr val="CB6608"/>
                </a:solidFill>
              </a:rPr>
              <a:t>n</a:t>
            </a:r>
            <a:r>
              <a:rPr lang="en-US" sz="2800" dirty="0"/>
              <a:t> ≠ </a:t>
            </a:r>
            <a:r>
              <a:rPr lang="en-US" sz="2800" dirty="0">
                <a:solidFill>
                  <a:srgbClr val="CB6608"/>
                </a:solidFill>
              </a:rPr>
              <a:t>0</a:t>
            </a:r>
          </a:p>
          <a:p>
            <a:pPr algn="ctr"/>
            <a:r>
              <a:rPr lang="en-US" sz="2800" dirty="0">
                <a:solidFill>
                  <a:srgbClr val="CB6608"/>
                </a:solidFill>
              </a:rPr>
              <a:t>n</a:t>
            </a:r>
            <a:r>
              <a:rPr lang="en-US" sz="2800" dirty="0"/>
              <a:t> ≠ </a:t>
            </a:r>
            <a:r>
              <a:rPr lang="en-US" sz="2800" dirty="0">
                <a:solidFill>
                  <a:srgbClr val="CB6608"/>
                </a:solidFill>
              </a:rPr>
              <a:t>-5</a:t>
            </a:r>
          </a:p>
          <a:p>
            <a:pPr algn="ctr"/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6913628" y="2276605"/>
            <a:ext cx="229502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∧   ¬(</a:t>
            </a:r>
            <a:r>
              <a:rPr lang="en-US" sz="2800" dirty="0" err="1"/>
              <a:t>len</a:t>
            </a:r>
            <a:r>
              <a:rPr lang="en-US" sz="2800" dirty="0"/>
              <a:t> </a:t>
            </a:r>
            <a:r>
              <a:rPr lang="el-GR" sz="2800" dirty="0"/>
              <a:t>ν</a:t>
            </a:r>
            <a:r>
              <a:rPr lang="en-US" sz="2800" dirty="0"/>
              <a:t> = 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8338" y="2276606"/>
            <a:ext cx="937262" cy="52322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Rectangle 16"/>
          <p:cNvSpPr/>
          <p:nvPr/>
        </p:nvSpPr>
        <p:spPr>
          <a:xfrm>
            <a:off x="6142619" y="3531345"/>
            <a:ext cx="937262" cy="52322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Rectangle 17"/>
          <p:cNvSpPr/>
          <p:nvPr/>
        </p:nvSpPr>
        <p:spPr>
          <a:xfrm>
            <a:off x="6147009" y="4823383"/>
            <a:ext cx="937262" cy="52322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Rectangle 18"/>
          <p:cNvSpPr/>
          <p:nvPr/>
        </p:nvSpPr>
        <p:spPr>
          <a:xfrm>
            <a:off x="4512613" y="2276605"/>
            <a:ext cx="1357325" cy="52322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Rectangle 19"/>
          <p:cNvSpPr/>
          <p:nvPr/>
        </p:nvSpPr>
        <p:spPr>
          <a:xfrm>
            <a:off x="7382480" y="2276605"/>
            <a:ext cx="1826177" cy="52322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Box 21"/>
          <p:cNvSpPr txBox="1"/>
          <p:nvPr/>
        </p:nvSpPr>
        <p:spPr>
          <a:xfrm>
            <a:off x="1560146" y="2061162"/>
            <a:ext cx="16493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B6608"/>
                </a:solidFill>
              </a:rPr>
              <a:t>UNSAT 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2651" y="1842147"/>
            <a:ext cx="7212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CB6608"/>
                </a:solidFill>
              </a:rPr>
              <a:t>[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8546" y="1866584"/>
            <a:ext cx="7212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CB6608"/>
                </a:solidFill>
              </a:rPr>
              <a:t>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1551" y="4905552"/>
            <a:ext cx="3735390" cy="430887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en-US" sz="2800" dirty="0">
                <a:solidFill>
                  <a:srgbClr val="CB6608"/>
                </a:solidFill>
              </a:rPr>
              <a:t>Nil</a:t>
            </a:r>
            <a:r>
              <a:rPr lang="en-US" sz="2800" dirty="0"/>
              <a:t> :: {List a | </a:t>
            </a:r>
            <a:r>
              <a:rPr lang="en-US" sz="2800" dirty="0" err="1"/>
              <a:t>len</a:t>
            </a:r>
            <a:r>
              <a:rPr lang="en-US" sz="2800" dirty="0"/>
              <a:t> </a:t>
            </a:r>
            <a:r>
              <a:rPr lang="el-GR" sz="2800" dirty="0"/>
              <a:t>ν</a:t>
            </a:r>
            <a:r>
              <a:rPr lang="en-US" sz="2800" dirty="0"/>
              <a:t> = 0}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 flipV="1">
            <a:off x="5191275" y="2844650"/>
            <a:ext cx="0" cy="2023558"/>
          </a:xfrm>
          <a:prstGeom prst="line">
            <a:avLst/>
          </a:prstGeom>
          <a:ln w="25400">
            <a:solidFill>
              <a:srgbClr val="CB660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18954" y="4145543"/>
            <a:ext cx="1235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B6608"/>
                </a:solidFill>
              </a:rPr>
              <a:t>n</a:t>
            </a:r>
            <a:r>
              <a:rPr lang="en-US" sz="2800" dirty="0"/>
              <a:t> :: Nat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3696969" y="2846667"/>
            <a:ext cx="0" cy="1254366"/>
          </a:xfrm>
          <a:prstGeom prst="line">
            <a:avLst/>
          </a:prstGeom>
          <a:ln w="25400">
            <a:solidFill>
              <a:srgbClr val="CB660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03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19" grpId="0" animBg="1"/>
      <p:bldP spid="19" grpId="1" animBg="1"/>
      <p:bldP spid="20" grpId="0" animBg="1"/>
      <p:bldP spid="20" grpId="1" animBg="1"/>
      <p:bldP spid="22" grpId="0"/>
      <p:bldP spid="23" grpId="0"/>
      <p:bldP spid="24" grpId="0"/>
      <p:bldP spid="25" grpId="0" animBg="1"/>
      <p:bldP spid="25" grpId="1" animBg="1"/>
      <p:bldP spid="13" grpId="0"/>
      <p:bldP spid="13" grpId="1"/>
    </p:bldLst>
  </p:timing>
</p:sld>
</file>

<file path=ppt/theme/theme1.xml><?xml version="1.0" encoding="utf-8"?>
<a:theme xmlns:a="http://schemas.openxmlformats.org/drawingml/2006/main" name="office theme">
  <a:themeElements>
    <a:clrScheme name="Experimental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5B73"/>
      </a:accent1>
      <a:accent2>
        <a:srgbClr val="CD0909"/>
      </a:accent2>
      <a:accent3>
        <a:srgbClr val="3F7830"/>
      </a:accent3>
      <a:accent4>
        <a:srgbClr val="08110B"/>
      </a:accent4>
      <a:accent5>
        <a:srgbClr val="DCA8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62537</TotalTime>
  <Words>2161</Words>
  <Application>Microsoft Office PowerPoint</Application>
  <PresentationFormat>Widescreen</PresentationFormat>
  <Paragraphs>435</Paragraphs>
  <Slides>28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Berlin Sans FB</vt:lpstr>
      <vt:lpstr>Calibri</vt:lpstr>
      <vt:lpstr>Consolas</vt:lpstr>
      <vt:lpstr>Open Sans Light</vt:lpstr>
      <vt:lpstr>office theme</vt:lpstr>
      <vt:lpstr>Lecture 22 Synthesis from  Refinement Types</vt:lpstr>
      <vt:lpstr>Refinement types</vt:lpstr>
      <vt:lpstr>Refinement types as specs</vt:lpstr>
      <vt:lpstr>Incomplete programs?</vt:lpstr>
      <vt:lpstr>Bidirectional type checking</vt:lpstr>
      <vt:lpstr>Bidirectional type checking</vt:lpstr>
      <vt:lpstr>Bidirectional type checking</vt:lpstr>
      <vt:lpstr>Bidirectional type checking</vt:lpstr>
      <vt:lpstr>Round-trip type checking</vt:lpstr>
      <vt:lpstr>Round-trip type checking</vt:lpstr>
      <vt:lpstr>Round-trip type checking</vt:lpstr>
      <vt:lpstr>Round-trip type checking</vt:lpstr>
      <vt:lpstr>Round-trip type checking</vt:lpstr>
      <vt:lpstr>Round-trip type checking</vt:lpstr>
      <vt:lpstr>Type-driven Synthesis</vt:lpstr>
      <vt:lpstr>PowerPoint Presentation</vt:lpstr>
      <vt:lpstr>Synthesis from refinement types</vt:lpstr>
      <vt:lpstr>Synthesis from refinement types</vt:lpstr>
      <vt:lpstr>Synthesis from refinement types</vt:lpstr>
      <vt:lpstr>Synthesis from refinement types</vt:lpstr>
      <vt:lpstr>Synthesis from refinement types</vt:lpstr>
      <vt:lpstr>Synthesis from refinement types</vt:lpstr>
      <vt:lpstr>Synthesis from refinement types</vt:lpstr>
      <vt:lpstr>Round-trip type checking</vt:lpstr>
      <vt:lpstr>Round-trip type checking</vt:lpstr>
      <vt:lpstr>Q3: Can RTTC reject these terms?</vt:lpstr>
      <vt:lpstr>Condition abduction</vt:lpstr>
      <vt:lpstr>Liquid abduction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Armando Solar-Lezama</dc:creator>
  <cp:lastModifiedBy>Armando Solar-Lezama</cp:lastModifiedBy>
  <cp:revision>807</cp:revision>
  <cp:lastPrinted>2015-02-26T04:09:31Z</cp:lastPrinted>
  <dcterms:created xsi:type="dcterms:W3CDTF">2014-09-23T19:26:18Z</dcterms:created>
  <dcterms:modified xsi:type="dcterms:W3CDTF">2025-11-19T16:06:48Z</dcterms:modified>
</cp:coreProperties>
</file>