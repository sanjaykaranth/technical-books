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5"/>
  </p:notesMasterIdLst>
  <p:sldIdLst>
    <p:sldId id="336" r:id="rId2"/>
    <p:sldId id="426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430" r:id="rId11"/>
    <p:sldId id="410" r:id="rId12"/>
    <p:sldId id="411" r:id="rId13"/>
    <p:sldId id="412" r:id="rId14"/>
    <p:sldId id="413" r:id="rId15"/>
    <p:sldId id="407" r:id="rId16"/>
    <p:sldId id="408" r:id="rId17"/>
    <p:sldId id="414" r:id="rId18"/>
    <p:sldId id="419" r:id="rId19"/>
    <p:sldId id="421" r:id="rId20"/>
    <p:sldId id="422" r:id="rId21"/>
    <p:sldId id="423" r:id="rId22"/>
    <p:sldId id="424" r:id="rId23"/>
    <p:sldId id="425" r:id="rId24"/>
    <p:sldId id="380" r:id="rId25"/>
    <p:sldId id="381" r:id="rId26"/>
    <p:sldId id="382" r:id="rId27"/>
    <p:sldId id="383" r:id="rId28"/>
    <p:sldId id="427" r:id="rId29"/>
    <p:sldId id="428" r:id="rId30"/>
    <p:sldId id="429" r:id="rId31"/>
    <p:sldId id="384" r:id="rId32"/>
    <p:sldId id="387" r:id="rId33"/>
    <p:sldId id="388" r:id="rId34"/>
    <p:sldId id="389" r:id="rId35"/>
    <p:sldId id="391" r:id="rId36"/>
    <p:sldId id="390" r:id="rId37"/>
    <p:sldId id="394" r:id="rId38"/>
    <p:sldId id="395" r:id="rId39"/>
    <p:sldId id="397" r:id="rId40"/>
    <p:sldId id="398" r:id="rId41"/>
    <p:sldId id="393" r:id="rId42"/>
    <p:sldId id="385" r:id="rId43"/>
    <p:sldId id="386" r:id="rId4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AE5A4-D372-4657-8248-FB496212B7B6}" v="21" dt="2026-03-17T01:06:35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3" autoAdjust="0"/>
    <p:restoredTop sz="84761" autoAdjust="0"/>
  </p:normalViewPr>
  <p:slideViewPr>
    <p:cSldViewPr snapToGrid="0">
      <p:cViewPr>
        <p:scale>
          <a:sx n="70" d="100"/>
          <a:sy n="70" d="100"/>
        </p:scale>
        <p:origin x="1029" y="3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custSel addSld delSld modSld">
      <pc:chgData name="Armando Solar-Lezama" userId="e82942028eae7d90" providerId="LiveId" clId="{7045F0CB-D5AF-40A1-87D3-1AA82FA5AFA3}" dt="2026-03-17T01:06:41.335" v="70" actId="1076"/>
      <pc:docMkLst>
        <pc:docMk/>
      </pc:docMkLst>
      <pc:sldChg chg="modSp">
        <pc:chgData name="Armando Solar-Lezama" userId="e82942028eae7d90" providerId="LiveId" clId="{7045F0CB-D5AF-40A1-87D3-1AA82FA5AFA3}" dt="2026-03-17T01:02:07.292" v="46" actId="20577"/>
        <pc:sldMkLst>
          <pc:docMk/>
          <pc:sldMk cId="2254678876" sldId="406"/>
        </pc:sldMkLst>
        <pc:spChg chg="mod">
          <ac:chgData name="Armando Solar-Lezama" userId="e82942028eae7d90" providerId="LiveId" clId="{7045F0CB-D5AF-40A1-87D3-1AA82FA5AFA3}" dt="2026-03-17T01:02:07.292" v="46" actId="20577"/>
          <ac:spMkLst>
            <pc:docMk/>
            <pc:sldMk cId="2254678876" sldId="406"/>
            <ac:spMk id="8" creationId="{00000000-0000-0000-0000-000000000000}"/>
          </ac:spMkLst>
        </pc:spChg>
      </pc:sldChg>
      <pc:sldChg chg="addSp delSp modSp add mod">
        <pc:chgData name="Armando Solar-Lezama" userId="e82942028eae7d90" providerId="LiveId" clId="{7045F0CB-D5AF-40A1-87D3-1AA82FA5AFA3}" dt="2026-03-17T01:06:41.335" v="70" actId="1076"/>
        <pc:sldMkLst>
          <pc:docMk/>
          <pc:sldMk cId="3776109249" sldId="430"/>
        </pc:sldMkLst>
        <pc:spChg chg="del">
          <ac:chgData name="Armando Solar-Lezama" userId="e82942028eae7d90" providerId="LiveId" clId="{7045F0CB-D5AF-40A1-87D3-1AA82FA5AFA3}" dt="2026-03-17T01:05:57.251" v="48" actId="478"/>
          <ac:spMkLst>
            <pc:docMk/>
            <pc:sldMk cId="3776109249" sldId="430"/>
            <ac:spMk id="3" creationId="{EA91818B-3791-61CC-5E0E-902370785D7D}"/>
          </ac:spMkLst>
        </pc:spChg>
        <pc:spChg chg="mod">
          <ac:chgData name="Armando Solar-Lezama" userId="e82942028eae7d90" providerId="LiveId" clId="{7045F0CB-D5AF-40A1-87D3-1AA82FA5AFA3}" dt="2026-03-17T01:06:35.913" v="69" actId="20577"/>
          <ac:spMkLst>
            <pc:docMk/>
            <pc:sldMk cId="3776109249" sldId="430"/>
            <ac:spMk id="6" creationId="{E32C31C3-8A88-A42E-C8E0-2DA11D8B60F8}"/>
          </ac:spMkLst>
        </pc:spChg>
        <pc:spChg chg="mod">
          <ac:chgData name="Armando Solar-Lezama" userId="e82942028eae7d90" providerId="LiveId" clId="{7045F0CB-D5AF-40A1-87D3-1AA82FA5AFA3}" dt="2026-03-17T01:06:07.823" v="50" actId="1076"/>
          <ac:spMkLst>
            <pc:docMk/>
            <pc:sldMk cId="3776109249" sldId="430"/>
            <ac:spMk id="7" creationId="{A25E015F-8180-9BD2-41CC-CBD6057240B7}"/>
          </ac:spMkLst>
        </pc:spChg>
        <pc:spChg chg="mod">
          <ac:chgData name="Armando Solar-Lezama" userId="e82942028eae7d90" providerId="LiveId" clId="{7045F0CB-D5AF-40A1-87D3-1AA82FA5AFA3}" dt="2026-03-17T01:06:07.823" v="50" actId="1076"/>
          <ac:spMkLst>
            <pc:docMk/>
            <pc:sldMk cId="3776109249" sldId="430"/>
            <ac:spMk id="8" creationId="{17DF6437-E86B-06E9-1EAF-28041DC98B49}"/>
          </ac:spMkLst>
        </pc:spChg>
        <pc:spChg chg="mod">
          <ac:chgData name="Armando Solar-Lezama" userId="e82942028eae7d90" providerId="LiveId" clId="{7045F0CB-D5AF-40A1-87D3-1AA82FA5AFA3}" dt="2026-03-17T01:06:41.335" v="70" actId="1076"/>
          <ac:spMkLst>
            <pc:docMk/>
            <pc:sldMk cId="3776109249" sldId="430"/>
            <ac:spMk id="9" creationId="{A458BD65-1F68-9D24-8879-7E02BAACF3B2}"/>
          </ac:spMkLst>
        </pc:spChg>
        <pc:spChg chg="add del mod">
          <ac:chgData name="Armando Solar-Lezama" userId="e82942028eae7d90" providerId="LiveId" clId="{7045F0CB-D5AF-40A1-87D3-1AA82FA5AFA3}" dt="2026-03-17T01:06:02.224" v="49" actId="478"/>
          <ac:spMkLst>
            <pc:docMk/>
            <pc:sldMk cId="3776109249" sldId="430"/>
            <ac:spMk id="10" creationId="{5AC006F5-A2E5-63F8-8F81-ECAD1EE897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2" Type="http://schemas.openxmlformats.org/officeDocument/2006/relationships/image" Target="../media/image90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18" Type="http://schemas.openxmlformats.org/officeDocument/2006/relationships/image" Target="../media/image42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17" Type="http://schemas.openxmlformats.org/officeDocument/2006/relationships/image" Target="../media/image41.png"/><Relationship Id="rId2" Type="http://schemas.openxmlformats.org/officeDocument/2006/relationships/image" Target="../media/image90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18" Type="http://schemas.openxmlformats.org/officeDocument/2006/relationships/image" Target="../media/image4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17" Type="http://schemas.openxmlformats.org/officeDocument/2006/relationships/image" Target="../media/image41.png"/><Relationship Id="rId2" Type="http://schemas.openxmlformats.org/officeDocument/2006/relationships/image" Target="../media/image43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20</a:t>
            </a:r>
            <a:br>
              <a:rPr lang="en-US" dirty="0"/>
            </a:br>
            <a:r>
              <a:rPr lang="en-US" dirty="0"/>
              <a:t>SMT and Theorem Proving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 partially based on slides by </a:t>
            </a:r>
            <a:b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Isil Dillig</a:t>
            </a:r>
            <a:b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http://www.cs.utexas.edu/~isil/cs780-02/lecture16.pdf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language of expressions and predicates over those expressions where we have a satisfiability procedure for conjunctions over predicates</a:t>
            </a:r>
          </a:p>
        </p:txBody>
      </p:sp>
    </p:spTree>
    <p:extLst>
      <p:ext uri="{BB962C8B-B14F-4D97-AF65-F5344CB8AC3E}">
        <p14:creationId xmlns:p14="http://schemas.microsoft.com/office/powerpoint/2010/main" val="218448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Goals: 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Hypotheses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Literals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Expressions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>
            <a:off x="7879171" y="2945792"/>
            <a:ext cx="191641" cy="887022"/>
          </a:xfrm>
          <a:prstGeom prst="rightBrac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213172" y="2983258"/>
            <a:ext cx="31746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Background theory</a:t>
            </a:r>
            <a:br>
              <a:rPr lang="en-US" sz="2400" dirty="0"/>
            </a:br>
            <a:r>
              <a:rPr lang="en-US" sz="2400" dirty="0"/>
              <a:t>Gives meaning to these </a:t>
            </a:r>
          </a:p>
        </p:txBody>
      </p:sp>
    </p:spTree>
    <p:extLst>
      <p:ext uri="{BB962C8B-B14F-4D97-AF65-F5344CB8AC3E}">
        <p14:creationId xmlns:p14="http://schemas.microsoft.com/office/powerpoint/2010/main" val="19719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Goals: 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Hypotheses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Literals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Expressions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our alternative VC gen procedure produces formulas in this form!</a:t>
                </a:r>
              </a:p>
              <a:p>
                <a:pPr lvl="1"/>
                <a:r>
                  <a:rPr lang="en-US" dirty="0"/>
                  <a:t>Assuming invariants, preconditions and </a:t>
                </a:r>
                <a:r>
                  <a:rPr lang="en-US" dirty="0" err="1"/>
                  <a:t>postcond</a:t>
                </a:r>
                <a:r>
                  <a:rPr lang="en-US" dirty="0"/>
                  <a:t> are all from 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69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a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means that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holds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when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where D is the domain of 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whenever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true according to the theory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07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prove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we want: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46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fresh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8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 prover for literals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Reduces the problem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 is a conjunction of literals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∧…∧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∧…∧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26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5"/>
                <a:ext cx="9761306" cy="1454169"/>
              </a:xfrm>
            </p:spPr>
            <p:txBody>
              <a:bodyPr/>
              <a:lstStyle/>
              <a:p>
                <a:r>
                  <a:rPr lang="en-US" dirty="0"/>
                  <a:t>Expressions: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Literals: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5"/>
                <a:ext cx="9761306" cy="1454169"/>
              </a:xfrm>
              <a:blipFill>
                <a:blip r:embed="rId2"/>
                <a:stretch>
                  <a:fillRect t="-6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77" y="227225"/>
            <a:ext cx="4701162" cy="1282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8897" y="3927866"/>
                <a:ext cx="5810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⇒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7" y="3927866"/>
                <a:ext cx="5810629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51415" y="4800948"/>
                <a:ext cx="41048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 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415" y="4800948"/>
                <a:ext cx="4104842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851434" y="4357995"/>
                <a:ext cx="5470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434" y="4357995"/>
                <a:ext cx="547066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262089" y="3916881"/>
                <a:ext cx="1279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089" y="3916881"/>
                <a:ext cx="1279453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67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F774-A342-C2B0-FA07-30C84B35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34A1-D051-648E-B7E1-035CABC7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Inequalities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3D520-F844-786A-CD09-F2751CA02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577" y="227225"/>
            <a:ext cx="4701162" cy="12824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2C31C3-8A88-A42E-C8E0-2DA11D8B60F8}"/>
                  </a:ext>
                </a:extLst>
              </p:cNvPr>
              <p:cNvSpPr txBox="1"/>
              <p:nvPr/>
            </p:nvSpPr>
            <p:spPr>
              <a:xfrm>
                <a:off x="54700" y="2440260"/>
                <a:ext cx="6657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⇒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2C31C3-8A88-A42E-C8E0-2DA11D8B6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2440260"/>
                <a:ext cx="6657079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5E015F-8180-9BD2-41CC-CBD6057240B7}"/>
                  </a:ext>
                </a:extLst>
              </p:cNvPr>
              <p:cNvSpPr txBox="1"/>
              <p:nvPr/>
            </p:nvSpPr>
            <p:spPr>
              <a:xfrm>
                <a:off x="5817218" y="3313342"/>
                <a:ext cx="41048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 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5E015F-8180-9BD2-41CC-CBD60572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18" y="3313342"/>
                <a:ext cx="410484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DF6437-E86B-06E9-1EAF-28041DC98B49}"/>
                  </a:ext>
                </a:extLst>
              </p:cNvPr>
              <p:cNvSpPr txBox="1"/>
              <p:nvPr/>
            </p:nvSpPr>
            <p:spPr>
              <a:xfrm>
                <a:off x="5817237" y="2870389"/>
                <a:ext cx="5470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DF6437-E86B-06E9-1EAF-28041DC98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37" y="2870389"/>
                <a:ext cx="547066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58BD65-1F68-9D24-8879-7E02BAACF3B2}"/>
                  </a:ext>
                </a:extLst>
              </p:cNvPr>
              <p:cNvSpPr/>
              <p:nvPr/>
            </p:nvSpPr>
            <p:spPr>
              <a:xfrm>
                <a:off x="6702850" y="2410514"/>
                <a:ext cx="1279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58BD65-1F68-9D24-8879-7E02BAACF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850" y="2410514"/>
                <a:ext cx="127945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109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1258" y="1721260"/>
                <a:ext cx="10979352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⇒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58" y="1721260"/>
                <a:ext cx="10979352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376269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3762690"/>
                <a:ext cx="996837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>
            <a:off x="5463587" y="3071820"/>
            <a:ext cx="257347" cy="542069"/>
          </a:xfrm>
          <a:prstGeom prst="downArrow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4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058" y="4757412"/>
                <a:ext cx="9079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757412"/>
                <a:ext cx="907979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6057" y="5440931"/>
                <a:ext cx="7386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7" y="5440931"/>
                <a:ext cx="738695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>
            <a:off x="5463587" y="3071820"/>
            <a:ext cx="257347" cy="542069"/>
          </a:xfrm>
          <a:prstGeom prst="downArrow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5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058" y="4757412"/>
                <a:ext cx="89387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757412"/>
                <a:ext cx="8938729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9171" y="5440931"/>
                <a:ext cx="7561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71" y="5440931"/>
                <a:ext cx="756168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>
            <a:off x="5463587" y="3071820"/>
            <a:ext cx="257347" cy="542069"/>
          </a:xfrm>
          <a:prstGeom prst="downArrow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583" y="4128647"/>
                <a:ext cx="54606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𝑈𝑛𝑠𝑎𝑡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83" y="4128647"/>
                <a:ext cx="5460662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9860" y="4757412"/>
                <a:ext cx="880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𝑈𝑛𝑠𝑎𝑡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60" y="4757412"/>
                <a:ext cx="880221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6285" y="5440931"/>
                <a:ext cx="7263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𝑈𝑛𝑠𝑎𝑡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85" y="5440931"/>
                <a:ext cx="726327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89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enough to check VCs?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Given a definition of VC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2{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})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𝑒𝑙𝑠𝑒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(¬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𝑉𝐶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𝑤h𝑖𝑙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𝑑𝑜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  <m:r>
                          <a:rPr lang="en-US" sz="2000" i="1">
                            <a:latin typeface="Cambria Math"/>
                          </a:rPr>
                          <m:t>, </m:t>
                        </m:r>
                        <m:r>
                          <a:rPr lang="en-US" sz="2000" i="1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∧  ∀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, 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∧¬</m:t>
                          </m:r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2"/>
                <a:r>
                  <a:rPr lang="en-US" sz="1600" dirty="0"/>
                  <a:t>Where </a:t>
                </a:r>
                <a:r>
                  <a:rPr lang="en-US" sz="1600" dirty="0" err="1"/>
                  <a:t>x_i</a:t>
                </a:r>
                <a:r>
                  <a:rPr lang="en-US" sz="1600" dirty="0"/>
                  <a:t> are variables modified in c.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𝑎𝑠𝑠𝑒𝑟𝑡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𝑎𝑠𝑠𝑢𝑚𝑒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30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enough to check VCs?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Given a definition of VC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2{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})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𝑒𝑙𝑠𝑒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∧ (¬</m:t>
                    </m:r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⇒ </m:t>
                    </m:r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>
                  <a:solidFill>
                    <a:schemeClr val="accent2"/>
                  </a:solidFill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𝑉𝐶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𝑤h𝑖𝑙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𝑑𝑜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  <m:r>
                          <a:rPr lang="en-US" sz="2000" i="1">
                            <a:latin typeface="Cambria Math"/>
                          </a:rPr>
                          <m:t>, </m:t>
                        </m:r>
                        <m:r>
                          <a:rPr lang="en-US" sz="2000" i="1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∧  ∀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, 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∧¬</m:t>
                          </m:r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2"/>
                <a:r>
                  <a:rPr lang="en-US" sz="1600" dirty="0"/>
                  <a:t>Where </a:t>
                </a:r>
                <a:r>
                  <a:rPr lang="en-US" sz="1600" dirty="0" err="1"/>
                  <a:t>x_i</a:t>
                </a:r>
                <a:r>
                  <a:rPr lang="en-US" sz="1600" dirty="0"/>
                  <a:t> are variables modified in c.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𝑎𝑠𝑠𝑒𝑟𝑡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𝑎𝑠𝑠𝑢𝑚𝑒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050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with </a:t>
            </a:r>
            <a:r>
              <a:rPr lang="en-US" dirty="0" err="1"/>
              <a:t>uninterpreted</a:t>
            </a:r>
            <a:r>
              <a:rPr lang="en-US" dirty="0"/>
              <a:t>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Equality with </a:t>
                </a:r>
                <a:r>
                  <a:rPr lang="en-US" dirty="0" err="1"/>
                  <a:t>uninterpreted</a:t>
                </a:r>
                <a:r>
                  <a:rPr lang="en-US" dirty="0"/>
                  <a:t> functions</a:t>
                </a:r>
              </a:p>
              <a:p>
                <a:pPr lvl="1"/>
                <a:r>
                  <a:rPr lang="en-US" dirty="0"/>
                  <a:t>Symbols: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=, 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Axioms: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i="1" dirty="0">
                    <a:latin typeface="Cambria Math" panose="020405030504060302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90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11494970" cy="1325563"/>
          </a:xfrm>
        </p:spPr>
        <p:txBody>
          <a:bodyPr>
            <a:normAutofit/>
          </a:bodyPr>
          <a:lstStyle/>
          <a:p>
            <a:r>
              <a:rPr lang="en-US" dirty="0"/>
              <a:t>Equality with UF (Congruence closure algorithm)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x=y</a:t>
            </a:r>
          </a:p>
          <a:p>
            <a:r>
              <a:rPr lang="en-US" sz="2400" dirty="0"/>
              <a:t>y=z</a:t>
            </a:r>
          </a:p>
          <a:p>
            <a:r>
              <a:rPr lang="en-US" sz="2400" dirty="0"/>
              <a:t>f(x)=f(z)</a:t>
            </a:r>
          </a:p>
          <a:p>
            <a:r>
              <a:rPr lang="en-US" sz="2400" dirty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/>
              <a:t>f(x) != f(f(f(x)))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2666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9121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6586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127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596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345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399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237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f(g(t))</a:t>
            </a:r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2624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36718" y="1619237"/>
            <a:ext cx="6524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3363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f(y)</a:t>
            </a:r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77983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6797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f(f(x))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0998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f(f(f(x)))</a:t>
            </a:r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0998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894692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0420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0419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3552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24605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3452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3452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198245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19277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9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with 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2666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9121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6586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127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596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345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399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237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f(g(t))</a:t>
            </a:r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2624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36718" y="1619237"/>
            <a:ext cx="6524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3363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f(y)</a:t>
            </a:r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77983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6797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f(f(x))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0998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f(f(f(x)))</a:t>
            </a:r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0998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894692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0420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0419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3552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24605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3452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3452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198245" y="2661850"/>
            <a:ext cx="1529925" cy="270823"/>
          </a:xfrm>
          <a:prstGeom prst="curvedConnector4">
            <a:avLst>
              <a:gd name="adj1" fmla="val 13985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19277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198245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x=y</a:t>
            </a:r>
          </a:p>
          <a:p>
            <a:r>
              <a:rPr lang="en-US" sz="2400" dirty="0"/>
              <a:t>y=z</a:t>
            </a:r>
          </a:p>
          <a:p>
            <a:r>
              <a:rPr lang="en-US" sz="2400" dirty="0"/>
              <a:t>f(x)=f(z)</a:t>
            </a:r>
          </a:p>
          <a:p>
            <a:r>
              <a:rPr lang="en-US" sz="2400" dirty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/>
              <a:t>f(x) != f(f(f(x)))</a:t>
            </a:r>
          </a:p>
        </p:txBody>
      </p:sp>
    </p:spTree>
    <p:extLst>
      <p:ext uri="{BB962C8B-B14F-4D97-AF65-F5344CB8AC3E}">
        <p14:creationId xmlns:p14="http://schemas.microsoft.com/office/powerpoint/2010/main" val="4150060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with 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9091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546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3011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9552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021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770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6824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7662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f(g(t))</a:t>
            </a:r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79049" y="1619237"/>
            <a:ext cx="497775" cy="113735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53143" y="1619237"/>
            <a:ext cx="6524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29788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f(y)</a:t>
            </a:r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94408" y="1619237"/>
            <a:ext cx="6086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13222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f(f(x))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423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f(f(f(x)))</a:t>
            </a:r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507423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11117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66845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66844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49977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41030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39877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39877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14670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35702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14670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14670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x=y</a:t>
            </a:r>
          </a:p>
          <a:p>
            <a:r>
              <a:rPr lang="en-US" sz="2400" dirty="0"/>
              <a:t>y=z</a:t>
            </a:r>
          </a:p>
          <a:p>
            <a:r>
              <a:rPr lang="en-US" sz="2400" dirty="0"/>
              <a:t>f(x)=f(z)</a:t>
            </a:r>
          </a:p>
          <a:p>
            <a:r>
              <a:rPr lang="en-US" sz="2400" dirty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/>
              <a:t>f(x) != f(f(f(x)))</a:t>
            </a:r>
          </a:p>
        </p:txBody>
      </p:sp>
    </p:spTree>
    <p:extLst>
      <p:ext uri="{BB962C8B-B14F-4D97-AF65-F5344CB8AC3E}">
        <p14:creationId xmlns:p14="http://schemas.microsoft.com/office/powerpoint/2010/main" val="3778590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with 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8141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4596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2061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602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071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5820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5874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712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f(g(t))</a:t>
            </a:r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8099" y="1619237"/>
            <a:ext cx="497775" cy="113735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42193" y="1619237"/>
            <a:ext cx="6524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8838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f(y)</a:t>
            </a:r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83458" y="1619237"/>
            <a:ext cx="6086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2272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f(f(x))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6473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f(f(f(x)))</a:t>
            </a:r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6473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00167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5895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5894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9027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30080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8927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8927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03720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24752" y="2037079"/>
            <a:ext cx="48491" cy="1759860"/>
          </a:xfrm>
          <a:prstGeom prst="curvedConnector3">
            <a:avLst>
              <a:gd name="adj1" fmla="val 571428"/>
            </a:avLst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03720" y="2661850"/>
            <a:ext cx="415118" cy="4624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03720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9" idx="1"/>
            <a:endCxn id="34" idx="1"/>
          </p:cNvCxnSpPr>
          <p:nvPr/>
        </p:nvCxnSpPr>
        <p:spPr>
          <a:xfrm rot="10800000" flipV="1">
            <a:off x="4602273" y="2661849"/>
            <a:ext cx="105799" cy="1004805"/>
          </a:xfrm>
          <a:prstGeom prst="curvedConnector3">
            <a:avLst>
              <a:gd name="adj1" fmla="val 316070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x=y</a:t>
            </a:r>
          </a:p>
          <a:p>
            <a:r>
              <a:rPr lang="en-US" sz="2400" dirty="0"/>
              <a:t>y=z</a:t>
            </a:r>
          </a:p>
          <a:p>
            <a:r>
              <a:rPr lang="en-US" sz="2400" dirty="0"/>
              <a:t>f(x)=f(z)</a:t>
            </a:r>
          </a:p>
          <a:p>
            <a:r>
              <a:rPr lang="en-US" sz="2400" dirty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/>
              <a:t>f(x) != f(f(f(x)))</a:t>
            </a:r>
          </a:p>
        </p:txBody>
      </p:sp>
    </p:spTree>
    <p:extLst>
      <p:ext uri="{BB962C8B-B14F-4D97-AF65-F5344CB8AC3E}">
        <p14:creationId xmlns:p14="http://schemas.microsoft.com/office/powerpoint/2010/main" val="3332816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with 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3616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71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7536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4077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3546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1295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1349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2187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f(g(t))</a:t>
            </a:r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73574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47668" y="1619237"/>
            <a:ext cx="6524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24313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f(y)</a:t>
            </a:r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88933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7747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f(f(x))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1948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f(f(f(x)))</a:t>
            </a:r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501948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05642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61370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61369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44502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35555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34402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34402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09195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30227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09195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09195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9" idx="1"/>
            <a:endCxn id="34" idx="1"/>
          </p:cNvCxnSpPr>
          <p:nvPr/>
        </p:nvCxnSpPr>
        <p:spPr>
          <a:xfrm rot="10800000" flipV="1">
            <a:off x="4607748" y="2661849"/>
            <a:ext cx="105799" cy="1004805"/>
          </a:xfrm>
          <a:prstGeom prst="curvedConnector3">
            <a:avLst>
              <a:gd name="adj1" fmla="val 316070"/>
            </a:avLst>
          </a:prstGeom>
          <a:ln w="762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34" idx="3"/>
            <a:endCxn id="38" idx="3"/>
          </p:cNvCxnSpPr>
          <p:nvPr/>
        </p:nvCxnSpPr>
        <p:spPr>
          <a:xfrm>
            <a:off x="5314992" y="3666655"/>
            <a:ext cx="105797" cy="970303"/>
          </a:xfrm>
          <a:prstGeom prst="curvedConnector3">
            <a:avLst>
              <a:gd name="adj1" fmla="val 316074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x=y</a:t>
            </a:r>
          </a:p>
          <a:p>
            <a:r>
              <a:rPr lang="en-US" sz="2400" dirty="0"/>
              <a:t>y=z</a:t>
            </a:r>
          </a:p>
          <a:p>
            <a:r>
              <a:rPr lang="en-US" sz="2400" dirty="0"/>
              <a:t>f(x)=f(z)</a:t>
            </a:r>
          </a:p>
          <a:p>
            <a:r>
              <a:rPr lang="en-US" sz="2400" dirty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/>
              <a:t>f(x) != f(f(f(x)))</a:t>
            </a:r>
          </a:p>
        </p:txBody>
      </p:sp>
    </p:spTree>
    <p:extLst>
      <p:ext uri="{BB962C8B-B14F-4D97-AF65-F5344CB8AC3E}">
        <p14:creationId xmlns:p14="http://schemas.microsoft.com/office/powerpoint/2010/main" val="379270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with 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8141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4596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2061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602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071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5820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5874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712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f(g(t))</a:t>
            </a:r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8099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42193" y="1619237"/>
            <a:ext cx="6524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8838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f(y)</a:t>
            </a:r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83458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2272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f(f(x))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6473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f(f(f(x)))</a:t>
            </a:r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6473" y="2661850"/>
            <a:ext cx="211598" cy="1975108"/>
          </a:xfrm>
          <a:prstGeom prst="curvedConnector3">
            <a:avLst>
              <a:gd name="adj1" fmla="val 451276"/>
            </a:avLst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00167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5895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5894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9027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30080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8927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8927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03720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24752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03720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03720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9" idx="1"/>
            <a:endCxn id="34" idx="1"/>
          </p:cNvCxnSpPr>
          <p:nvPr/>
        </p:nvCxnSpPr>
        <p:spPr>
          <a:xfrm rot="10800000" flipV="1">
            <a:off x="4602273" y="2661849"/>
            <a:ext cx="105799" cy="1004805"/>
          </a:xfrm>
          <a:prstGeom prst="curvedConnector3">
            <a:avLst>
              <a:gd name="adj1" fmla="val 316070"/>
            </a:avLst>
          </a:prstGeom>
          <a:ln w="762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34" idx="3"/>
            <a:endCxn id="38" idx="3"/>
          </p:cNvCxnSpPr>
          <p:nvPr/>
        </p:nvCxnSpPr>
        <p:spPr>
          <a:xfrm>
            <a:off x="5309517" y="3666655"/>
            <a:ext cx="105797" cy="970303"/>
          </a:xfrm>
          <a:prstGeom prst="curvedConnector3">
            <a:avLst>
              <a:gd name="adj1" fmla="val 316074"/>
            </a:avLst>
          </a:prstGeom>
          <a:ln w="762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950250" y="5186274"/>
            <a:ext cx="2280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Contradiction!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x=y</a:t>
            </a:r>
          </a:p>
          <a:p>
            <a:r>
              <a:rPr lang="en-US" sz="2400" dirty="0"/>
              <a:t>y=z</a:t>
            </a:r>
          </a:p>
          <a:p>
            <a:r>
              <a:rPr lang="en-US" sz="2400" dirty="0"/>
              <a:t>f(x)=f(z)</a:t>
            </a:r>
          </a:p>
          <a:p>
            <a:r>
              <a:rPr lang="en-US" sz="2400" dirty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/>
              <a:t>f(x) != f(f(f(x)))</a:t>
            </a:r>
          </a:p>
        </p:txBody>
      </p:sp>
    </p:spTree>
    <p:extLst>
      <p:ext uri="{BB962C8B-B14F-4D97-AF65-F5344CB8AC3E}">
        <p14:creationId xmlns:p14="http://schemas.microsoft.com/office/powerpoint/2010/main" val="2319229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Nelson-</a:t>
            </a:r>
            <a:r>
              <a:rPr lang="en-US" dirty="0" err="1"/>
              <a:t>Oppen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834448"/>
          </a:xfrm>
        </p:spPr>
        <p:txBody>
          <a:bodyPr/>
          <a:lstStyle/>
          <a:p>
            <a:r>
              <a:rPr lang="en-US" dirty="0"/>
              <a:t>Two step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1868" y="3411930"/>
                <a:ext cx="16544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in mixed theory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68" y="3411930"/>
                <a:ext cx="1654492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3321" t="-5660" r="-258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2856588" y="3130946"/>
            <a:ext cx="1494596" cy="12082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51412" y="3273430"/>
                <a:ext cx="19929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Formulas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en-US" dirty="0"/>
                </a:br>
                <a:r>
                  <a:rPr lang="en-US" dirty="0"/>
                  <a:t>each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en-US" dirty="0"/>
                </a:b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12" y="3273430"/>
                <a:ext cx="1992981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2446" t="-3974" r="-21713" b="-58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8144621" y="3130946"/>
            <a:ext cx="1494596" cy="12082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Equality</a:t>
            </a:r>
            <a:br>
              <a:rPr lang="en-US" dirty="0"/>
            </a:br>
            <a:r>
              <a:rPr lang="en-US" dirty="0"/>
              <a:t>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9448" y="3550429"/>
            <a:ext cx="118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8532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9931389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643356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7536565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73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Break up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into a set of formulas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each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en-US" dirty="0"/>
                </a:b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are </a:t>
                </a:r>
                <a:r>
                  <a:rPr lang="en-US" dirty="0" err="1">
                    <a:solidFill>
                      <a:schemeClr val="accent2"/>
                    </a:solidFill>
                  </a:rPr>
                  <a:t>equisatisfiable</a:t>
                </a:r>
                <a:endParaRPr lang="en-US" dirty="0">
                  <a:solidFill>
                    <a:schemeClr val="accent2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lvl="1"/>
                <a:r>
                  <a:rPr lang="en-US" dirty="0"/>
                  <a:t>For every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belongs to some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belongs to a different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replace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 and add a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/>
                  <a:t> is a fresh variable)</a:t>
                </a:r>
              </a:p>
              <a:p>
                <a:pPr lvl="1"/>
                <a:r>
                  <a:rPr lang="en-US" dirty="0"/>
                  <a:t>For every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belongs to some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belongs to a different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replace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 and add a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fresh variable)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 r="-1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637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80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/>
              <a:t>1) Run each UNSAT procedure independently</a:t>
            </a:r>
          </a:p>
          <a:p>
            <a:pPr lvl="1"/>
            <a:r>
              <a:rPr lang="en-US" sz="2000" dirty="0"/>
              <a:t>If any returns UNSAT we are done</a:t>
            </a:r>
          </a:p>
          <a:p>
            <a:r>
              <a:rPr lang="en-US" sz="2400" dirty="0"/>
              <a:t>2) Broadcast any equalities that were discovered</a:t>
            </a:r>
          </a:p>
          <a:p>
            <a:pPr lvl="1"/>
            <a:r>
              <a:rPr lang="en-US" sz="2000" dirty="0"/>
              <a:t>If no new equalities were discovered, return 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498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49875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Uninterpreted</a:t>
            </a:r>
            <a:r>
              <a:rPr lang="en-US" dirty="0"/>
              <a:t> Fun.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Integer Arithmetic</a:t>
            </a:r>
          </a:p>
        </p:txBody>
      </p:sp>
    </p:spTree>
    <p:extLst>
      <p:ext uri="{BB962C8B-B14F-4D97-AF65-F5344CB8AC3E}">
        <p14:creationId xmlns:p14="http://schemas.microsoft.com/office/powerpoint/2010/main" val="1107361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/>
              <a:t>1) Run each UNSAT procedure independently</a:t>
            </a:r>
          </a:p>
          <a:p>
            <a:pPr lvl="1"/>
            <a:r>
              <a:rPr lang="en-US" sz="2000" dirty="0"/>
              <a:t>If any returns UNSAT we are done</a:t>
            </a:r>
          </a:p>
          <a:p>
            <a:r>
              <a:rPr lang="en-US" sz="2400" dirty="0"/>
              <a:t>2) Broadcast any equalities that were discovered</a:t>
            </a:r>
          </a:p>
          <a:p>
            <a:pPr lvl="1"/>
            <a:r>
              <a:rPr lang="en-US" sz="2000" dirty="0"/>
              <a:t>If no new equalities were discovered, return 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Uninterpreted</a:t>
            </a:r>
            <a:r>
              <a:rPr lang="en-US" dirty="0"/>
              <a:t> Fun.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Integer Arithmetic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768570" y="4388403"/>
            <a:ext cx="810367" cy="342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blipFill>
                <a:blip r:embed="rId1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accent4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/>
          <p:cNvCxnSpPr>
            <a:endCxn id="59" idx="3"/>
          </p:cNvCxnSpPr>
          <p:nvPr/>
        </p:nvCxnSpPr>
        <p:spPr>
          <a:xfrm rot="5400000">
            <a:off x="1084872" y="4831945"/>
            <a:ext cx="1134492" cy="2329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46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/>
              <a:t>1) Run each UNSAT procedure independently</a:t>
            </a:r>
          </a:p>
          <a:p>
            <a:pPr lvl="1"/>
            <a:r>
              <a:rPr lang="en-US" sz="2000" dirty="0"/>
              <a:t>If any returns UNSAT we are done</a:t>
            </a:r>
          </a:p>
          <a:p>
            <a:r>
              <a:rPr lang="en-US" sz="2400" dirty="0"/>
              <a:t>2) Broadcast any equalities that were discovered</a:t>
            </a:r>
          </a:p>
          <a:p>
            <a:pPr lvl="1"/>
            <a:r>
              <a:rPr lang="en-US" sz="2000" dirty="0"/>
              <a:t>If no new equalities were discovered, return 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Uninterpreted</a:t>
            </a:r>
            <a:r>
              <a:rPr lang="en-US" dirty="0"/>
              <a:t> Fun.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Integer Arithmetic</a:t>
            </a:r>
          </a:p>
        </p:txBody>
      </p:sp>
      <p:cxnSp>
        <p:nvCxnSpPr>
          <p:cNvPr id="22" name="Straight Arrow Connector 21"/>
          <p:cNvCxnSpPr>
            <a:stCxn id="14" idx="1"/>
            <a:endCxn id="60" idx="3"/>
          </p:cNvCxnSpPr>
          <p:nvPr/>
        </p:nvCxnSpPr>
        <p:spPr>
          <a:xfrm flipH="1">
            <a:off x="1600876" y="4057986"/>
            <a:ext cx="1030427" cy="1904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blipFill>
                <a:blip r:embed="rId1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accent4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/>
          <p:cNvCxnSpPr>
            <a:stCxn id="14" idx="1"/>
            <a:endCxn id="58" idx="1"/>
          </p:cNvCxnSpPr>
          <p:nvPr/>
        </p:nvCxnSpPr>
        <p:spPr>
          <a:xfrm rot="10800000" flipV="1">
            <a:off x="2591409" y="4057985"/>
            <a:ext cx="39895" cy="1134491"/>
          </a:xfrm>
          <a:prstGeom prst="curvedConnector3">
            <a:avLst>
              <a:gd name="adj1" fmla="val 6730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28146" y="5778284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6" y="5778284"/>
                <a:ext cx="107273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156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/>
              <a:t>1) Run each UNSAT procedure independently</a:t>
            </a:r>
          </a:p>
          <a:p>
            <a:pPr lvl="1"/>
            <a:r>
              <a:rPr lang="en-US" sz="2000" dirty="0"/>
              <a:t>If any returns UNSAT we are done</a:t>
            </a:r>
          </a:p>
          <a:p>
            <a:r>
              <a:rPr lang="en-US" sz="2400" dirty="0"/>
              <a:t>2) Broadcast any equalities that were discovered</a:t>
            </a:r>
          </a:p>
          <a:p>
            <a:pPr lvl="1"/>
            <a:r>
              <a:rPr lang="en-US" sz="2000" dirty="0"/>
              <a:t>If no new equalities were discovered, return 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Uninterpreted</a:t>
            </a:r>
            <a:r>
              <a:rPr lang="en-US" dirty="0"/>
              <a:t> Fun.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Integer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blipFill>
                <a:blip r:embed="rId1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accent4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28146" y="5778284"/>
                <a:ext cx="112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6" y="5778284"/>
                <a:ext cx="112229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641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Soundness and 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Soundness (when it says </a:t>
            </a:r>
            <a:r>
              <a:rPr lang="en-US" dirty="0" err="1"/>
              <a:t>unsat</a:t>
            </a:r>
            <a:r>
              <a:rPr lang="en-US" dirty="0"/>
              <a:t>, it is true)</a:t>
            </a:r>
          </a:p>
          <a:p>
            <a:pPr lvl="1"/>
            <a:r>
              <a:rPr lang="en-US" dirty="0"/>
              <a:t>Yes assuming theory solvers don’t lie</a:t>
            </a:r>
          </a:p>
          <a:p>
            <a:endParaRPr lang="en-US" dirty="0"/>
          </a:p>
          <a:p>
            <a:r>
              <a:rPr lang="en-US" dirty="0"/>
              <a:t>Completeness (will it always say </a:t>
            </a:r>
            <a:r>
              <a:rPr lang="en-US" dirty="0" err="1"/>
              <a:t>unsat</a:t>
            </a:r>
            <a:r>
              <a:rPr lang="en-US" dirty="0"/>
              <a:t> when required?)</a:t>
            </a:r>
          </a:p>
          <a:p>
            <a:pPr lvl="1"/>
            <a:r>
              <a:rPr lang="en-US" dirty="0"/>
              <a:t>Yes under certain conditions</a:t>
            </a:r>
          </a:p>
          <a:p>
            <a:pPr lvl="1"/>
            <a:r>
              <a:rPr lang="en-US" dirty="0"/>
              <a:t>Argument not as obvious</a:t>
            </a:r>
          </a:p>
        </p:txBody>
      </p:sp>
    </p:spTree>
    <p:extLst>
      <p:ext uri="{BB962C8B-B14F-4D97-AF65-F5344CB8AC3E}">
        <p14:creationId xmlns:p14="http://schemas.microsoft.com/office/powerpoint/2010/main" val="737758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formula: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No equalities to propagate</a:t>
                </a:r>
              </a:p>
              <a:p>
                <a:pPr lvl="1"/>
                <a:r>
                  <a:rPr lang="en-US" dirty="0"/>
                  <a:t>The two </a:t>
                </a:r>
                <a:r>
                  <a:rPr lang="en-US" dirty="0" err="1"/>
                  <a:t>subformulas</a:t>
                </a:r>
                <a:r>
                  <a:rPr lang="en-US" dirty="0"/>
                  <a:t> are satisfiable</a:t>
                </a:r>
              </a:p>
              <a:p>
                <a:pPr lvl="1"/>
                <a:r>
                  <a:rPr lang="en-US" dirty="0"/>
                  <a:t>Yet, the problem is clearly </a:t>
                </a:r>
                <a:r>
                  <a:rPr lang="en-US" dirty="0" err="1"/>
                  <a:t>unsat</a:t>
                </a:r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  <a:blipFill rotWithShape="0">
                <a:blip r:embed="rId2"/>
                <a:stretch>
                  <a:fillRect t="-2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53767" y="3682946"/>
                <a:ext cx="107176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Theory 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67" y="3682946"/>
                <a:ext cx="1071768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51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14654" y="3682946"/>
                <a:ext cx="17224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Theory R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4" y="3682946"/>
                <a:ext cx="1722459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3191" t="-3289"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179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theory is convex if for every conjunctive formula F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⋁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𝑖𝑚𝑝𝑙𝑖𝑒𝑠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 the previous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≤2⇒(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=1)∨(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</a:p>
              <a:p>
                <a:pPr lvl="1"/>
                <a:r>
                  <a:rPr lang="en-US" dirty="0"/>
                  <a:t>It does not imply either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186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Nelson-</a:t>
            </a:r>
            <a:r>
              <a:rPr lang="en-US" dirty="0" err="1"/>
              <a:t>Oppen</a:t>
            </a:r>
            <a:r>
              <a:rPr lang="en-US" dirty="0"/>
              <a:t> is complete for Convex theories</a:t>
            </a:r>
          </a:p>
          <a:p>
            <a:r>
              <a:rPr lang="en-US" dirty="0"/>
              <a:t>What to do for non-convex ones?</a:t>
            </a:r>
          </a:p>
        </p:txBody>
      </p:sp>
    </p:spTree>
    <p:extLst>
      <p:ext uri="{BB962C8B-B14F-4D97-AF65-F5344CB8AC3E}">
        <p14:creationId xmlns:p14="http://schemas.microsoft.com/office/powerpoint/2010/main" val="765793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the formula:</a:t>
                </a:r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lvl="1"/>
                <a:r>
                  <a:rPr lang="en-US" sz="2000" dirty="0"/>
                  <a:t>Formula from theory E implies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)∨(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lvl="1"/>
                <a:r>
                  <a:rPr lang="en-US" sz="2000" dirty="0"/>
                  <a:t>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Since both are </a:t>
                </a:r>
                <a:r>
                  <a:rPr lang="en-US" sz="2000" dirty="0" err="1"/>
                  <a:t>unsat</a:t>
                </a:r>
                <a:r>
                  <a:rPr lang="en-US" sz="2000" dirty="0"/>
                  <a:t>, we can say UNSAT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  <a:blipFill rotWithShape="0">
                <a:blip r:embed="rId2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53767" y="3682946"/>
                <a:ext cx="153240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 in theory 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67" y="3682946"/>
                <a:ext cx="1532407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1195" t="-2058" r="-2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14654" y="3682946"/>
                <a:ext cx="174393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in theory R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4" y="3682946"/>
                <a:ext cx="1743939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1049" t="-3289"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540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issues</a:t>
            </a:r>
          </a:p>
          <a:p>
            <a:pPr lvl="1"/>
            <a:r>
              <a:rPr lang="en-US" dirty="0"/>
              <a:t>How do we decide which disjunctive equalities to branch on?</a:t>
            </a:r>
          </a:p>
          <a:p>
            <a:pPr lvl="1"/>
            <a:r>
              <a:rPr lang="en-US" dirty="0"/>
              <a:t>How to perform backtracking efficiently?</a:t>
            </a:r>
          </a:p>
        </p:txBody>
      </p:sp>
    </p:spTree>
    <p:extLst>
      <p:ext uri="{BB962C8B-B14F-4D97-AF65-F5344CB8AC3E}">
        <p14:creationId xmlns:p14="http://schemas.microsoft.com/office/powerpoint/2010/main" val="2481113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DPLL(T) Key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24222" y="2926080"/>
            <a:ext cx="2391508" cy="19413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SAT Solver Handles Boolean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320" y="2307102"/>
            <a:ext cx="3589606" cy="31792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Theory Solver Handles Theories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5711" y="3108960"/>
            <a:ext cx="2307101" cy="70338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Theory Solver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5710" y="4391901"/>
            <a:ext cx="2307101" cy="70338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Theory Solver 2</a:t>
            </a:r>
          </a:p>
        </p:txBody>
      </p:sp>
      <p:cxnSp>
        <p:nvCxnSpPr>
          <p:cNvPr id="10" name="Curved Connector 9"/>
          <p:cNvCxnSpPr>
            <a:stCxn id="5" idx="3"/>
          </p:cNvCxnSpPr>
          <p:nvPr/>
        </p:nvCxnSpPr>
        <p:spPr>
          <a:xfrm flipV="1">
            <a:off x="4515730" y="3108960"/>
            <a:ext cx="1854590" cy="787791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1"/>
          </p:cNvCxnSpPr>
          <p:nvPr/>
        </p:nvCxnSpPr>
        <p:spPr>
          <a:xfrm rot="10800000" flipV="1">
            <a:off x="4515730" y="3896750"/>
            <a:ext cx="1854590" cy="675249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7" idx="2"/>
          </p:cNvCxnSpPr>
          <p:nvPr/>
        </p:nvCxnSpPr>
        <p:spPr>
          <a:xfrm rot="16200000" flipH="1">
            <a:off x="8113433" y="3858173"/>
            <a:ext cx="499621" cy="407963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16200000" flipV="1">
            <a:off x="7705947" y="3872937"/>
            <a:ext cx="550249" cy="487679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178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Abstraction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formula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a boolean abstraction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has the following property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𝑢𝑛𝑠𝑎𝑡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𝑢𝑛𝑠𝑎𝑡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92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Eager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Simple, sometimes efficient</a:t>
                </a:r>
              </a:p>
              <a:p>
                <a:pPr lvl="1"/>
                <a:r>
                  <a:rPr lang="en-US" dirty="0"/>
                  <a:t>Find a boolean abstraction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𝑢𝑛𝑠𝑎𝑡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𝑢𝑛𝑠𝑎𝑡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to a sat solver</a:t>
                </a:r>
              </a:p>
              <a:p>
                <a:pPr lvl="1"/>
                <a:r>
                  <a:rPr lang="en-US" dirty="0"/>
                  <a:t>DONE!</a:t>
                </a:r>
              </a:p>
              <a:p>
                <a:r>
                  <a:rPr lang="en-US" dirty="0"/>
                  <a:t>Can’t really pull it off if you have an infinite theory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330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simple boolean abstraction</a:t>
            </a:r>
          </a:p>
          <a:p>
            <a:r>
              <a:rPr lang="en-US" dirty="0"/>
              <a:t>Check solutions against theory solver</a:t>
            </a:r>
          </a:p>
          <a:p>
            <a:r>
              <a:rPr lang="en-US" dirty="0"/>
              <a:t>If theory solver determines </a:t>
            </a:r>
            <a:r>
              <a:rPr lang="en-US" dirty="0" err="1"/>
              <a:t>unsat</a:t>
            </a:r>
            <a:r>
              <a:rPr lang="en-US" dirty="0"/>
              <a:t> improve your boolean abstraction</a:t>
            </a:r>
          </a:p>
          <a:p>
            <a:r>
              <a:rPr lang="en-US" dirty="0"/>
              <a:t>Repeat until either theory solver agrees or boolean abstraction becomes </a:t>
            </a:r>
            <a:r>
              <a:rPr lang="en-US" dirty="0" err="1"/>
              <a:t>unsat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288258" y="4889375"/>
            <a:ext cx="5514534" cy="1758461"/>
            <a:chOff x="2124222" y="2307102"/>
            <a:chExt cx="7835704" cy="3179298"/>
          </a:xfrm>
        </p:grpSpPr>
        <p:sp>
          <p:nvSpPr>
            <p:cNvPr id="4" name="Rounded Rectangle 3"/>
            <p:cNvSpPr/>
            <p:nvPr/>
          </p:nvSpPr>
          <p:spPr>
            <a:xfrm>
              <a:off x="2124222" y="2926080"/>
              <a:ext cx="2391508" cy="19413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SAT Solver Handles Boolean Structure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370320" y="2307102"/>
              <a:ext cx="3589606" cy="317929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/>
                <a:t>Theory Solver Handles Theories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005711" y="3108960"/>
              <a:ext cx="2307101" cy="703385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Theory Solver 1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005710" y="4391901"/>
              <a:ext cx="2307101" cy="703385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Theory Solver 2</a:t>
              </a:r>
            </a:p>
          </p:txBody>
        </p:sp>
        <p:cxnSp>
          <p:nvCxnSpPr>
            <p:cNvPr id="8" name="Curved Connector 7"/>
            <p:cNvCxnSpPr>
              <a:stCxn id="4" idx="3"/>
            </p:cNvCxnSpPr>
            <p:nvPr/>
          </p:nvCxnSpPr>
          <p:spPr>
            <a:xfrm flipV="1">
              <a:off x="4515730" y="3108960"/>
              <a:ext cx="1854590" cy="787791"/>
            </a:xfrm>
            <a:prstGeom prst="curvedConnector3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urved Connector 8"/>
            <p:cNvCxnSpPr>
              <a:stCxn id="5" idx="1"/>
            </p:cNvCxnSpPr>
            <p:nvPr/>
          </p:nvCxnSpPr>
          <p:spPr>
            <a:xfrm rot="10800000" flipV="1">
              <a:off x="4515730" y="3896750"/>
              <a:ext cx="1854590" cy="675249"/>
            </a:xfrm>
            <a:prstGeom prst="curvedConnector3">
              <a:avLst>
                <a:gd name="adj1" fmla="val 50000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urved Connector 9"/>
            <p:cNvCxnSpPr>
              <a:stCxn id="6" idx="2"/>
            </p:cNvCxnSpPr>
            <p:nvPr/>
          </p:nvCxnSpPr>
          <p:spPr>
            <a:xfrm rot="16200000" flipH="1">
              <a:off x="8113433" y="3858173"/>
              <a:ext cx="499621" cy="407963"/>
            </a:xfrm>
            <a:prstGeom prst="curved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Curved Connector 10"/>
            <p:cNvCxnSpPr/>
            <p:nvPr/>
          </p:nvCxnSpPr>
          <p:spPr>
            <a:xfrm rot="16200000" flipV="1">
              <a:off x="7705947" y="3872937"/>
              <a:ext cx="550249" cy="487679"/>
            </a:xfrm>
            <a:prstGeom prst="curved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2944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boolean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Equivalent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𝑢𝑛𝑠𝑎𝑡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(¬(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≤0) 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392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be a formula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(defined by axioms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 a formula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(defined by axioms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Suppose that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satisfiable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satisfiable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𝑖𝑓𝑓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means that they have shared all the equalities they could share</a:t>
                </a:r>
              </a:p>
              <a:p>
                <a:r>
                  <a:rPr lang="en-US" dirty="0"/>
                  <a:t>Can we show that this implies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sat?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998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be the universe of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resp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be a satisfying assignment to </a:t>
                </a:r>
                <a:r>
                  <a:rPr lang="en-US" dirty="0" err="1"/>
                  <a:t>vars</a:t>
                </a:r>
                <a:r>
                  <a:rPr lang="en-US" dirty="0"/>
                  <a:t>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dirty="0"/>
                </a:br>
                <a:r>
                  <a:rPr lang="en-US" dirty="0"/>
                  <a:t>(</a:t>
                </a:r>
                <a:r>
                  <a:rPr lang="en-US" dirty="0" err="1"/>
                  <a:t>resp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If both theories return sat, we know we can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we find some that satisfy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508" y="190894"/>
            <a:ext cx="4054716" cy="18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2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51640</TotalTime>
  <Words>2830</Words>
  <Application>Microsoft Office PowerPoint</Application>
  <PresentationFormat>Widescreen</PresentationFormat>
  <Paragraphs>475</Paragraphs>
  <Slides>43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Berlin Sans FB</vt:lpstr>
      <vt:lpstr>Calibri</vt:lpstr>
      <vt:lpstr>Cambria Math</vt:lpstr>
      <vt:lpstr>office theme</vt:lpstr>
      <vt:lpstr>Lecture 20 SMT and Theorem Proving</vt:lpstr>
      <vt:lpstr>What is a theory</vt:lpstr>
      <vt:lpstr>Candidate Logic</vt:lpstr>
      <vt:lpstr>Candidate Logic</vt:lpstr>
      <vt:lpstr>Meaning of a formula</vt:lpstr>
      <vt:lpstr>A simple prove procedure</vt:lpstr>
      <vt:lpstr>A simple algorithm</vt:lpstr>
      <vt:lpstr>Theorem prover for literals</vt:lpstr>
      <vt:lpstr>Example: Linear Inequalities</vt:lpstr>
      <vt:lpstr>Example: Linear Inequalities</vt:lpstr>
      <vt:lpstr>Linear Inequalities</vt:lpstr>
      <vt:lpstr>Linear Inequalities</vt:lpstr>
      <vt:lpstr>Linear Inequalities</vt:lpstr>
      <vt:lpstr>Linear Inequalities</vt:lpstr>
      <vt:lpstr>Is this enough to check VCs?</vt:lpstr>
      <vt:lpstr>Is this enough to check VCs?</vt:lpstr>
      <vt:lpstr>Equality with uninterpreted functions</vt:lpstr>
      <vt:lpstr>Equality with UF (Congruence closure algorithm)</vt:lpstr>
      <vt:lpstr>Equality with UF</vt:lpstr>
      <vt:lpstr>Equality with UF</vt:lpstr>
      <vt:lpstr>Equality with UF</vt:lpstr>
      <vt:lpstr>Equality with UF</vt:lpstr>
      <vt:lpstr>Equality with UF</vt:lpstr>
      <vt:lpstr>Nelson-Oppen</vt:lpstr>
      <vt:lpstr>Purification</vt:lpstr>
      <vt:lpstr>Example</vt:lpstr>
      <vt:lpstr>Equality Propagation</vt:lpstr>
      <vt:lpstr>Equality Propagation</vt:lpstr>
      <vt:lpstr>Equality Propagation</vt:lpstr>
      <vt:lpstr>Equality Propagation</vt:lpstr>
      <vt:lpstr>Soundness and Completeness</vt:lpstr>
      <vt:lpstr>Convex theories</vt:lpstr>
      <vt:lpstr>Convex theories</vt:lpstr>
      <vt:lpstr>Completeness</vt:lpstr>
      <vt:lpstr>Backtracking</vt:lpstr>
      <vt:lpstr>Backtracking</vt:lpstr>
      <vt:lpstr>DPLL(T) Key idea</vt:lpstr>
      <vt:lpstr>Boolean Abstraction</vt:lpstr>
      <vt:lpstr>Eager approach</vt:lpstr>
      <vt:lpstr>Lazy approach</vt:lpstr>
      <vt:lpstr>Complex boolean structure</vt:lpstr>
      <vt:lpstr>Completeness</vt:lpstr>
      <vt:lpstr>Argument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794</cp:revision>
  <cp:lastPrinted>2015-02-26T04:09:31Z</cp:lastPrinted>
  <dcterms:created xsi:type="dcterms:W3CDTF">2014-09-23T19:26:18Z</dcterms:created>
  <dcterms:modified xsi:type="dcterms:W3CDTF">2026-03-17T01:07:05Z</dcterms:modified>
</cp:coreProperties>
</file>