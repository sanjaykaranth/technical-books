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0"/>
  </p:notesMasterIdLst>
  <p:sldIdLst>
    <p:sldId id="336" r:id="rId2"/>
    <p:sldId id="366" r:id="rId3"/>
    <p:sldId id="381" r:id="rId4"/>
    <p:sldId id="382" r:id="rId5"/>
    <p:sldId id="383" r:id="rId6"/>
    <p:sldId id="384" r:id="rId7"/>
    <p:sldId id="414" r:id="rId8"/>
    <p:sldId id="385" r:id="rId9"/>
    <p:sldId id="387" r:id="rId10"/>
    <p:sldId id="389" r:id="rId11"/>
    <p:sldId id="390" r:id="rId12"/>
    <p:sldId id="392" r:id="rId13"/>
    <p:sldId id="391" r:id="rId14"/>
    <p:sldId id="393" r:id="rId15"/>
    <p:sldId id="394" r:id="rId16"/>
    <p:sldId id="395" r:id="rId17"/>
    <p:sldId id="396" r:id="rId18"/>
    <p:sldId id="397" r:id="rId19"/>
    <p:sldId id="398" r:id="rId20"/>
    <p:sldId id="388" r:id="rId21"/>
    <p:sldId id="399" r:id="rId22"/>
    <p:sldId id="400" r:id="rId23"/>
    <p:sldId id="401" r:id="rId24"/>
    <p:sldId id="402" r:id="rId25"/>
    <p:sldId id="403" r:id="rId26"/>
    <p:sldId id="410" r:id="rId27"/>
    <p:sldId id="411" r:id="rId28"/>
    <p:sldId id="418" r:id="rId29"/>
    <p:sldId id="420" r:id="rId30"/>
    <p:sldId id="419" r:id="rId31"/>
    <p:sldId id="421" r:id="rId32"/>
    <p:sldId id="417" r:id="rId33"/>
    <p:sldId id="416" r:id="rId34"/>
    <p:sldId id="404" r:id="rId35"/>
    <p:sldId id="405" r:id="rId36"/>
    <p:sldId id="406" r:id="rId37"/>
    <p:sldId id="408" r:id="rId38"/>
    <p:sldId id="409" r:id="rId39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0909"/>
    <a:srgbClr val="080F0B"/>
    <a:srgbClr val="CA703B"/>
    <a:srgbClr val="CFE5C9"/>
    <a:srgbClr val="9AC890"/>
    <a:srgbClr val="C7CEFF"/>
    <a:srgbClr val="7F8AFF"/>
    <a:srgbClr val="FFFFFF"/>
    <a:srgbClr val="000000"/>
    <a:srgbClr val="FF7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03" autoAdjust="0"/>
    <p:restoredTop sz="84761" autoAdjust="0"/>
  </p:normalViewPr>
  <p:slideViewPr>
    <p:cSldViewPr snapToGrid="0">
      <p:cViewPr varScale="1">
        <p:scale>
          <a:sx n="87" d="100"/>
          <a:sy n="87" d="100"/>
        </p:scale>
        <p:origin x="369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4B0CA21C-B112-4BD8-B9E9-462888A52112}" type="datetimeFigureOut">
              <a:rPr lang="en-US" smtClean="0"/>
              <a:t>5/6/2020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9A80BC8A-3D2D-4399-A152-F8F7638B0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99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0BC8A-3D2D-4399-A152-F8F7638B02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534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57284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97338"/>
            <a:ext cx="9144000" cy="86046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5/6/2020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7296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00" y="29189"/>
            <a:ext cx="6869903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2494" y="1825625"/>
            <a:ext cx="9761306" cy="4351338"/>
          </a:xfrm>
        </p:spPr>
        <p:txBody>
          <a:bodyPr/>
          <a:lstStyle>
            <a:lvl1pPr>
              <a:buClr>
                <a:schemeClr val="bg1"/>
              </a:buClr>
              <a:buSzPct val="25000"/>
              <a:defRPr>
                <a:solidFill>
                  <a:schemeClr val="accent4"/>
                </a:solidFill>
              </a:defRPr>
            </a:lvl1pPr>
            <a:lvl2pPr>
              <a:defRPr>
                <a:solidFill>
                  <a:schemeClr val="accent3">
                    <a:lumMod val="75000"/>
                  </a:schemeClr>
                </a:solidFill>
              </a:defRPr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5/6/2020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8711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5/6/2020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4864" y="29189"/>
            <a:ext cx="6867144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3104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5/6/2020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405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5/6/2020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4864" y="29189"/>
            <a:ext cx="6867144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3505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2pPr>
              <a:defRPr>
                <a:solidFill>
                  <a:schemeClr val="accent3">
                    <a:lumMod val="75000"/>
                  </a:schemeClr>
                </a:solidFill>
              </a:defRPr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2pPr>
              <a:defRPr>
                <a:solidFill>
                  <a:schemeClr val="accent3">
                    <a:lumMod val="75000"/>
                  </a:schemeClr>
                </a:solidFill>
              </a:defRPr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5/6/2020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4864" y="29189"/>
            <a:ext cx="6867144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42594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5/6/2020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345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5/6/2020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538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5/6/2020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388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5/6/2020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206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5/6/2020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648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D6B1FC-33B3-4A41-B046-2D6AAAB3391B}" type="datetimeFigureOut">
              <a:rPr lang="en-US" smtClean="0"/>
              <a:t>5/6/2020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432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8" r:id="rId3"/>
    <p:sldLayoutId id="2147483675" r:id="rId4"/>
    <p:sldLayoutId id="2147483676" r:id="rId5"/>
    <p:sldLayoutId id="2147483677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1"/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2.png"/><Relationship Id="rId7" Type="http://schemas.openxmlformats.org/officeDocument/2006/relationships/image" Target="../media/image2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18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18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18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18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180.png"/><Relationship Id="rId10" Type="http://schemas.openxmlformats.org/officeDocument/2006/relationships/image" Target="../media/image300.png"/><Relationship Id="rId9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1.png"/><Relationship Id="rId5" Type="http://schemas.openxmlformats.org/officeDocument/2006/relationships/image" Target="../media/image180.png"/><Relationship Id="rId10" Type="http://schemas.openxmlformats.org/officeDocument/2006/relationships/image" Target="../media/image300.png"/><Relationship Id="rId9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0.png"/><Relationship Id="rId3" Type="http://schemas.openxmlformats.org/officeDocument/2006/relationships/image" Target="../media/image270.png"/><Relationship Id="rId7" Type="http://schemas.openxmlformats.org/officeDocument/2006/relationships/image" Target="../media/image310.png"/><Relationship Id="rId12" Type="http://schemas.openxmlformats.org/officeDocument/2006/relationships/image" Target="../media/image36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1.png"/><Relationship Id="rId11" Type="http://schemas.openxmlformats.org/officeDocument/2006/relationships/image" Target="../media/image350.png"/><Relationship Id="rId5" Type="http://schemas.openxmlformats.org/officeDocument/2006/relationships/image" Target="../media/image290.png"/><Relationship Id="rId10" Type="http://schemas.openxmlformats.org/officeDocument/2006/relationships/image" Target="../media/image340.png"/><Relationship Id="rId4" Type="http://schemas.openxmlformats.org/officeDocument/2006/relationships/image" Target="../media/image280.png"/><Relationship Id="rId9" Type="http://schemas.openxmlformats.org/officeDocument/2006/relationships/image" Target="../media/image33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0.png"/><Relationship Id="rId7" Type="http://schemas.openxmlformats.org/officeDocument/2006/relationships/image" Target="../media/image500.png"/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0.png"/><Relationship Id="rId5" Type="http://schemas.openxmlformats.org/officeDocument/2006/relationships/image" Target="../media/image480.png"/><Relationship Id="rId4" Type="http://schemas.openxmlformats.org/officeDocument/2006/relationships/image" Target="../media/image47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Lecture 21</a:t>
            </a:r>
            <a:br>
              <a:rPr lang="en-US" dirty="0" smtClean="0"/>
            </a:br>
            <a:r>
              <a:rPr lang="en-US" dirty="0" smtClean="0"/>
              <a:t>Synthesizing under a distribution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97338"/>
            <a:ext cx="9144000" cy="1587826"/>
          </a:xfrm>
        </p:spPr>
        <p:txBody>
          <a:bodyPr>
            <a:normAutofit/>
          </a:bodyPr>
          <a:lstStyle/>
          <a:p>
            <a:r>
              <a:rPr lang="en-US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Armando Solar-Lezama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2210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Programming by Example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11"/>
              <p:cNvSpPr>
                <a:spLocks noGrp="1"/>
              </p:cNvSpPr>
              <p:nvPr>
                <p:ph idx="1"/>
              </p:nvPr>
            </p:nvSpPr>
            <p:spPr>
              <a:xfrm>
                <a:off x="1592494" y="4388069"/>
                <a:ext cx="9761306" cy="178889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Problem is hopelessly underspecified</a:t>
                </a:r>
              </a:p>
              <a:p>
                <a:pPr lvl="1"/>
                <a:r>
                  <a:rPr lang="en-US" dirty="0" smtClean="0"/>
                  <a:t>Many semantically distinct programs can satisfy the examples</a:t>
                </a:r>
              </a:p>
              <a:p>
                <a:pPr lvl="1"/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𝑜𝑢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𝑖𝑜</m:t>
                        </m:r>
                      </m:sub>
                    </m:sSub>
                    <m:d>
                      <m:dPr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∕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𝑜𝑢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Content Placeholder 1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92494" y="4388069"/>
                <a:ext cx="9761306" cy="1788893"/>
              </a:xfrm>
              <a:blipFill>
                <a:blip r:embed="rId2"/>
                <a:stretch>
                  <a:fillRect t="-78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 flipH="1">
                <a:off x="5323489" y="3032235"/>
                <a:ext cx="1182414" cy="9144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000" b="0" dirty="0" smtClean="0"/>
                  <a:t> </a:t>
                </a:r>
                <a14:m>
                  <m:oMath xmlns:m="http://schemas.openxmlformats.org/officeDocument/2006/math">
                    <m:r>
                      <a:rPr lang="en-US" sz="48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323489" y="3032235"/>
                <a:ext cx="1182414" cy="9144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Arrow 5"/>
          <p:cNvSpPr/>
          <p:nvPr/>
        </p:nvSpPr>
        <p:spPr>
          <a:xfrm>
            <a:off x="4503682" y="3301274"/>
            <a:ext cx="819807" cy="3763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/>
          <p:cNvSpPr/>
          <p:nvPr/>
        </p:nvSpPr>
        <p:spPr>
          <a:xfrm>
            <a:off x="6558455" y="3301274"/>
            <a:ext cx="819807" cy="3763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836275" y="3258603"/>
                <a:ext cx="6674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6275" y="3258603"/>
                <a:ext cx="667407" cy="461665"/>
              </a:xfrm>
              <a:prstGeom prst="rect">
                <a:avLst/>
              </a:prstGeom>
              <a:blipFill>
                <a:blip r:embed="rId4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436069" y="3258603"/>
                <a:ext cx="6674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𝑜𝑢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6069" y="3258603"/>
                <a:ext cx="667407" cy="461665"/>
              </a:xfrm>
              <a:prstGeom prst="rect">
                <a:avLst/>
              </a:prstGeom>
              <a:blipFill>
                <a:blip r:embed="rId5"/>
                <a:stretch>
                  <a:fillRect r="-6422" b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Down Arrow 9"/>
          <p:cNvSpPr/>
          <p:nvPr/>
        </p:nvSpPr>
        <p:spPr>
          <a:xfrm>
            <a:off x="5386551" y="2170387"/>
            <a:ext cx="1056290" cy="693683"/>
          </a:xfrm>
          <a:prstGeom prst="downArrow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067504" y="1509074"/>
                <a:ext cx="38362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[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𝑜𝑢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…(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𝑜𝑢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]</a:t>
                </a:r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504" y="1509074"/>
                <a:ext cx="3836276" cy="369332"/>
              </a:xfrm>
              <a:prstGeom prst="rect">
                <a:avLst/>
              </a:prstGeom>
              <a:blipFill>
                <a:blip r:embed="rId6"/>
                <a:stretch>
                  <a:fillRect l="-1270" t="-10000" r="-95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6700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elements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Any program that does not match the I/O examples has P=0</a:t>
                </a:r>
              </a:p>
              <a:p>
                <a:endParaRPr lang="en-US" dirty="0"/>
              </a:p>
              <a:p>
                <a:r>
                  <a:rPr lang="en-US" dirty="0" smtClean="0"/>
                  <a:t>All programs that match the I/O examples have the same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𝑖𝑜</m:t>
                        </m:r>
                      </m:sub>
                    </m:sSub>
                    <m:d>
                      <m:dPr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∕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𝑜𝑢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2434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Length minimization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Shortest programs are better than longer programs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𝑙𝑒𝑛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𝑏𝑒𝑙𝑜𝑛𝑔𝑠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𝑡𝑜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𝑡h𝑒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𝑠𝑝𝑎𝑐𝑒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𝑝𝑟𝑜𝑔𝑟𝑎𝑚𝑠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𝑜𝑡h𝑒𝑟𝑤𝑖𝑠𝑒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9467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Bottom </a:t>
            </a:r>
            <a:r>
              <a:rPr lang="en-US" dirty="0" smtClean="0"/>
              <a:t>Up Explicit 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discarding observationally equivalent programs, keep shortest one.</a:t>
            </a:r>
          </a:p>
          <a:p>
            <a:pPr lvl="1"/>
            <a:r>
              <a:rPr lang="en-US" dirty="0"/>
              <a:t>Naturally finds shortest programs first</a:t>
            </a:r>
          </a:p>
          <a:p>
            <a:r>
              <a:rPr lang="en-US" dirty="0" smtClean="0"/>
              <a:t>Key property: </a:t>
            </a:r>
          </a:p>
          <a:p>
            <a:pPr lvl="1"/>
            <a:r>
              <a:rPr lang="en-US" dirty="0" smtClean="0"/>
              <a:t>All subprograms of the shortest program will themselves be the shortest programs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108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 Down Explicit 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2494" y="1825625"/>
            <a:ext cx="9761306" cy="2193355"/>
          </a:xfrm>
        </p:spPr>
        <p:txBody>
          <a:bodyPr/>
          <a:lstStyle/>
          <a:p>
            <a:r>
              <a:rPr lang="en-US" dirty="0" smtClean="0"/>
              <a:t>Achieving </a:t>
            </a:r>
            <a:r>
              <a:rPr lang="en-US" dirty="0" err="1" smtClean="0"/>
              <a:t>minimality</a:t>
            </a:r>
            <a:r>
              <a:rPr lang="en-US" dirty="0" smtClean="0"/>
              <a:t> is trickier and more expensive</a:t>
            </a:r>
          </a:p>
          <a:p>
            <a:pPr lvl="1"/>
            <a:r>
              <a:rPr lang="en-US" dirty="0" smtClean="0"/>
              <a:t>Algorithm keeps a </a:t>
            </a:r>
            <a:r>
              <a:rPr lang="en-US" dirty="0" err="1" smtClean="0"/>
              <a:t>wavefront</a:t>
            </a:r>
            <a:r>
              <a:rPr lang="en-US" dirty="0" smtClean="0"/>
              <a:t> of partially completed programs </a:t>
            </a:r>
          </a:p>
          <a:p>
            <a:pPr lvl="1"/>
            <a:r>
              <a:rPr lang="en-US" dirty="0" smtClean="0"/>
              <a:t>Need to expand that </a:t>
            </a:r>
            <a:r>
              <a:rPr lang="en-US" dirty="0" err="1" smtClean="0"/>
              <a:t>wavefront</a:t>
            </a:r>
            <a:r>
              <a:rPr lang="en-US" dirty="0" smtClean="0"/>
              <a:t> in best-first manner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382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 Down Explicit Search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9144015" y="179998"/>
                <a:ext cx="2808782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i="1" dirty="0" smtClean="0"/>
                  <a:t>expr</a:t>
                </a:r>
                <a:r>
                  <a:rPr lang="en-US" dirty="0" smtClean="0"/>
                  <a:t> =  </a:t>
                </a:r>
                <a:r>
                  <a:rPr lang="en-US" dirty="0" err="1" smtClean="0"/>
                  <a:t>var</a:t>
                </a:r>
                <a:r>
                  <a:rPr lang="en-US" dirty="0" smtClean="0"/>
                  <a:t> </a:t>
                </a:r>
              </a:p>
              <a:p>
                <a:r>
                  <a:rPr lang="en-US" dirty="0"/>
                  <a:t> </a:t>
                </a:r>
                <a:r>
                  <a:rPr lang="en-US" dirty="0" smtClean="0"/>
                  <a:t>          |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𝑒𝑥𝑝𝑟</m:t>
                    </m:r>
                  </m:oMath>
                </a14:m>
                <a:r>
                  <a:rPr lang="en-US" dirty="0" smtClean="0"/>
                  <a:t> </a:t>
                </a:r>
              </a:p>
              <a:p>
                <a:r>
                  <a:rPr lang="en-US" dirty="0"/>
                  <a:t> </a:t>
                </a:r>
                <a:r>
                  <a:rPr lang="en-US" dirty="0" smtClean="0"/>
                  <a:t>          | </a:t>
                </a:r>
                <a:r>
                  <a:rPr lang="en-US" b="1" dirty="0" smtClean="0"/>
                  <a:t>filter</a:t>
                </a:r>
                <a:r>
                  <a:rPr lang="en-US" dirty="0" smtClean="0"/>
                  <a:t> </a:t>
                </a:r>
                <a:r>
                  <a:rPr lang="en-US" i="1" dirty="0" smtClean="0"/>
                  <a:t>expr </a:t>
                </a:r>
                <a:r>
                  <a:rPr lang="en-US" i="1" dirty="0" err="1" smtClean="0"/>
                  <a:t>expr</a:t>
                </a:r>
                <a:endParaRPr lang="en-US" i="1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          | </a:t>
                </a:r>
                <a:r>
                  <a:rPr lang="en-US" b="1" dirty="0" smtClean="0"/>
                  <a:t>map</a:t>
                </a:r>
                <a:r>
                  <a:rPr lang="en-US" dirty="0" smtClean="0"/>
                  <a:t> </a:t>
                </a:r>
                <a:r>
                  <a:rPr lang="en-US" i="1" dirty="0" smtClean="0"/>
                  <a:t>expr </a:t>
                </a:r>
                <a:r>
                  <a:rPr lang="en-US" i="1" dirty="0" err="1" smtClean="0"/>
                  <a:t>expr</a:t>
                </a:r>
                <a:endParaRPr lang="en-US" i="1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          | </a:t>
                </a:r>
                <a:r>
                  <a:rPr lang="en-US" b="1" dirty="0" err="1" smtClean="0"/>
                  <a:t>foldl</a:t>
                </a:r>
                <a:r>
                  <a:rPr lang="en-US" dirty="0" smtClean="0"/>
                  <a:t>  </a:t>
                </a:r>
                <a:r>
                  <a:rPr lang="en-US" i="1" dirty="0" smtClean="0"/>
                  <a:t>expr </a:t>
                </a:r>
                <a:r>
                  <a:rPr lang="en-US" i="1" dirty="0" err="1" smtClean="0"/>
                  <a:t>expr</a:t>
                </a:r>
                <a:r>
                  <a:rPr lang="en-US" i="1" dirty="0" smtClean="0"/>
                  <a:t> </a:t>
                </a:r>
                <a:r>
                  <a:rPr lang="en-US" i="1" dirty="0" err="1" smtClean="0"/>
                  <a:t>expr</a:t>
                </a:r>
                <a:endParaRPr lang="en-US" i="1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          | </a:t>
                </a:r>
                <a:r>
                  <a:rPr lang="en-US" i="1" dirty="0" err="1" smtClean="0"/>
                  <a:t>boolExpr</a:t>
                </a:r>
                <a:r>
                  <a:rPr lang="en-US" dirty="0" smtClean="0"/>
                  <a:t> | </a:t>
                </a:r>
                <a:r>
                  <a:rPr lang="en-US" i="1" dirty="0" err="1" smtClean="0"/>
                  <a:t>arithExpr</a:t>
                </a:r>
                <a:endParaRPr lang="en-US" i="1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15" y="179998"/>
                <a:ext cx="2808782" cy="1754326"/>
              </a:xfrm>
              <a:prstGeom prst="rect">
                <a:avLst/>
              </a:prstGeom>
              <a:blipFill>
                <a:blip r:embed="rId2"/>
                <a:stretch>
                  <a:fillRect l="-1735" t="-2091" r="-1518" b="-4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4355870" y="1479664"/>
            <a:ext cx="21291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 smtClean="0"/>
              <a:t>dropmins</a:t>
            </a:r>
            <a:r>
              <a:rPr lang="en-US" sz="2000" dirty="0" smtClean="0"/>
              <a:t> in = </a:t>
            </a: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</a:rPr>
              <a:t>expr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9135" y="2626821"/>
            <a:ext cx="3786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in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97774" y="2626821"/>
                <a:ext cx="109055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sz="2000" dirty="0" smtClean="0">
                    <a:solidFill>
                      <a:schemeClr val="accent5">
                        <a:lumMod val="75000"/>
                      </a:schemeClr>
                    </a:solidFill>
                  </a:rPr>
                  <a:t>expr</a:t>
                </a:r>
                <a:endParaRPr lang="en-US" sz="20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774" y="2626821"/>
                <a:ext cx="1090555" cy="400110"/>
              </a:xfrm>
              <a:prstGeom prst="rect">
                <a:avLst/>
              </a:prstGeom>
              <a:blipFill>
                <a:blip r:embed="rId3"/>
                <a:stretch>
                  <a:fillRect t="-9091" r="-5587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2017221" y="2626821"/>
            <a:ext cx="17318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filter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</a:rPr>
              <a:t>expr </a:t>
            </a:r>
            <a:r>
              <a:rPr lang="en-US" sz="2000" dirty="0" err="1" smtClean="0">
                <a:solidFill>
                  <a:schemeClr val="accent5">
                    <a:lumMod val="75000"/>
                  </a:schemeClr>
                </a:solidFill>
              </a:rPr>
              <a:t>expr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70218" y="2626821"/>
            <a:ext cx="16916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map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</a:rPr>
              <a:t>expr </a:t>
            </a:r>
            <a:r>
              <a:rPr lang="en-US" sz="2000" dirty="0" err="1" smtClean="0">
                <a:solidFill>
                  <a:schemeClr val="accent5">
                    <a:lumMod val="75000"/>
                  </a:schemeClr>
                </a:solidFill>
              </a:rPr>
              <a:t>expr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65528" y="2626821"/>
            <a:ext cx="2151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fold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</a:rPr>
              <a:t>expr </a:t>
            </a:r>
            <a:r>
              <a:rPr lang="en-US" sz="2000" dirty="0" err="1" smtClean="0">
                <a:solidFill>
                  <a:schemeClr val="accent5">
                    <a:lumMod val="75000"/>
                  </a:schemeClr>
                </a:solidFill>
              </a:rPr>
              <a:t>expr</a:t>
            </a: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000" dirty="0" err="1" smtClean="0">
                <a:solidFill>
                  <a:schemeClr val="accent5">
                    <a:lumMod val="75000"/>
                  </a:schemeClr>
                </a:solidFill>
              </a:rPr>
              <a:t>expr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813732" y="2626821"/>
            <a:ext cx="1107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 smtClean="0">
                <a:solidFill>
                  <a:schemeClr val="accent1"/>
                </a:solidFill>
              </a:rPr>
              <a:t>boolExpr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322000" y="2626821"/>
            <a:ext cx="11384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 smtClean="0">
                <a:solidFill>
                  <a:schemeClr val="accent1"/>
                </a:solidFill>
              </a:rPr>
              <a:t>arithExpr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5935287" y="1762298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cxnSp>
        <p:nvCxnSpPr>
          <p:cNvPr id="16" name="Straight Arrow Connector 15"/>
          <p:cNvCxnSpPr>
            <a:stCxn id="14" idx="4"/>
            <a:endCxn id="7" idx="0"/>
          </p:cNvCxnSpPr>
          <p:nvPr/>
        </p:nvCxnSpPr>
        <p:spPr>
          <a:xfrm flipH="1">
            <a:off x="1399418" y="1808017"/>
            <a:ext cx="4558729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4" idx="4"/>
            <a:endCxn id="9" idx="0"/>
          </p:cNvCxnSpPr>
          <p:nvPr/>
        </p:nvCxnSpPr>
        <p:spPr>
          <a:xfrm flipH="1">
            <a:off x="2798942" y="1808017"/>
            <a:ext cx="3159205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4" idx="5"/>
            <a:endCxn id="10" idx="0"/>
          </p:cNvCxnSpPr>
          <p:nvPr/>
        </p:nvCxnSpPr>
        <p:spPr>
          <a:xfrm flipH="1">
            <a:off x="5174275" y="1801322"/>
            <a:ext cx="800036" cy="825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4" idx="4"/>
            <a:endCxn id="11" idx="0"/>
          </p:cNvCxnSpPr>
          <p:nvPr/>
        </p:nvCxnSpPr>
        <p:spPr>
          <a:xfrm>
            <a:off x="5958147" y="1808017"/>
            <a:ext cx="1385662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4" idx="4"/>
            <a:endCxn id="12" idx="0"/>
          </p:cNvCxnSpPr>
          <p:nvPr/>
        </p:nvCxnSpPr>
        <p:spPr>
          <a:xfrm>
            <a:off x="5958147" y="1808017"/>
            <a:ext cx="3363898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4" idx="4"/>
            <a:endCxn id="13" idx="0"/>
          </p:cNvCxnSpPr>
          <p:nvPr/>
        </p:nvCxnSpPr>
        <p:spPr>
          <a:xfrm>
            <a:off x="5958147" y="1808017"/>
            <a:ext cx="4884188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4" idx="4"/>
            <a:endCxn id="6" idx="0"/>
          </p:cNvCxnSpPr>
          <p:nvPr/>
        </p:nvCxnSpPr>
        <p:spPr>
          <a:xfrm flipH="1">
            <a:off x="528832" y="1808017"/>
            <a:ext cx="5429315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ross 7"/>
          <p:cNvSpPr/>
          <p:nvPr/>
        </p:nvSpPr>
        <p:spPr>
          <a:xfrm rot="18888170">
            <a:off x="379409" y="2668288"/>
            <a:ext cx="339326" cy="341906"/>
          </a:xfrm>
          <a:prstGeom prst="plus">
            <a:avLst>
              <a:gd name="adj" fmla="val 43872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5" name="Cross 24"/>
          <p:cNvSpPr/>
          <p:nvPr/>
        </p:nvSpPr>
        <p:spPr>
          <a:xfrm rot="18888170">
            <a:off x="1320587" y="2640534"/>
            <a:ext cx="339326" cy="341906"/>
          </a:xfrm>
          <a:prstGeom prst="plus">
            <a:avLst>
              <a:gd name="adj" fmla="val 43872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1" name="Cross 30"/>
          <p:cNvSpPr/>
          <p:nvPr/>
        </p:nvSpPr>
        <p:spPr>
          <a:xfrm rot="18888170">
            <a:off x="9145611" y="2667595"/>
            <a:ext cx="339326" cy="341906"/>
          </a:xfrm>
          <a:prstGeom prst="plus">
            <a:avLst>
              <a:gd name="adj" fmla="val 43872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2" name="Cross 31"/>
          <p:cNvSpPr/>
          <p:nvPr/>
        </p:nvSpPr>
        <p:spPr>
          <a:xfrm rot="18888170">
            <a:off x="10612523" y="2667596"/>
            <a:ext cx="339326" cy="341906"/>
          </a:xfrm>
          <a:prstGeom prst="plus">
            <a:avLst>
              <a:gd name="adj" fmla="val 43872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7" name="TextBox 26"/>
          <p:cNvSpPr txBox="1"/>
          <p:nvPr/>
        </p:nvSpPr>
        <p:spPr>
          <a:xfrm>
            <a:off x="262996" y="4042488"/>
            <a:ext cx="3786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in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811635" y="4042488"/>
                <a:ext cx="109055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sz="2000" dirty="0" smtClean="0">
                    <a:solidFill>
                      <a:schemeClr val="accent5">
                        <a:lumMod val="75000"/>
                      </a:schemeClr>
                    </a:solidFill>
                  </a:rPr>
                  <a:t>expr</a:t>
                </a:r>
                <a:endParaRPr lang="en-US" sz="20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635" y="4042488"/>
                <a:ext cx="1090555" cy="400110"/>
              </a:xfrm>
              <a:prstGeom prst="rect">
                <a:avLst/>
              </a:prstGeom>
              <a:blipFill>
                <a:blip r:embed="rId4"/>
                <a:stretch>
                  <a:fillRect t="-7576" r="-5587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/>
          <p:cNvSpPr txBox="1"/>
          <p:nvPr/>
        </p:nvSpPr>
        <p:spPr>
          <a:xfrm>
            <a:off x="1931082" y="4042488"/>
            <a:ext cx="17318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filter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</a:rPr>
              <a:t>expr </a:t>
            </a:r>
            <a:r>
              <a:rPr lang="en-US" sz="2000" dirty="0" err="1" smtClean="0">
                <a:solidFill>
                  <a:schemeClr val="accent5">
                    <a:lumMod val="75000"/>
                  </a:schemeClr>
                </a:solidFill>
              </a:rPr>
              <a:t>expr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084079" y="4042488"/>
            <a:ext cx="16916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map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</a:rPr>
              <a:t>expr </a:t>
            </a:r>
            <a:r>
              <a:rPr lang="en-US" sz="2000" dirty="0" err="1" smtClean="0">
                <a:solidFill>
                  <a:schemeClr val="accent5">
                    <a:lumMod val="75000"/>
                  </a:schemeClr>
                </a:solidFill>
              </a:rPr>
              <a:t>expr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279389" y="4042488"/>
            <a:ext cx="2151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fold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</a:rPr>
              <a:t>expr </a:t>
            </a:r>
            <a:r>
              <a:rPr lang="en-US" sz="2000" dirty="0" err="1" smtClean="0">
                <a:solidFill>
                  <a:schemeClr val="accent5">
                    <a:lumMod val="75000"/>
                  </a:schemeClr>
                </a:solidFill>
              </a:rPr>
              <a:t>expr</a:t>
            </a: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000" dirty="0" err="1" smtClean="0">
                <a:solidFill>
                  <a:schemeClr val="accent5">
                    <a:lumMod val="75000"/>
                  </a:schemeClr>
                </a:solidFill>
              </a:rPr>
              <a:t>expr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727593" y="4042488"/>
            <a:ext cx="1107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 smtClean="0">
                <a:solidFill>
                  <a:schemeClr val="accent1"/>
                </a:solidFill>
              </a:rPr>
              <a:t>boolExpr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235861" y="4042488"/>
            <a:ext cx="11384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 smtClean="0">
                <a:solidFill>
                  <a:schemeClr val="accent1"/>
                </a:solidFill>
              </a:rPr>
              <a:t>arithExpr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39" name="Oval 38"/>
          <p:cNvSpPr/>
          <p:nvPr/>
        </p:nvSpPr>
        <p:spPr>
          <a:xfrm>
            <a:off x="4886453" y="2992946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cxnSp>
        <p:nvCxnSpPr>
          <p:cNvPr id="40" name="Straight Arrow Connector 39"/>
          <p:cNvCxnSpPr>
            <a:stCxn id="39" idx="4"/>
            <a:endCxn id="30" idx="0"/>
          </p:cNvCxnSpPr>
          <p:nvPr/>
        </p:nvCxnSpPr>
        <p:spPr>
          <a:xfrm flipH="1">
            <a:off x="1356913" y="3038665"/>
            <a:ext cx="3552400" cy="1003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39" idx="4"/>
            <a:endCxn id="34" idx="0"/>
          </p:cNvCxnSpPr>
          <p:nvPr/>
        </p:nvCxnSpPr>
        <p:spPr>
          <a:xfrm flipH="1">
            <a:off x="2796993" y="3038665"/>
            <a:ext cx="2112320" cy="1003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39" idx="4"/>
            <a:endCxn id="35" idx="0"/>
          </p:cNvCxnSpPr>
          <p:nvPr/>
        </p:nvCxnSpPr>
        <p:spPr>
          <a:xfrm>
            <a:off x="4909313" y="3038665"/>
            <a:ext cx="20607" cy="1003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39" idx="4"/>
            <a:endCxn id="36" idx="0"/>
          </p:cNvCxnSpPr>
          <p:nvPr/>
        </p:nvCxnSpPr>
        <p:spPr>
          <a:xfrm>
            <a:off x="4909313" y="3038665"/>
            <a:ext cx="2446044" cy="1003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39" idx="4"/>
            <a:endCxn id="37" idx="0"/>
          </p:cNvCxnSpPr>
          <p:nvPr/>
        </p:nvCxnSpPr>
        <p:spPr>
          <a:xfrm>
            <a:off x="4909313" y="3038665"/>
            <a:ext cx="4372278" cy="1003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9" idx="4"/>
            <a:endCxn id="38" idx="0"/>
          </p:cNvCxnSpPr>
          <p:nvPr/>
        </p:nvCxnSpPr>
        <p:spPr>
          <a:xfrm>
            <a:off x="4909313" y="3038665"/>
            <a:ext cx="5895775" cy="1003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39" idx="4"/>
            <a:endCxn id="27" idx="0"/>
          </p:cNvCxnSpPr>
          <p:nvPr/>
        </p:nvCxnSpPr>
        <p:spPr>
          <a:xfrm flipH="1">
            <a:off x="452311" y="3038665"/>
            <a:ext cx="4457002" cy="1003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ross 46"/>
          <p:cNvSpPr/>
          <p:nvPr/>
        </p:nvSpPr>
        <p:spPr>
          <a:xfrm rot="18888170">
            <a:off x="293270" y="4083955"/>
            <a:ext cx="339326" cy="341906"/>
          </a:xfrm>
          <a:prstGeom prst="plus">
            <a:avLst>
              <a:gd name="adj" fmla="val 43872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9" name="Cross 48"/>
          <p:cNvSpPr/>
          <p:nvPr/>
        </p:nvSpPr>
        <p:spPr>
          <a:xfrm rot="18888170">
            <a:off x="9059472" y="4083262"/>
            <a:ext cx="339326" cy="341906"/>
          </a:xfrm>
          <a:prstGeom prst="plus">
            <a:avLst>
              <a:gd name="adj" fmla="val 43872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0" name="Cross 49"/>
          <p:cNvSpPr/>
          <p:nvPr/>
        </p:nvSpPr>
        <p:spPr>
          <a:xfrm rot="18888170">
            <a:off x="10526384" y="4083263"/>
            <a:ext cx="339326" cy="341906"/>
          </a:xfrm>
          <a:prstGeom prst="plus">
            <a:avLst>
              <a:gd name="adj" fmla="val 43872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5" name="Freeform 14"/>
          <p:cNvSpPr/>
          <p:nvPr/>
        </p:nvSpPr>
        <p:spPr>
          <a:xfrm>
            <a:off x="686139" y="2474520"/>
            <a:ext cx="7936476" cy="2119909"/>
          </a:xfrm>
          <a:custGeom>
            <a:avLst/>
            <a:gdLst>
              <a:gd name="connsiteX0" fmla="*/ 417089 w 8163631"/>
              <a:gd name="connsiteY0" fmla="*/ 2020824 h 2075619"/>
              <a:gd name="connsiteX1" fmla="*/ 5657094 w 8163631"/>
              <a:gd name="connsiteY1" fmla="*/ 2070103 h 2075619"/>
              <a:gd name="connsiteX2" fmla="*/ 7376385 w 8163631"/>
              <a:gd name="connsiteY2" fmla="*/ 2026299 h 2075619"/>
              <a:gd name="connsiteX3" fmla="*/ 7995110 w 8163631"/>
              <a:gd name="connsiteY3" fmla="*/ 1922266 h 2075619"/>
              <a:gd name="connsiteX4" fmla="*/ 8033439 w 8163631"/>
              <a:gd name="connsiteY4" fmla="*/ 1653969 h 2075619"/>
              <a:gd name="connsiteX5" fmla="*/ 7354483 w 8163631"/>
              <a:gd name="connsiteY5" fmla="*/ 1506131 h 2075619"/>
              <a:gd name="connsiteX6" fmla="*/ 6845266 w 8163631"/>
              <a:gd name="connsiteY6" fmla="*/ 1352819 h 2075619"/>
              <a:gd name="connsiteX7" fmla="*/ 6034900 w 8163631"/>
              <a:gd name="connsiteY7" fmla="*/ 745044 h 2075619"/>
              <a:gd name="connsiteX8" fmla="*/ 7327106 w 8163631"/>
              <a:gd name="connsiteY8" fmla="*/ 723142 h 2075619"/>
              <a:gd name="connsiteX9" fmla="*/ 8099144 w 8163631"/>
              <a:gd name="connsiteY9" fmla="*/ 504124 h 2075619"/>
              <a:gd name="connsiteX10" fmla="*/ 7984160 w 8163631"/>
              <a:gd name="connsiteY10" fmla="*/ 120843 h 2075619"/>
              <a:gd name="connsiteX11" fmla="*/ 6900021 w 8163631"/>
              <a:gd name="connsiteY11" fmla="*/ 383 h 2075619"/>
              <a:gd name="connsiteX12" fmla="*/ 5903489 w 8163631"/>
              <a:gd name="connsiteY12" fmla="*/ 115367 h 2075619"/>
              <a:gd name="connsiteX13" fmla="*/ 5602339 w 8163631"/>
              <a:gd name="connsiteY13" fmla="*/ 739569 h 2075619"/>
              <a:gd name="connsiteX14" fmla="*/ 5147877 w 8163631"/>
              <a:gd name="connsiteY14" fmla="*/ 1347343 h 2075619"/>
              <a:gd name="connsiteX15" fmla="*/ 3466914 w 8163631"/>
              <a:gd name="connsiteY15" fmla="*/ 1478754 h 2075619"/>
              <a:gd name="connsiteX16" fmla="*/ 1440998 w 8163631"/>
              <a:gd name="connsiteY16" fmla="*/ 1445902 h 2075619"/>
              <a:gd name="connsiteX17" fmla="*/ 1583360 w 8163631"/>
              <a:gd name="connsiteY17" fmla="*/ 964062 h 2075619"/>
              <a:gd name="connsiteX18" fmla="*/ 2289692 w 8163631"/>
              <a:gd name="connsiteY18" fmla="*/ 635535 h 2075619"/>
              <a:gd name="connsiteX19" fmla="*/ 3045304 w 8163631"/>
              <a:gd name="connsiteY19" fmla="*/ 575305 h 2075619"/>
              <a:gd name="connsiteX20" fmla="*/ 3362880 w 8163631"/>
              <a:gd name="connsiteY20" fmla="*/ 350812 h 2075619"/>
              <a:gd name="connsiteX21" fmla="*/ 3198617 w 8163631"/>
              <a:gd name="connsiteY21" fmla="*/ 115367 h 2075619"/>
              <a:gd name="connsiteX22" fmla="*/ 2667498 w 8163631"/>
              <a:gd name="connsiteY22" fmla="*/ 66088 h 2075619"/>
              <a:gd name="connsiteX23" fmla="*/ 1922837 w 8163631"/>
              <a:gd name="connsiteY23" fmla="*/ 77039 h 2075619"/>
              <a:gd name="connsiteX24" fmla="*/ 1451949 w 8163631"/>
              <a:gd name="connsiteY24" fmla="*/ 274155 h 2075619"/>
              <a:gd name="connsiteX25" fmla="*/ 1309587 w 8163631"/>
              <a:gd name="connsiteY25" fmla="*/ 909308 h 2075619"/>
              <a:gd name="connsiteX26" fmla="*/ 794895 w 8163631"/>
              <a:gd name="connsiteY26" fmla="*/ 1418524 h 2075619"/>
              <a:gd name="connsiteX27" fmla="*/ 378761 w 8163631"/>
              <a:gd name="connsiteY27" fmla="*/ 1588263 h 2075619"/>
              <a:gd name="connsiteX28" fmla="*/ 417089 w 8163631"/>
              <a:gd name="connsiteY28" fmla="*/ 2020824 h 2075619"/>
              <a:gd name="connsiteX0" fmla="*/ 410443 w 8156985"/>
              <a:gd name="connsiteY0" fmla="*/ 2020824 h 2075619"/>
              <a:gd name="connsiteX1" fmla="*/ 5650448 w 8156985"/>
              <a:gd name="connsiteY1" fmla="*/ 2070103 h 2075619"/>
              <a:gd name="connsiteX2" fmla="*/ 7369739 w 8156985"/>
              <a:gd name="connsiteY2" fmla="*/ 2026299 h 2075619"/>
              <a:gd name="connsiteX3" fmla="*/ 7988464 w 8156985"/>
              <a:gd name="connsiteY3" fmla="*/ 1922266 h 2075619"/>
              <a:gd name="connsiteX4" fmla="*/ 8026793 w 8156985"/>
              <a:gd name="connsiteY4" fmla="*/ 1653969 h 2075619"/>
              <a:gd name="connsiteX5" fmla="*/ 7347837 w 8156985"/>
              <a:gd name="connsiteY5" fmla="*/ 1506131 h 2075619"/>
              <a:gd name="connsiteX6" fmla="*/ 6838620 w 8156985"/>
              <a:gd name="connsiteY6" fmla="*/ 1352819 h 2075619"/>
              <a:gd name="connsiteX7" fmla="*/ 6028254 w 8156985"/>
              <a:gd name="connsiteY7" fmla="*/ 745044 h 2075619"/>
              <a:gd name="connsiteX8" fmla="*/ 7320460 w 8156985"/>
              <a:gd name="connsiteY8" fmla="*/ 723142 h 2075619"/>
              <a:gd name="connsiteX9" fmla="*/ 8092498 w 8156985"/>
              <a:gd name="connsiteY9" fmla="*/ 504124 h 2075619"/>
              <a:gd name="connsiteX10" fmla="*/ 7977514 w 8156985"/>
              <a:gd name="connsiteY10" fmla="*/ 120843 h 2075619"/>
              <a:gd name="connsiteX11" fmla="*/ 6893375 w 8156985"/>
              <a:gd name="connsiteY11" fmla="*/ 383 h 2075619"/>
              <a:gd name="connsiteX12" fmla="*/ 5896843 w 8156985"/>
              <a:gd name="connsiteY12" fmla="*/ 115367 h 2075619"/>
              <a:gd name="connsiteX13" fmla="*/ 5595693 w 8156985"/>
              <a:gd name="connsiteY13" fmla="*/ 739569 h 2075619"/>
              <a:gd name="connsiteX14" fmla="*/ 5141231 w 8156985"/>
              <a:gd name="connsiteY14" fmla="*/ 1347343 h 2075619"/>
              <a:gd name="connsiteX15" fmla="*/ 3460268 w 8156985"/>
              <a:gd name="connsiteY15" fmla="*/ 1478754 h 2075619"/>
              <a:gd name="connsiteX16" fmla="*/ 1434352 w 8156985"/>
              <a:gd name="connsiteY16" fmla="*/ 1445902 h 2075619"/>
              <a:gd name="connsiteX17" fmla="*/ 1576714 w 8156985"/>
              <a:gd name="connsiteY17" fmla="*/ 964062 h 2075619"/>
              <a:gd name="connsiteX18" fmla="*/ 2283046 w 8156985"/>
              <a:gd name="connsiteY18" fmla="*/ 635535 h 2075619"/>
              <a:gd name="connsiteX19" fmla="*/ 3038658 w 8156985"/>
              <a:gd name="connsiteY19" fmla="*/ 575305 h 2075619"/>
              <a:gd name="connsiteX20" fmla="*/ 3356234 w 8156985"/>
              <a:gd name="connsiteY20" fmla="*/ 350812 h 2075619"/>
              <a:gd name="connsiteX21" fmla="*/ 3191971 w 8156985"/>
              <a:gd name="connsiteY21" fmla="*/ 115367 h 2075619"/>
              <a:gd name="connsiteX22" fmla="*/ 2660852 w 8156985"/>
              <a:gd name="connsiteY22" fmla="*/ 66088 h 2075619"/>
              <a:gd name="connsiteX23" fmla="*/ 1916191 w 8156985"/>
              <a:gd name="connsiteY23" fmla="*/ 77039 h 2075619"/>
              <a:gd name="connsiteX24" fmla="*/ 1445303 w 8156985"/>
              <a:gd name="connsiteY24" fmla="*/ 274155 h 2075619"/>
              <a:gd name="connsiteX25" fmla="*/ 1302941 w 8156985"/>
              <a:gd name="connsiteY25" fmla="*/ 909308 h 2075619"/>
              <a:gd name="connsiteX26" fmla="*/ 788249 w 8156985"/>
              <a:gd name="connsiteY26" fmla="*/ 1418524 h 2075619"/>
              <a:gd name="connsiteX27" fmla="*/ 372115 w 8156985"/>
              <a:gd name="connsiteY27" fmla="*/ 1588263 h 2075619"/>
              <a:gd name="connsiteX28" fmla="*/ 410443 w 8156985"/>
              <a:gd name="connsiteY28" fmla="*/ 2020824 h 2075619"/>
              <a:gd name="connsiteX0" fmla="*/ 202140 w 7948682"/>
              <a:gd name="connsiteY0" fmla="*/ 2020824 h 2119909"/>
              <a:gd name="connsiteX1" fmla="*/ 5442145 w 7948682"/>
              <a:gd name="connsiteY1" fmla="*/ 2070103 h 2119909"/>
              <a:gd name="connsiteX2" fmla="*/ 7161436 w 7948682"/>
              <a:gd name="connsiteY2" fmla="*/ 2026299 h 2119909"/>
              <a:gd name="connsiteX3" fmla="*/ 7780161 w 7948682"/>
              <a:gd name="connsiteY3" fmla="*/ 1922266 h 2119909"/>
              <a:gd name="connsiteX4" fmla="*/ 7818490 w 7948682"/>
              <a:gd name="connsiteY4" fmla="*/ 1653969 h 2119909"/>
              <a:gd name="connsiteX5" fmla="*/ 7139534 w 7948682"/>
              <a:gd name="connsiteY5" fmla="*/ 1506131 h 2119909"/>
              <a:gd name="connsiteX6" fmla="*/ 6630317 w 7948682"/>
              <a:gd name="connsiteY6" fmla="*/ 1352819 h 2119909"/>
              <a:gd name="connsiteX7" fmla="*/ 5819951 w 7948682"/>
              <a:gd name="connsiteY7" fmla="*/ 745044 h 2119909"/>
              <a:gd name="connsiteX8" fmla="*/ 7112157 w 7948682"/>
              <a:gd name="connsiteY8" fmla="*/ 723142 h 2119909"/>
              <a:gd name="connsiteX9" fmla="*/ 7884195 w 7948682"/>
              <a:gd name="connsiteY9" fmla="*/ 504124 h 2119909"/>
              <a:gd name="connsiteX10" fmla="*/ 7769211 w 7948682"/>
              <a:gd name="connsiteY10" fmla="*/ 120843 h 2119909"/>
              <a:gd name="connsiteX11" fmla="*/ 6685072 w 7948682"/>
              <a:gd name="connsiteY11" fmla="*/ 383 h 2119909"/>
              <a:gd name="connsiteX12" fmla="*/ 5688540 w 7948682"/>
              <a:gd name="connsiteY12" fmla="*/ 115367 h 2119909"/>
              <a:gd name="connsiteX13" fmla="*/ 5387390 w 7948682"/>
              <a:gd name="connsiteY13" fmla="*/ 739569 h 2119909"/>
              <a:gd name="connsiteX14" fmla="*/ 4932928 w 7948682"/>
              <a:gd name="connsiteY14" fmla="*/ 1347343 h 2119909"/>
              <a:gd name="connsiteX15" fmla="*/ 3251965 w 7948682"/>
              <a:gd name="connsiteY15" fmla="*/ 1478754 h 2119909"/>
              <a:gd name="connsiteX16" fmla="*/ 1226049 w 7948682"/>
              <a:gd name="connsiteY16" fmla="*/ 1445902 h 2119909"/>
              <a:gd name="connsiteX17" fmla="*/ 1368411 w 7948682"/>
              <a:gd name="connsiteY17" fmla="*/ 964062 h 2119909"/>
              <a:gd name="connsiteX18" fmla="*/ 2074743 w 7948682"/>
              <a:gd name="connsiteY18" fmla="*/ 635535 h 2119909"/>
              <a:gd name="connsiteX19" fmla="*/ 2830355 w 7948682"/>
              <a:gd name="connsiteY19" fmla="*/ 575305 h 2119909"/>
              <a:gd name="connsiteX20" fmla="*/ 3147931 w 7948682"/>
              <a:gd name="connsiteY20" fmla="*/ 350812 h 2119909"/>
              <a:gd name="connsiteX21" fmla="*/ 2983668 w 7948682"/>
              <a:gd name="connsiteY21" fmla="*/ 115367 h 2119909"/>
              <a:gd name="connsiteX22" fmla="*/ 2452549 w 7948682"/>
              <a:gd name="connsiteY22" fmla="*/ 66088 h 2119909"/>
              <a:gd name="connsiteX23" fmla="*/ 1707888 w 7948682"/>
              <a:gd name="connsiteY23" fmla="*/ 77039 h 2119909"/>
              <a:gd name="connsiteX24" fmla="*/ 1237000 w 7948682"/>
              <a:gd name="connsiteY24" fmla="*/ 274155 h 2119909"/>
              <a:gd name="connsiteX25" fmla="*/ 1094638 w 7948682"/>
              <a:gd name="connsiteY25" fmla="*/ 909308 h 2119909"/>
              <a:gd name="connsiteX26" fmla="*/ 579946 w 7948682"/>
              <a:gd name="connsiteY26" fmla="*/ 1418524 h 2119909"/>
              <a:gd name="connsiteX27" fmla="*/ 163812 w 7948682"/>
              <a:gd name="connsiteY27" fmla="*/ 1588263 h 2119909"/>
              <a:gd name="connsiteX28" fmla="*/ 202140 w 7948682"/>
              <a:gd name="connsiteY28" fmla="*/ 2020824 h 2119909"/>
              <a:gd name="connsiteX0" fmla="*/ 170908 w 7917450"/>
              <a:gd name="connsiteY0" fmla="*/ 2020824 h 2119909"/>
              <a:gd name="connsiteX1" fmla="*/ 5410913 w 7917450"/>
              <a:gd name="connsiteY1" fmla="*/ 2070103 h 2119909"/>
              <a:gd name="connsiteX2" fmla="*/ 7130204 w 7917450"/>
              <a:gd name="connsiteY2" fmla="*/ 2026299 h 2119909"/>
              <a:gd name="connsiteX3" fmla="*/ 7748929 w 7917450"/>
              <a:gd name="connsiteY3" fmla="*/ 1922266 h 2119909"/>
              <a:gd name="connsiteX4" fmla="*/ 7787258 w 7917450"/>
              <a:gd name="connsiteY4" fmla="*/ 1653969 h 2119909"/>
              <a:gd name="connsiteX5" fmla="*/ 7108302 w 7917450"/>
              <a:gd name="connsiteY5" fmla="*/ 1506131 h 2119909"/>
              <a:gd name="connsiteX6" fmla="*/ 6599085 w 7917450"/>
              <a:gd name="connsiteY6" fmla="*/ 1352819 h 2119909"/>
              <a:gd name="connsiteX7" fmla="*/ 5788719 w 7917450"/>
              <a:gd name="connsiteY7" fmla="*/ 745044 h 2119909"/>
              <a:gd name="connsiteX8" fmla="*/ 7080925 w 7917450"/>
              <a:gd name="connsiteY8" fmla="*/ 723142 h 2119909"/>
              <a:gd name="connsiteX9" fmla="*/ 7852963 w 7917450"/>
              <a:gd name="connsiteY9" fmla="*/ 504124 h 2119909"/>
              <a:gd name="connsiteX10" fmla="*/ 7737979 w 7917450"/>
              <a:gd name="connsiteY10" fmla="*/ 120843 h 2119909"/>
              <a:gd name="connsiteX11" fmla="*/ 6653840 w 7917450"/>
              <a:gd name="connsiteY11" fmla="*/ 383 h 2119909"/>
              <a:gd name="connsiteX12" fmla="*/ 5657308 w 7917450"/>
              <a:gd name="connsiteY12" fmla="*/ 115367 h 2119909"/>
              <a:gd name="connsiteX13" fmla="*/ 5356158 w 7917450"/>
              <a:gd name="connsiteY13" fmla="*/ 739569 h 2119909"/>
              <a:gd name="connsiteX14" fmla="*/ 4901696 w 7917450"/>
              <a:gd name="connsiteY14" fmla="*/ 1347343 h 2119909"/>
              <a:gd name="connsiteX15" fmla="*/ 3220733 w 7917450"/>
              <a:gd name="connsiteY15" fmla="*/ 1478754 h 2119909"/>
              <a:gd name="connsiteX16" fmla="*/ 1194817 w 7917450"/>
              <a:gd name="connsiteY16" fmla="*/ 1445902 h 2119909"/>
              <a:gd name="connsiteX17" fmla="*/ 1337179 w 7917450"/>
              <a:gd name="connsiteY17" fmla="*/ 964062 h 2119909"/>
              <a:gd name="connsiteX18" fmla="*/ 2043511 w 7917450"/>
              <a:gd name="connsiteY18" fmla="*/ 635535 h 2119909"/>
              <a:gd name="connsiteX19" fmla="*/ 2799123 w 7917450"/>
              <a:gd name="connsiteY19" fmla="*/ 575305 h 2119909"/>
              <a:gd name="connsiteX20" fmla="*/ 3116699 w 7917450"/>
              <a:gd name="connsiteY20" fmla="*/ 350812 h 2119909"/>
              <a:gd name="connsiteX21" fmla="*/ 2952436 w 7917450"/>
              <a:gd name="connsiteY21" fmla="*/ 115367 h 2119909"/>
              <a:gd name="connsiteX22" fmla="*/ 2421317 w 7917450"/>
              <a:gd name="connsiteY22" fmla="*/ 66088 h 2119909"/>
              <a:gd name="connsiteX23" fmla="*/ 1676656 w 7917450"/>
              <a:gd name="connsiteY23" fmla="*/ 77039 h 2119909"/>
              <a:gd name="connsiteX24" fmla="*/ 1205768 w 7917450"/>
              <a:gd name="connsiteY24" fmla="*/ 274155 h 2119909"/>
              <a:gd name="connsiteX25" fmla="*/ 1063406 w 7917450"/>
              <a:gd name="connsiteY25" fmla="*/ 909308 h 2119909"/>
              <a:gd name="connsiteX26" fmla="*/ 548714 w 7917450"/>
              <a:gd name="connsiteY26" fmla="*/ 1418524 h 2119909"/>
              <a:gd name="connsiteX27" fmla="*/ 132580 w 7917450"/>
              <a:gd name="connsiteY27" fmla="*/ 1588263 h 2119909"/>
              <a:gd name="connsiteX28" fmla="*/ 170908 w 7917450"/>
              <a:gd name="connsiteY28" fmla="*/ 2020824 h 2119909"/>
              <a:gd name="connsiteX0" fmla="*/ 189934 w 7936476"/>
              <a:gd name="connsiteY0" fmla="*/ 2020824 h 2119909"/>
              <a:gd name="connsiteX1" fmla="*/ 5429939 w 7936476"/>
              <a:gd name="connsiteY1" fmla="*/ 2070103 h 2119909"/>
              <a:gd name="connsiteX2" fmla="*/ 7149230 w 7936476"/>
              <a:gd name="connsiteY2" fmla="*/ 2026299 h 2119909"/>
              <a:gd name="connsiteX3" fmla="*/ 7767955 w 7936476"/>
              <a:gd name="connsiteY3" fmla="*/ 1922266 h 2119909"/>
              <a:gd name="connsiteX4" fmla="*/ 7806284 w 7936476"/>
              <a:gd name="connsiteY4" fmla="*/ 1653969 h 2119909"/>
              <a:gd name="connsiteX5" fmla="*/ 7127328 w 7936476"/>
              <a:gd name="connsiteY5" fmla="*/ 1506131 h 2119909"/>
              <a:gd name="connsiteX6" fmla="*/ 6618111 w 7936476"/>
              <a:gd name="connsiteY6" fmla="*/ 1352819 h 2119909"/>
              <a:gd name="connsiteX7" fmla="*/ 5807745 w 7936476"/>
              <a:gd name="connsiteY7" fmla="*/ 745044 h 2119909"/>
              <a:gd name="connsiteX8" fmla="*/ 7099951 w 7936476"/>
              <a:gd name="connsiteY8" fmla="*/ 723142 h 2119909"/>
              <a:gd name="connsiteX9" fmla="*/ 7871989 w 7936476"/>
              <a:gd name="connsiteY9" fmla="*/ 504124 h 2119909"/>
              <a:gd name="connsiteX10" fmla="*/ 7757005 w 7936476"/>
              <a:gd name="connsiteY10" fmla="*/ 120843 h 2119909"/>
              <a:gd name="connsiteX11" fmla="*/ 6672866 w 7936476"/>
              <a:gd name="connsiteY11" fmla="*/ 383 h 2119909"/>
              <a:gd name="connsiteX12" fmla="*/ 5676334 w 7936476"/>
              <a:gd name="connsiteY12" fmla="*/ 115367 h 2119909"/>
              <a:gd name="connsiteX13" fmla="*/ 5375184 w 7936476"/>
              <a:gd name="connsiteY13" fmla="*/ 739569 h 2119909"/>
              <a:gd name="connsiteX14" fmla="*/ 4920722 w 7936476"/>
              <a:gd name="connsiteY14" fmla="*/ 1347343 h 2119909"/>
              <a:gd name="connsiteX15" fmla="*/ 3239759 w 7936476"/>
              <a:gd name="connsiteY15" fmla="*/ 1478754 h 2119909"/>
              <a:gd name="connsiteX16" fmla="*/ 1213843 w 7936476"/>
              <a:gd name="connsiteY16" fmla="*/ 1445902 h 2119909"/>
              <a:gd name="connsiteX17" fmla="*/ 1356205 w 7936476"/>
              <a:gd name="connsiteY17" fmla="*/ 964062 h 2119909"/>
              <a:gd name="connsiteX18" fmla="*/ 2062537 w 7936476"/>
              <a:gd name="connsiteY18" fmla="*/ 635535 h 2119909"/>
              <a:gd name="connsiteX19" fmla="*/ 2818149 w 7936476"/>
              <a:gd name="connsiteY19" fmla="*/ 575305 h 2119909"/>
              <a:gd name="connsiteX20" fmla="*/ 3135725 w 7936476"/>
              <a:gd name="connsiteY20" fmla="*/ 350812 h 2119909"/>
              <a:gd name="connsiteX21" fmla="*/ 2971462 w 7936476"/>
              <a:gd name="connsiteY21" fmla="*/ 115367 h 2119909"/>
              <a:gd name="connsiteX22" fmla="*/ 2440343 w 7936476"/>
              <a:gd name="connsiteY22" fmla="*/ 66088 h 2119909"/>
              <a:gd name="connsiteX23" fmla="*/ 1695682 w 7936476"/>
              <a:gd name="connsiteY23" fmla="*/ 77039 h 2119909"/>
              <a:gd name="connsiteX24" fmla="*/ 1224794 w 7936476"/>
              <a:gd name="connsiteY24" fmla="*/ 274155 h 2119909"/>
              <a:gd name="connsiteX25" fmla="*/ 1082432 w 7936476"/>
              <a:gd name="connsiteY25" fmla="*/ 909308 h 2119909"/>
              <a:gd name="connsiteX26" fmla="*/ 567740 w 7936476"/>
              <a:gd name="connsiteY26" fmla="*/ 1418524 h 2119909"/>
              <a:gd name="connsiteX27" fmla="*/ 151606 w 7936476"/>
              <a:gd name="connsiteY27" fmla="*/ 1588263 h 2119909"/>
              <a:gd name="connsiteX28" fmla="*/ 189934 w 7936476"/>
              <a:gd name="connsiteY28" fmla="*/ 2020824 h 2119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936476" h="2119909">
                <a:moveTo>
                  <a:pt x="189934" y="2020824"/>
                </a:moveTo>
                <a:cubicBezTo>
                  <a:pt x="527586" y="2210640"/>
                  <a:pt x="4270056" y="2069191"/>
                  <a:pt x="5429939" y="2070103"/>
                </a:cubicBezTo>
                <a:cubicBezTo>
                  <a:pt x="6589822" y="2071016"/>
                  <a:pt x="6759561" y="2050938"/>
                  <a:pt x="7149230" y="2026299"/>
                </a:cubicBezTo>
                <a:cubicBezTo>
                  <a:pt x="7538899" y="2001660"/>
                  <a:pt x="7658446" y="1984321"/>
                  <a:pt x="7767955" y="1922266"/>
                </a:cubicBezTo>
                <a:cubicBezTo>
                  <a:pt x="7877464" y="1860211"/>
                  <a:pt x="7913055" y="1723325"/>
                  <a:pt x="7806284" y="1653969"/>
                </a:cubicBezTo>
                <a:cubicBezTo>
                  <a:pt x="7699513" y="1584613"/>
                  <a:pt x="7325357" y="1556323"/>
                  <a:pt x="7127328" y="1506131"/>
                </a:cubicBezTo>
                <a:cubicBezTo>
                  <a:pt x="6929299" y="1455939"/>
                  <a:pt x="6838041" y="1479667"/>
                  <a:pt x="6618111" y="1352819"/>
                </a:cubicBezTo>
                <a:cubicBezTo>
                  <a:pt x="6398181" y="1225971"/>
                  <a:pt x="5727438" y="849990"/>
                  <a:pt x="5807745" y="745044"/>
                </a:cubicBezTo>
                <a:cubicBezTo>
                  <a:pt x="5888052" y="640098"/>
                  <a:pt x="6755910" y="763295"/>
                  <a:pt x="7099951" y="723142"/>
                </a:cubicBezTo>
                <a:cubicBezTo>
                  <a:pt x="7443992" y="682989"/>
                  <a:pt x="7762480" y="604507"/>
                  <a:pt x="7871989" y="504124"/>
                </a:cubicBezTo>
                <a:cubicBezTo>
                  <a:pt x="7981498" y="403741"/>
                  <a:pt x="7956859" y="204800"/>
                  <a:pt x="7757005" y="120843"/>
                </a:cubicBezTo>
                <a:cubicBezTo>
                  <a:pt x="7557151" y="36886"/>
                  <a:pt x="7019644" y="1296"/>
                  <a:pt x="6672866" y="383"/>
                </a:cubicBezTo>
                <a:cubicBezTo>
                  <a:pt x="6326088" y="-530"/>
                  <a:pt x="5892614" y="-7831"/>
                  <a:pt x="5676334" y="115367"/>
                </a:cubicBezTo>
                <a:cubicBezTo>
                  <a:pt x="5460054" y="238565"/>
                  <a:pt x="5501119" y="534240"/>
                  <a:pt x="5375184" y="739569"/>
                </a:cubicBezTo>
                <a:cubicBezTo>
                  <a:pt x="5249249" y="944898"/>
                  <a:pt x="5276626" y="1224146"/>
                  <a:pt x="4920722" y="1347343"/>
                </a:cubicBezTo>
                <a:cubicBezTo>
                  <a:pt x="4564818" y="1470540"/>
                  <a:pt x="3857572" y="1462328"/>
                  <a:pt x="3239759" y="1478754"/>
                </a:cubicBezTo>
                <a:cubicBezTo>
                  <a:pt x="2621946" y="1495180"/>
                  <a:pt x="1527769" y="1531684"/>
                  <a:pt x="1213843" y="1445902"/>
                </a:cubicBezTo>
                <a:cubicBezTo>
                  <a:pt x="899917" y="1360120"/>
                  <a:pt x="1214756" y="1099123"/>
                  <a:pt x="1356205" y="964062"/>
                </a:cubicBezTo>
                <a:cubicBezTo>
                  <a:pt x="1497654" y="829001"/>
                  <a:pt x="1818880" y="700328"/>
                  <a:pt x="2062537" y="635535"/>
                </a:cubicBezTo>
                <a:cubicBezTo>
                  <a:pt x="2306194" y="570742"/>
                  <a:pt x="2639284" y="622759"/>
                  <a:pt x="2818149" y="575305"/>
                </a:cubicBezTo>
                <a:cubicBezTo>
                  <a:pt x="2997014" y="527851"/>
                  <a:pt x="3110173" y="427468"/>
                  <a:pt x="3135725" y="350812"/>
                </a:cubicBezTo>
                <a:cubicBezTo>
                  <a:pt x="3161277" y="274156"/>
                  <a:pt x="3087359" y="162821"/>
                  <a:pt x="2971462" y="115367"/>
                </a:cubicBezTo>
                <a:cubicBezTo>
                  <a:pt x="2855565" y="67913"/>
                  <a:pt x="2652973" y="72476"/>
                  <a:pt x="2440343" y="66088"/>
                </a:cubicBezTo>
                <a:cubicBezTo>
                  <a:pt x="2227713" y="59700"/>
                  <a:pt x="1898273" y="42361"/>
                  <a:pt x="1695682" y="77039"/>
                </a:cubicBezTo>
                <a:cubicBezTo>
                  <a:pt x="1493091" y="111717"/>
                  <a:pt x="1327002" y="135444"/>
                  <a:pt x="1224794" y="274155"/>
                </a:cubicBezTo>
                <a:cubicBezTo>
                  <a:pt x="1122586" y="412866"/>
                  <a:pt x="1191941" y="718580"/>
                  <a:pt x="1082432" y="909308"/>
                </a:cubicBezTo>
                <a:cubicBezTo>
                  <a:pt x="972923" y="1100036"/>
                  <a:pt x="722878" y="1305365"/>
                  <a:pt x="567740" y="1418524"/>
                </a:cubicBezTo>
                <a:cubicBezTo>
                  <a:pt x="412602" y="1531683"/>
                  <a:pt x="256553" y="1464153"/>
                  <a:pt x="151606" y="1588263"/>
                </a:cubicBezTo>
                <a:cubicBezTo>
                  <a:pt x="46659" y="1712373"/>
                  <a:pt x="-147718" y="1831008"/>
                  <a:pt x="189934" y="2020824"/>
                </a:cubicBezTo>
                <a:close/>
              </a:path>
            </a:pathLst>
          </a:cu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6176307" y="4922429"/>
            <a:ext cx="46287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accent2">
                    <a:lumMod val="50000"/>
                  </a:schemeClr>
                </a:solidFill>
              </a:rPr>
              <a:t>Wavefront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 of partially expanded programs that have not been rejected. </a:t>
            </a:r>
            <a:b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At each step there is a choice of which program to try to expand.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21" name="Straight Arrow Connector 20"/>
          <p:cNvCxnSpPr>
            <a:stCxn id="17" idx="1"/>
          </p:cNvCxnSpPr>
          <p:nvPr/>
        </p:nvCxnSpPr>
        <p:spPr>
          <a:xfrm flipH="1" flipV="1">
            <a:off x="5453547" y="4555574"/>
            <a:ext cx="722760" cy="96702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499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Symbolic Search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075742" y="1527072"/>
                <a:ext cx="24349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 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5742" y="1527072"/>
                <a:ext cx="2434962" cy="461665"/>
              </a:xfrm>
              <a:prstGeom prst="rect">
                <a:avLst/>
              </a:prstGeom>
              <a:blipFill>
                <a:blip r:embed="rId2"/>
                <a:stretch>
                  <a:fillRect b="-17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396568" y="2848693"/>
                <a:ext cx="5514908" cy="5091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 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∀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∧∀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6568" y="2848693"/>
                <a:ext cx="5514908" cy="5091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393650" y="4217828"/>
                <a:ext cx="8089779" cy="6450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 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∀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∧∀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∀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.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𝑖𝑛</m:t>
                                  </m:r>
                                </m:e>
                              </m:d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3650" y="4217828"/>
                <a:ext cx="8089779" cy="6450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/>
          <p:cNvCxnSpPr/>
          <p:nvPr/>
        </p:nvCxnSpPr>
        <p:spPr>
          <a:xfrm flipV="1">
            <a:off x="3489651" y="2720000"/>
            <a:ext cx="5145132" cy="766564"/>
          </a:xfrm>
          <a:prstGeom prst="line">
            <a:avLst/>
          </a:prstGeom>
          <a:ln w="57150">
            <a:solidFill>
              <a:srgbClr val="CD0909">
                <a:alpha val="80000"/>
              </a:srgb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5286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Symbolic Search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114918" y="1910353"/>
                <a:ext cx="24349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 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918" y="1910353"/>
                <a:ext cx="2434962" cy="461665"/>
              </a:xfrm>
              <a:prstGeom prst="rect">
                <a:avLst/>
              </a:prstGeom>
              <a:blipFill>
                <a:blip r:embed="rId2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own Arrow 2"/>
          <p:cNvSpPr/>
          <p:nvPr/>
        </p:nvSpPr>
        <p:spPr>
          <a:xfrm>
            <a:off x="1938167" y="2567986"/>
            <a:ext cx="788465" cy="750136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48807" y="4440589"/>
                <a:ext cx="376718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More permissive, allows all correct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 smtClean="0"/>
                  <a:t>, </a:t>
                </a:r>
                <a:br>
                  <a:rPr lang="en-US" dirty="0" smtClean="0"/>
                </a:br>
                <a:r>
                  <a:rPr lang="en-US" dirty="0" smtClean="0"/>
                  <a:t>but also some incorrect ones.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807" y="4440589"/>
                <a:ext cx="3767185" cy="646331"/>
              </a:xfrm>
              <a:prstGeom prst="rect">
                <a:avLst/>
              </a:prstGeom>
              <a:blipFill>
                <a:blip r:embed="rId3"/>
                <a:stretch>
                  <a:fillRect l="-1456" t="-4717" r="-324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831059" y="3557550"/>
                <a:ext cx="300268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 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059" y="3557550"/>
                <a:ext cx="3002681" cy="461665"/>
              </a:xfrm>
              <a:prstGeom prst="rect">
                <a:avLst/>
              </a:prstGeom>
              <a:blipFill>
                <a:blip r:embed="rId4"/>
                <a:stretch>
                  <a:fillRect b="-17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201165" y="1910353"/>
                <a:ext cx="5195974" cy="5091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∀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∀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′,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e>
                          </m:d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1165" y="1910353"/>
                <a:ext cx="5195974" cy="5091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Down Arrow 11"/>
          <p:cNvSpPr/>
          <p:nvPr/>
        </p:nvSpPr>
        <p:spPr>
          <a:xfrm>
            <a:off x="8404920" y="2606311"/>
            <a:ext cx="788465" cy="750136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144212" y="5327601"/>
                <a:ext cx="330988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∀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4212" y="5327601"/>
                <a:ext cx="3309880" cy="461665"/>
              </a:xfrm>
              <a:prstGeom prst="rect">
                <a:avLst/>
              </a:prstGeom>
              <a:blipFill>
                <a:blip r:embed="rId6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Down Arrow 18"/>
          <p:cNvSpPr/>
          <p:nvPr/>
        </p:nvSpPr>
        <p:spPr>
          <a:xfrm>
            <a:off x="8404920" y="4336784"/>
            <a:ext cx="788465" cy="750136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915767" y="3575175"/>
                <a:ext cx="5766771" cy="5091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∀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∀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′,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e>
                          </m:d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5767" y="3575175"/>
                <a:ext cx="5766771" cy="50917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848137" y="6029947"/>
                <a:ext cx="390203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Works if we can ensure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 smtClean="0"/>
                  <a:t> only contains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 smtClean="0"/>
                  <a:t> that satisfy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</m:t>
                        </m:r>
                      </m:e>
                    </m:d>
                  </m:oMath>
                </a14:m>
                <a:r>
                  <a:rPr lang="en-US" dirty="0" smtClean="0"/>
                  <a:t> </a:t>
                </a: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8137" y="6029947"/>
                <a:ext cx="3902030" cy="646331"/>
              </a:xfrm>
              <a:prstGeom prst="rect">
                <a:avLst/>
              </a:prstGeom>
              <a:blipFill>
                <a:blip r:embed="rId8"/>
                <a:stretch>
                  <a:fillRect l="-1250" t="-4717" r="-625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0943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Symbolic Search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114918" y="1910353"/>
                <a:ext cx="24349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 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918" y="1910353"/>
                <a:ext cx="2434962" cy="461665"/>
              </a:xfrm>
              <a:prstGeom prst="rect">
                <a:avLst/>
              </a:prstGeom>
              <a:blipFill>
                <a:blip r:embed="rId2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own Arrow 2"/>
          <p:cNvSpPr/>
          <p:nvPr/>
        </p:nvSpPr>
        <p:spPr>
          <a:xfrm>
            <a:off x="1938167" y="2567986"/>
            <a:ext cx="788465" cy="750136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48807" y="4440589"/>
                <a:ext cx="376718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More permissive, allows all correct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 smtClean="0"/>
                  <a:t>, </a:t>
                </a:r>
                <a:br>
                  <a:rPr lang="en-US" dirty="0" smtClean="0"/>
                </a:br>
                <a:r>
                  <a:rPr lang="en-US" dirty="0" smtClean="0"/>
                  <a:t>but also some incorrect ones.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807" y="4440589"/>
                <a:ext cx="3767185" cy="646331"/>
              </a:xfrm>
              <a:prstGeom prst="rect">
                <a:avLst/>
              </a:prstGeom>
              <a:blipFill>
                <a:blip r:embed="rId3"/>
                <a:stretch>
                  <a:fillRect l="-1456" t="-4717" r="-324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831059" y="3557550"/>
                <a:ext cx="300268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 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059" y="3557550"/>
                <a:ext cx="3002681" cy="461665"/>
              </a:xfrm>
              <a:prstGeom prst="rect">
                <a:avLst/>
              </a:prstGeom>
              <a:blipFill>
                <a:blip r:embed="rId4"/>
                <a:stretch>
                  <a:fillRect b="-17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201165" y="1368284"/>
                <a:ext cx="5195974" cy="5091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∀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∀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′,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e>
                          </m:d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1165" y="1368284"/>
                <a:ext cx="5195974" cy="5091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Down Arrow 11"/>
          <p:cNvSpPr/>
          <p:nvPr/>
        </p:nvSpPr>
        <p:spPr>
          <a:xfrm>
            <a:off x="8404920" y="2064242"/>
            <a:ext cx="788465" cy="750136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144212" y="4785532"/>
                <a:ext cx="330988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∀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4212" y="4785532"/>
                <a:ext cx="3309880" cy="461665"/>
              </a:xfrm>
              <a:prstGeom prst="rect">
                <a:avLst/>
              </a:prstGeom>
              <a:blipFill>
                <a:blip r:embed="rId6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Down Arrow 18"/>
          <p:cNvSpPr/>
          <p:nvPr/>
        </p:nvSpPr>
        <p:spPr>
          <a:xfrm>
            <a:off x="8404920" y="3794715"/>
            <a:ext cx="788465" cy="750136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915767" y="3033106"/>
                <a:ext cx="5766771" cy="5091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∀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∀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′,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e>
                          </m:d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5767" y="3033106"/>
                <a:ext cx="5766771" cy="50917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9355892" y="3585203"/>
                <a:ext cx="267914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Works if we can ensure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 smtClean="0"/>
                  <a:t> only contains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 smtClean="0"/>
                  <a:t> that satisfy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</m:t>
                        </m:r>
                      </m:e>
                    </m:d>
                  </m:oMath>
                </a14:m>
                <a:r>
                  <a:rPr lang="en-US" dirty="0" smtClean="0"/>
                  <a:t> </a:t>
                </a: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5892" y="3585203"/>
                <a:ext cx="2679145" cy="1200329"/>
              </a:xfrm>
              <a:prstGeom prst="rect">
                <a:avLst/>
              </a:prstGeom>
              <a:blipFill>
                <a:blip r:embed="rId8"/>
                <a:stretch>
                  <a:fillRect l="-2050" t="-2538" b="-4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7230908" y="6163785"/>
                <a:ext cx="3008965" cy="653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0908" y="6163785"/>
                <a:ext cx="3008965" cy="653320"/>
              </a:xfrm>
              <a:prstGeom prst="rect">
                <a:avLst/>
              </a:prstGeom>
              <a:blipFill>
                <a:blip r:embed="rId9"/>
                <a:stretch>
                  <a:fillRect b="-5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Down Arrow 14"/>
          <p:cNvSpPr/>
          <p:nvPr/>
        </p:nvSpPr>
        <p:spPr>
          <a:xfrm>
            <a:off x="8404919" y="5370112"/>
            <a:ext cx="788465" cy="750136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269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Extended CEGIS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 descr=" 147"/>
              <p:cNvSpPr txBox="1"/>
              <p:nvPr/>
            </p:nvSpPr>
            <p:spPr>
              <a:xfrm>
                <a:off x="2919535" y="5038650"/>
                <a:ext cx="103150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{</m:t>
                      </m:r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𝒊</m:t>
                      </m:r>
                      <m:sSub>
                        <m:sSubPr>
                          <m:ctrlP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𝒏</m:t>
                          </m:r>
                        </m:e>
                        <m:sub>
                          <m: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</m:sSub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sz="28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47" name="TextBox 146" descr=" 1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9535" y="5038650"/>
                <a:ext cx="1031501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Group 54" descr=" 10"/>
          <p:cNvGrpSpPr/>
          <p:nvPr/>
        </p:nvGrpSpPr>
        <p:grpSpPr>
          <a:xfrm>
            <a:off x="1550922" y="2287961"/>
            <a:ext cx="8933103" cy="3358153"/>
            <a:chOff x="76200" y="3306394"/>
            <a:chExt cx="8933103" cy="3358153"/>
          </a:xfrm>
        </p:grpSpPr>
        <p:sp>
          <p:nvSpPr>
            <p:cNvPr id="56" name="Rounded Rectangle 55"/>
            <p:cNvSpPr/>
            <p:nvPr/>
          </p:nvSpPr>
          <p:spPr>
            <a:xfrm>
              <a:off x="5240577" y="3505200"/>
              <a:ext cx="3768726" cy="1600200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1491551" y="6008563"/>
              <a:ext cx="938025" cy="655984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76200" y="3306394"/>
              <a:ext cx="3768726" cy="2215153"/>
            </a:xfrm>
            <a:prstGeom prst="roundRect">
              <a:avLst/>
            </a:prstGeom>
            <a:solidFill>
              <a:srgbClr val="207E73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Arrow Connector 58"/>
            <p:cNvCxnSpPr>
              <a:stCxn id="58" idx="3"/>
            </p:cNvCxnSpPr>
            <p:nvPr/>
          </p:nvCxnSpPr>
          <p:spPr>
            <a:xfrm>
              <a:off x="3844926" y="4413971"/>
              <a:ext cx="1395651" cy="5700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1108407" y="3429000"/>
              <a:ext cx="170431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FF99"/>
                  </a:solidFill>
                  <a:latin typeface="+mj-lt"/>
                </a:rPr>
                <a:t>Synthesize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575751" y="3667347"/>
              <a:ext cx="109837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FF99"/>
                  </a:solidFill>
                  <a:latin typeface="+mj-lt"/>
                </a:rPr>
                <a:t>Check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4301339" y="3886200"/>
                  <a:ext cx="591829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dirty="0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𝝓</m:t>
                        </m:r>
                      </m:oMath>
                    </m:oMathPara>
                  </a14:m>
                  <a:endParaRPr lang="en-US" sz="3200" dirty="0">
                    <a:solidFill>
                      <a:schemeClr val="accent3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2" name="TextBox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1339" y="3886200"/>
                  <a:ext cx="591829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Elbow Connector 62"/>
            <p:cNvCxnSpPr>
              <a:stCxn id="56" idx="2"/>
            </p:cNvCxnSpPr>
            <p:nvPr/>
          </p:nvCxnSpPr>
          <p:spPr>
            <a:xfrm rot="5400000">
              <a:off x="4193980" y="3387734"/>
              <a:ext cx="1213294" cy="4648626"/>
            </a:xfrm>
            <a:prstGeom prst="bentConnector2">
              <a:avLst/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4" name="Elbow Connector 63"/>
            <p:cNvCxnSpPr>
              <a:stCxn id="57" idx="0"/>
              <a:endCxn id="58" idx="2"/>
            </p:cNvCxnSpPr>
            <p:nvPr/>
          </p:nvCxnSpPr>
          <p:spPr>
            <a:xfrm rot="16200000" flipV="1">
              <a:off x="1717056" y="5765054"/>
              <a:ext cx="487016" cy="1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/>
                <p:cNvSpPr txBox="1"/>
                <p:nvPr/>
              </p:nvSpPr>
              <p:spPr>
                <a:xfrm>
                  <a:off x="4258579" y="5750147"/>
                  <a:ext cx="69442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/>
                          </a:rPr>
                          <m:t>𝒊𝒏</m:t>
                        </m:r>
                      </m:oMath>
                    </m:oMathPara>
                  </a14:m>
                  <a:endParaRPr lang="en-US" sz="3200" dirty="0">
                    <a:solidFill>
                      <a:schemeClr val="accent3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5" name="TextBox 1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8579" y="5750147"/>
                  <a:ext cx="694421" cy="584775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 descr=" 148"/>
              <p:cNvSpPr txBox="1"/>
              <p:nvPr/>
            </p:nvSpPr>
            <p:spPr>
              <a:xfrm>
                <a:off x="1663829" y="2999405"/>
                <a:ext cx="152952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8" name="TextBox 67" descr="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829" y="2999405"/>
                <a:ext cx="1529521" cy="453137"/>
              </a:xfrm>
              <a:prstGeom prst="rect">
                <a:avLst/>
              </a:prstGeom>
              <a:blipFill>
                <a:blip r:embed="rId6"/>
                <a:stretch>
                  <a:fillRect l="-2789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3790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Extended CEGIS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 descr=" 147"/>
              <p:cNvSpPr txBox="1"/>
              <p:nvPr/>
            </p:nvSpPr>
            <p:spPr>
              <a:xfrm>
                <a:off x="2919535" y="5038650"/>
                <a:ext cx="103150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{</m:t>
                      </m:r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𝒊</m:t>
                      </m:r>
                      <m:sSub>
                        <m:sSubPr>
                          <m:ctrlP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𝒏</m:t>
                          </m:r>
                        </m:e>
                        <m:sub>
                          <m: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</m:sSub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sz="28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47" name="TextBox 146" descr=" 1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9535" y="5038650"/>
                <a:ext cx="1031501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Group 54" descr=" 10"/>
          <p:cNvGrpSpPr/>
          <p:nvPr/>
        </p:nvGrpSpPr>
        <p:grpSpPr>
          <a:xfrm>
            <a:off x="1550922" y="2287961"/>
            <a:ext cx="8933103" cy="3358153"/>
            <a:chOff x="76200" y="3306394"/>
            <a:chExt cx="8933103" cy="3358153"/>
          </a:xfrm>
        </p:grpSpPr>
        <p:sp>
          <p:nvSpPr>
            <p:cNvPr id="56" name="Rounded Rectangle 55"/>
            <p:cNvSpPr/>
            <p:nvPr/>
          </p:nvSpPr>
          <p:spPr>
            <a:xfrm>
              <a:off x="5240577" y="3505200"/>
              <a:ext cx="3768726" cy="1600200"/>
            </a:xfrm>
            <a:prstGeom prst="roundRect">
              <a:avLst/>
            </a:prstGeom>
            <a:solidFill>
              <a:srgbClr val="207E73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1491551" y="6008563"/>
              <a:ext cx="938025" cy="655984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76200" y="3306394"/>
              <a:ext cx="3768726" cy="2215153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Arrow Connector 58"/>
            <p:cNvCxnSpPr>
              <a:stCxn id="58" idx="3"/>
            </p:cNvCxnSpPr>
            <p:nvPr/>
          </p:nvCxnSpPr>
          <p:spPr>
            <a:xfrm>
              <a:off x="3844926" y="4413971"/>
              <a:ext cx="1395651" cy="5700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1108407" y="3429000"/>
              <a:ext cx="170431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FF99"/>
                  </a:solidFill>
                  <a:latin typeface="+mj-lt"/>
                </a:rPr>
                <a:t>Synthesize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575751" y="3667347"/>
              <a:ext cx="109837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FF99"/>
                  </a:solidFill>
                  <a:latin typeface="+mj-lt"/>
                </a:rPr>
                <a:t>Check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4301339" y="3886200"/>
                  <a:ext cx="591829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dirty="0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𝝓</m:t>
                        </m:r>
                      </m:oMath>
                    </m:oMathPara>
                  </a14:m>
                  <a:endParaRPr lang="en-US" sz="3200" dirty="0">
                    <a:solidFill>
                      <a:schemeClr val="accent3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2" name="TextBox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1339" y="3886200"/>
                  <a:ext cx="591829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Elbow Connector 62"/>
            <p:cNvCxnSpPr>
              <a:stCxn id="56" idx="2"/>
            </p:cNvCxnSpPr>
            <p:nvPr/>
          </p:nvCxnSpPr>
          <p:spPr>
            <a:xfrm rot="5400000">
              <a:off x="4193980" y="3387734"/>
              <a:ext cx="1213294" cy="4648626"/>
            </a:xfrm>
            <a:prstGeom prst="bentConnector2">
              <a:avLst/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4" name="Elbow Connector 63"/>
            <p:cNvCxnSpPr>
              <a:stCxn id="57" idx="0"/>
              <a:endCxn id="58" idx="2"/>
            </p:cNvCxnSpPr>
            <p:nvPr/>
          </p:nvCxnSpPr>
          <p:spPr>
            <a:xfrm rot="16200000" flipV="1">
              <a:off x="1717056" y="5765054"/>
              <a:ext cx="487016" cy="1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/>
                <p:cNvSpPr txBox="1"/>
                <p:nvPr/>
              </p:nvSpPr>
              <p:spPr>
                <a:xfrm>
                  <a:off x="4258579" y="5750147"/>
                  <a:ext cx="69442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/>
                          </a:rPr>
                          <m:t>𝒊𝒏</m:t>
                        </m:r>
                      </m:oMath>
                    </m:oMathPara>
                  </a14:m>
                  <a:endParaRPr lang="en-US" sz="3200" dirty="0">
                    <a:solidFill>
                      <a:schemeClr val="accent3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5" name="TextBox 1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8579" y="5750147"/>
                  <a:ext cx="694421" cy="584775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 descr=" 148"/>
              <p:cNvSpPr txBox="1"/>
              <p:nvPr/>
            </p:nvSpPr>
            <p:spPr>
              <a:xfrm>
                <a:off x="1663829" y="2999405"/>
                <a:ext cx="152952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8" name="TextBox 67" descr="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829" y="2999405"/>
                <a:ext cx="1529521" cy="453137"/>
              </a:xfrm>
              <a:prstGeom prst="rect">
                <a:avLst/>
              </a:prstGeom>
              <a:blipFill>
                <a:blip r:embed="rId6"/>
                <a:stretch>
                  <a:fillRect l="-2789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 descr=" 156"/>
              <p:cNvSpPr txBox="1"/>
              <p:nvPr/>
            </p:nvSpPr>
            <p:spPr>
              <a:xfrm>
                <a:off x="7720286" y="3160154"/>
                <a:ext cx="175875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/>
                      </a:rPr>
                      <m:t>¬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6" name="TextBox 15" descr=" 1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0286" y="3160154"/>
                <a:ext cx="1758751" cy="453137"/>
              </a:xfrm>
              <a:prstGeom prst="rect">
                <a:avLst/>
              </a:prstGeom>
              <a:blipFill>
                <a:blip r:embed="rId7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9113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Extended CEGIS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 descr=" 147"/>
              <p:cNvSpPr txBox="1"/>
              <p:nvPr/>
            </p:nvSpPr>
            <p:spPr>
              <a:xfrm>
                <a:off x="2919535" y="5038650"/>
                <a:ext cx="103150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{</m:t>
                      </m:r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𝒊</m:t>
                      </m:r>
                      <m:sSub>
                        <m:sSubPr>
                          <m:ctrlP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𝒏</m:t>
                          </m:r>
                        </m:e>
                        <m:sub>
                          <m: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</m:sSub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sz="28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47" name="TextBox 146" descr=" 1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9535" y="5038650"/>
                <a:ext cx="1031501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Group 54" descr=" 10"/>
          <p:cNvGrpSpPr/>
          <p:nvPr/>
        </p:nvGrpSpPr>
        <p:grpSpPr>
          <a:xfrm>
            <a:off x="1550922" y="2287961"/>
            <a:ext cx="8933103" cy="3358153"/>
            <a:chOff x="76200" y="3306394"/>
            <a:chExt cx="8933103" cy="3358153"/>
          </a:xfrm>
        </p:grpSpPr>
        <p:sp>
          <p:nvSpPr>
            <p:cNvPr id="56" name="Rounded Rectangle 55"/>
            <p:cNvSpPr/>
            <p:nvPr/>
          </p:nvSpPr>
          <p:spPr>
            <a:xfrm>
              <a:off x="5240577" y="3505200"/>
              <a:ext cx="3768726" cy="1600200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1491551" y="6008563"/>
              <a:ext cx="938025" cy="655984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76200" y="3306394"/>
              <a:ext cx="3768726" cy="2215153"/>
            </a:xfrm>
            <a:prstGeom prst="roundRect">
              <a:avLst/>
            </a:prstGeom>
            <a:solidFill>
              <a:srgbClr val="207E73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Arrow Connector 58"/>
            <p:cNvCxnSpPr>
              <a:stCxn id="58" idx="3"/>
            </p:cNvCxnSpPr>
            <p:nvPr/>
          </p:nvCxnSpPr>
          <p:spPr>
            <a:xfrm>
              <a:off x="3844926" y="4413971"/>
              <a:ext cx="1395651" cy="5700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1108407" y="3429000"/>
              <a:ext cx="170431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FF99"/>
                  </a:solidFill>
                  <a:latin typeface="+mj-lt"/>
                </a:rPr>
                <a:t>Synthesize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575751" y="3667347"/>
              <a:ext cx="109837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FF99"/>
                  </a:solidFill>
                  <a:latin typeface="+mj-lt"/>
                </a:rPr>
                <a:t>Check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4301339" y="3886200"/>
                  <a:ext cx="591829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dirty="0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𝝓</m:t>
                        </m:r>
                      </m:oMath>
                    </m:oMathPara>
                  </a14:m>
                  <a:endParaRPr lang="en-US" sz="3200" dirty="0">
                    <a:solidFill>
                      <a:schemeClr val="accent3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2" name="TextBox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1339" y="3886200"/>
                  <a:ext cx="591829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Elbow Connector 62"/>
            <p:cNvCxnSpPr>
              <a:stCxn id="56" idx="2"/>
            </p:cNvCxnSpPr>
            <p:nvPr/>
          </p:nvCxnSpPr>
          <p:spPr>
            <a:xfrm rot="5400000">
              <a:off x="4193980" y="3387734"/>
              <a:ext cx="1213294" cy="4648626"/>
            </a:xfrm>
            <a:prstGeom prst="bentConnector2">
              <a:avLst/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4" name="Elbow Connector 63"/>
            <p:cNvCxnSpPr>
              <a:stCxn id="57" idx="0"/>
              <a:endCxn id="58" idx="2"/>
            </p:cNvCxnSpPr>
            <p:nvPr/>
          </p:nvCxnSpPr>
          <p:spPr>
            <a:xfrm rot="16200000" flipV="1">
              <a:off x="1717056" y="5765054"/>
              <a:ext cx="487016" cy="1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/>
                <p:cNvSpPr txBox="1"/>
                <p:nvPr/>
              </p:nvSpPr>
              <p:spPr>
                <a:xfrm>
                  <a:off x="4258579" y="5750147"/>
                  <a:ext cx="69442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/>
                          </a:rPr>
                          <m:t>𝒊𝒏</m:t>
                        </m:r>
                      </m:oMath>
                    </m:oMathPara>
                  </a14:m>
                  <a:endParaRPr lang="en-US" sz="3200" dirty="0">
                    <a:solidFill>
                      <a:schemeClr val="accent3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5" name="TextBox 1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8579" y="5750147"/>
                  <a:ext cx="694421" cy="584775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 descr=" 148"/>
              <p:cNvSpPr txBox="1"/>
              <p:nvPr/>
            </p:nvSpPr>
            <p:spPr>
              <a:xfrm>
                <a:off x="1663829" y="2999405"/>
                <a:ext cx="152952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8" name="TextBox 67" descr="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829" y="2999405"/>
                <a:ext cx="1529521" cy="453137"/>
              </a:xfrm>
              <a:prstGeom prst="rect">
                <a:avLst/>
              </a:prstGeom>
              <a:blipFill>
                <a:blip r:embed="rId6"/>
                <a:stretch>
                  <a:fillRect l="-2789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 descr=" 148"/>
              <p:cNvSpPr txBox="1"/>
              <p:nvPr/>
            </p:nvSpPr>
            <p:spPr>
              <a:xfrm>
                <a:off x="3306257" y="3016186"/>
                <a:ext cx="152952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7" name="TextBox 16" descr="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6257" y="3016186"/>
                <a:ext cx="1529521" cy="453137"/>
              </a:xfrm>
              <a:prstGeom prst="rect">
                <a:avLst/>
              </a:prstGeom>
              <a:blipFill>
                <a:blip r:embed="rId7"/>
                <a:stretch>
                  <a:fillRect l="-2789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2552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Extended CEGIS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 descr=" 147"/>
              <p:cNvSpPr txBox="1"/>
              <p:nvPr/>
            </p:nvSpPr>
            <p:spPr>
              <a:xfrm>
                <a:off x="2919535" y="5038650"/>
                <a:ext cx="103150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{</m:t>
                      </m:r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𝒊</m:t>
                      </m:r>
                      <m:sSub>
                        <m:sSubPr>
                          <m:ctrlP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𝒏</m:t>
                          </m:r>
                        </m:e>
                        <m:sub>
                          <m: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</m:sSub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sz="28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47" name="TextBox 146" descr=" 1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9535" y="5038650"/>
                <a:ext cx="1031501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Group 54" descr=" 10"/>
          <p:cNvGrpSpPr/>
          <p:nvPr/>
        </p:nvGrpSpPr>
        <p:grpSpPr>
          <a:xfrm>
            <a:off x="1550922" y="2287961"/>
            <a:ext cx="8933103" cy="3358153"/>
            <a:chOff x="76200" y="3306394"/>
            <a:chExt cx="8933103" cy="3358153"/>
          </a:xfrm>
        </p:grpSpPr>
        <p:sp>
          <p:nvSpPr>
            <p:cNvPr id="56" name="Rounded Rectangle 55"/>
            <p:cNvSpPr/>
            <p:nvPr/>
          </p:nvSpPr>
          <p:spPr>
            <a:xfrm>
              <a:off x="5240577" y="3505200"/>
              <a:ext cx="3768726" cy="1600200"/>
            </a:xfrm>
            <a:prstGeom prst="roundRect">
              <a:avLst/>
            </a:prstGeom>
            <a:solidFill>
              <a:srgbClr val="207E73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1491551" y="6008563"/>
              <a:ext cx="938025" cy="655984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76200" y="3306394"/>
              <a:ext cx="3768726" cy="2215153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Arrow Connector 58"/>
            <p:cNvCxnSpPr>
              <a:stCxn id="58" idx="3"/>
            </p:cNvCxnSpPr>
            <p:nvPr/>
          </p:nvCxnSpPr>
          <p:spPr>
            <a:xfrm>
              <a:off x="3844926" y="4413971"/>
              <a:ext cx="1395651" cy="5700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1108407" y="3429000"/>
              <a:ext cx="170431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FF99"/>
                  </a:solidFill>
                  <a:latin typeface="+mj-lt"/>
                </a:rPr>
                <a:t>Synthesize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575751" y="3667347"/>
              <a:ext cx="109837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FF99"/>
                  </a:solidFill>
                  <a:latin typeface="+mj-lt"/>
                </a:rPr>
                <a:t>Check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4301339" y="3886200"/>
                  <a:ext cx="591829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dirty="0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𝝓</m:t>
                        </m:r>
                      </m:oMath>
                    </m:oMathPara>
                  </a14:m>
                  <a:endParaRPr lang="en-US" sz="3200" dirty="0">
                    <a:solidFill>
                      <a:schemeClr val="accent3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2" name="TextBox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1339" y="3886200"/>
                  <a:ext cx="591829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Elbow Connector 62"/>
            <p:cNvCxnSpPr>
              <a:stCxn id="56" idx="2"/>
            </p:cNvCxnSpPr>
            <p:nvPr/>
          </p:nvCxnSpPr>
          <p:spPr>
            <a:xfrm rot="5400000">
              <a:off x="4193980" y="3387734"/>
              <a:ext cx="1213294" cy="4648626"/>
            </a:xfrm>
            <a:prstGeom prst="bentConnector2">
              <a:avLst/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4" name="Elbow Connector 63"/>
            <p:cNvCxnSpPr>
              <a:stCxn id="57" idx="0"/>
              <a:endCxn id="58" idx="2"/>
            </p:cNvCxnSpPr>
            <p:nvPr/>
          </p:nvCxnSpPr>
          <p:spPr>
            <a:xfrm rot="16200000" flipV="1">
              <a:off x="1717056" y="5765054"/>
              <a:ext cx="487016" cy="1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/>
                <p:cNvSpPr txBox="1"/>
                <p:nvPr/>
              </p:nvSpPr>
              <p:spPr>
                <a:xfrm>
                  <a:off x="4258579" y="5750147"/>
                  <a:ext cx="69442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/>
                          </a:rPr>
                          <m:t>𝒊𝒏</m:t>
                        </m:r>
                      </m:oMath>
                    </m:oMathPara>
                  </a14:m>
                  <a:endParaRPr lang="en-US" sz="3200" dirty="0">
                    <a:solidFill>
                      <a:schemeClr val="accent3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5" name="TextBox 1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8579" y="5750147"/>
                  <a:ext cx="694421" cy="584775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 descr=" 148"/>
              <p:cNvSpPr txBox="1"/>
              <p:nvPr/>
            </p:nvSpPr>
            <p:spPr>
              <a:xfrm>
                <a:off x="1663829" y="2999405"/>
                <a:ext cx="152952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8" name="TextBox 67" descr="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829" y="2999405"/>
                <a:ext cx="1529521" cy="453137"/>
              </a:xfrm>
              <a:prstGeom prst="rect">
                <a:avLst/>
              </a:prstGeom>
              <a:blipFill>
                <a:blip r:embed="rId6"/>
                <a:stretch>
                  <a:fillRect l="-2789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 descr=" 156"/>
              <p:cNvSpPr txBox="1"/>
              <p:nvPr/>
            </p:nvSpPr>
            <p:spPr>
              <a:xfrm>
                <a:off x="7720286" y="3160154"/>
                <a:ext cx="175875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/>
                      </a:rPr>
                      <m:t>¬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6" name="TextBox 15" descr=" 1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0286" y="3160154"/>
                <a:ext cx="1758751" cy="453137"/>
              </a:xfrm>
              <a:prstGeom prst="rect">
                <a:avLst/>
              </a:prstGeom>
              <a:blipFill>
                <a:blip r:embed="rId7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 descr=" 148"/>
              <p:cNvSpPr txBox="1"/>
              <p:nvPr/>
            </p:nvSpPr>
            <p:spPr>
              <a:xfrm>
                <a:off x="3306257" y="3016186"/>
                <a:ext cx="152952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7" name="TextBox 16" descr="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6257" y="3016186"/>
                <a:ext cx="1529521" cy="453137"/>
              </a:xfrm>
              <a:prstGeom prst="rect">
                <a:avLst/>
              </a:prstGeom>
              <a:blipFill>
                <a:blip r:embed="rId8"/>
                <a:stretch>
                  <a:fillRect l="-2789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7750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Extended CEGIS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 descr=" 147"/>
              <p:cNvSpPr txBox="1"/>
              <p:nvPr/>
            </p:nvSpPr>
            <p:spPr>
              <a:xfrm>
                <a:off x="2919535" y="5038650"/>
                <a:ext cx="103150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{</m:t>
                      </m:r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𝒊</m:t>
                      </m:r>
                      <m:sSub>
                        <m:sSubPr>
                          <m:ctrlP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𝒏</m:t>
                          </m:r>
                        </m:e>
                        <m:sub>
                          <m: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</m:sSub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sz="28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47" name="TextBox 146" descr=" 1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9535" y="5038650"/>
                <a:ext cx="1031501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Group 54" descr=" 10"/>
          <p:cNvGrpSpPr/>
          <p:nvPr/>
        </p:nvGrpSpPr>
        <p:grpSpPr>
          <a:xfrm>
            <a:off x="1550922" y="2287961"/>
            <a:ext cx="8933103" cy="3358153"/>
            <a:chOff x="76200" y="3306394"/>
            <a:chExt cx="8933103" cy="3358153"/>
          </a:xfrm>
        </p:grpSpPr>
        <p:sp>
          <p:nvSpPr>
            <p:cNvPr id="56" name="Rounded Rectangle 55"/>
            <p:cNvSpPr/>
            <p:nvPr/>
          </p:nvSpPr>
          <p:spPr>
            <a:xfrm>
              <a:off x="5240577" y="3505200"/>
              <a:ext cx="3768726" cy="1600200"/>
            </a:xfrm>
            <a:prstGeom prst="roundRect">
              <a:avLst/>
            </a:prstGeom>
            <a:solidFill>
              <a:srgbClr val="207E73"/>
            </a:solidFill>
            <a:ln w="9525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1491551" y="6008563"/>
              <a:ext cx="938025" cy="655984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76200" y="3306394"/>
              <a:ext cx="3768726" cy="2215153"/>
            </a:xfrm>
            <a:prstGeom prst="roundRect">
              <a:avLst/>
            </a:prstGeom>
            <a:solidFill>
              <a:srgbClr val="207E73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Arrow Connector 58"/>
            <p:cNvCxnSpPr>
              <a:stCxn id="58" idx="3"/>
            </p:cNvCxnSpPr>
            <p:nvPr/>
          </p:nvCxnSpPr>
          <p:spPr>
            <a:xfrm>
              <a:off x="3844926" y="4413971"/>
              <a:ext cx="1395651" cy="5700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1108407" y="3429000"/>
              <a:ext cx="170431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FF99"/>
                  </a:solidFill>
                  <a:latin typeface="+mj-lt"/>
                </a:rPr>
                <a:t>Synthesize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575751" y="3667347"/>
              <a:ext cx="109837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FF99"/>
                  </a:solidFill>
                  <a:latin typeface="+mj-lt"/>
                </a:rPr>
                <a:t>Check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4301339" y="3886200"/>
                  <a:ext cx="591829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dirty="0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𝝓</m:t>
                        </m:r>
                      </m:oMath>
                    </m:oMathPara>
                  </a14:m>
                  <a:endParaRPr lang="en-US" sz="3200" dirty="0">
                    <a:solidFill>
                      <a:schemeClr val="accent3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2" name="TextBox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1339" y="3886200"/>
                  <a:ext cx="591829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Elbow Connector 62"/>
            <p:cNvCxnSpPr>
              <a:stCxn id="56" idx="2"/>
            </p:cNvCxnSpPr>
            <p:nvPr/>
          </p:nvCxnSpPr>
          <p:spPr>
            <a:xfrm rot="5400000">
              <a:off x="4193980" y="3387734"/>
              <a:ext cx="1213294" cy="4648626"/>
            </a:xfrm>
            <a:prstGeom prst="bentConnector2">
              <a:avLst/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4" name="Elbow Connector 63"/>
            <p:cNvCxnSpPr>
              <a:stCxn id="57" idx="0"/>
              <a:endCxn id="58" idx="2"/>
            </p:cNvCxnSpPr>
            <p:nvPr/>
          </p:nvCxnSpPr>
          <p:spPr>
            <a:xfrm rot="16200000" flipV="1">
              <a:off x="1717056" y="5765054"/>
              <a:ext cx="487016" cy="1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/>
                <p:cNvSpPr txBox="1"/>
                <p:nvPr/>
              </p:nvSpPr>
              <p:spPr>
                <a:xfrm>
                  <a:off x="4258579" y="5750147"/>
                  <a:ext cx="69442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/>
                          </a:rPr>
                          <m:t>𝒊𝒏</m:t>
                        </m:r>
                      </m:oMath>
                    </m:oMathPara>
                  </a14:m>
                  <a:endParaRPr lang="en-US" sz="3200" dirty="0">
                    <a:solidFill>
                      <a:schemeClr val="accent3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5" name="TextBox 1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8579" y="5750147"/>
                  <a:ext cx="694421" cy="584775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 descr=" 148"/>
              <p:cNvSpPr txBox="1"/>
              <p:nvPr/>
            </p:nvSpPr>
            <p:spPr>
              <a:xfrm>
                <a:off x="1663829" y="2999405"/>
                <a:ext cx="152952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8" name="TextBox 67" descr="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829" y="2999405"/>
                <a:ext cx="1529521" cy="453137"/>
              </a:xfrm>
              <a:prstGeom prst="rect">
                <a:avLst/>
              </a:prstGeom>
              <a:blipFill>
                <a:blip r:embed="rId6"/>
                <a:stretch>
                  <a:fillRect l="-2789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 descr=" 156"/>
              <p:cNvSpPr txBox="1"/>
              <p:nvPr/>
            </p:nvSpPr>
            <p:spPr>
              <a:xfrm>
                <a:off x="7720286" y="3160154"/>
                <a:ext cx="175875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/>
                      </a:rPr>
                      <m:t>¬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6" name="TextBox 15" descr=" 1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0286" y="3160154"/>
                <a:ext cx="1758751" cy="453137"/>
              </a:xfrm>
              <a:prstGeom prst="rect">
                <a:avLst/>
              </a:prstGeom>
              <a:blipFill>
                <a:blip r:embed="rId7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 descr=" 148"/>
              <p:cNvSpPr txBox="1"/>
              <p:nvPr/>
            </p:nvSpPr>
            <p:spPr>
              <a:xfrm>
                <a:off x="3306257" y="3016186"/>
                <a:ext cx="152952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7" name="TextBox 16" descr="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6257" y="3016186"/>
                <a:ext cx="1529521" cy="453137"/>
              </a:xfrm>
              <a:prstGeom prst="rect">
                <a:avLst/>
              </a:prstGeom>
              <a:blipFill>
                <a:blip r:embed="rId8"/>
                <a:stretch>
                  <a:fillRect l="-2789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/>
          <p:cNvCxnSpPr>
            <a:endCxn id="6" idx="0"/>
          </p:cNvCxnSpPr>
          <p:nvPr/>
        </p:nvCxnSpPr>
        <p:spPr>
          <a:xfrm>
            <a:off x="9479037" y="4086967"/>
            <a:ext cx="0" cy="1369994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06669" y="4265376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UNSAT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8710466" y="5456961"/>
                <a:ext cx="1537141" cy="72823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𝑏𝑒𝑠𝑡𝑃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𝑏𝑒𝑠𝑡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0466" y="5456961"/>
                <a:ext cx="1537141" cy="728235"/>
              </a:xfrm>
              <a:prstGeom prst="roundRect">
                <a:avLst/>
              </a:prstGeom>
              <a:blipFill>
                <a:blip r:embed="rId9"/>
                <a:stretch>
                  <a:fillRect l="-35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Elbow Connector 22"/>
          <p:cNvCxnSpPr>
            <a:stCxn id="6" idx="1"/>
            <a:endCxn id="11" idx="4"/>
          </p:cNvCxnSpPr>
          <p:nvPr/>
        </p:nvCxnSpPr>
        <p:spPr>
          <a:xfrm rot="10800000">
            <a:off x="2079812" y="4537875"/>
            <a:ext cx="6630654" cy="1283205"/>
          </a:xfrm>
          <a:prstGeom prst="bentConnector2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043953" y="4492155"/>
            <a:ext cx="71718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 descr=" 148"/>
              <p:cNvSpPr txBox="1"/>
              <p:nvPr/>
            </p:nvSpPr>
            <p:spPr>
              <a:xfrm>
                <a:off x="2167452" y="3616787"/>
                <a:ext cx="227761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𝑏𝑒𝑠𝑡𝑃</m:t>
                      </m:r>
                      <m:r>
                        <a:rPr lang="en-US" sz="2400" b="1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&lt; </m:t>
                      </m:r>
                      <m:r>
                        <a:rPr lang="en-US" sz="2400" b="1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2400" b="1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𝝓</m:t>
                      </m:r>
                      <m:r>
                        <a:rPr lang="en-US" sz="2400" b="1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9" name="TextBox 28" descr="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452" y="3616787"/>
                <a:ext cx="2277610" cy="461665"/>
              </a:xfrm>
              <a:prstGeom prst="rect">
                <a:avLst/>
              </a:prstGeom>
              <a:blipFill>
                <a:blip r:embed="rId10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8528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Arrow Connector 23"/>
          <p:cNvCxnSpPr>
            <a:endCxn id="3" idx="0"/>
          </p:cNvCxnSpPr>
          <p:nvPr/>
        </p:nvCxnSpPr>
        <p:spPr>
          <a:xfrm>
            <a:off x="1691342" y="4380753"/>
            <a:ext cx="8994" cy="1706570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 descr="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Extended CEGIS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 descr=" 147"/>
              <p:cNvSpPr txBox="1"/>
              <p:nvPr/>
            </p:nvSpPr>
            <p:spPr>
              <a:xfrm>
                <a:off x="2919535" y="5038650"/>
                <a:ext cx="103150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{</m:t>
                      </m:r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𝒊</m:t>
                      </m:r>
                      <m:sSub>
                        <m:sSubPr>
                          <m:ctrlP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𝒏</m:t>
                          </m:r>
                        </m:e>
                        <m:sub>
                          <m: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</m:sSub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sz="28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47" name="TextBox 146" descr=" 1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9535" y="5038650"/>
                <a:ext cx="1031501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Group 54" descr=" 10"/>
          <p:cNvGrpSpPr/>
          <p:nvPr/>
        </p:nvGrpSpPr>
        <p:grpSpPr>
          <a:xfrm>
            <a:off x="1550922" y="2287961"/>
            <a:ext cx="8933103" cy="3358153"/>
            <a:chOff x="76200" y="3306394"/>
            <a:chExt cx="8933103" cy="3358153"/>
          </a:xfrm>
        </p:grpSpPr>
        <p:sp>
          <p:nvSpPr>
            <p:cNvPr id="56" name="Rounded Rectangle 55"/>
            <p:cNvSpPr/>
            <p:nvPr/>
          </p:nvSpPr>
          <p:spPr>
            <a:xfrm>
              <a:off x="5240577" y="3505200"/>
              <a:ext cx="3768726" cy="1600200"/>
            </a:xfrm>
            <a:prstGeom prst="roundRect">
              <a:avLst/>
            </a:prstGeom>
            <a:solidFill>
              <a:srgbClr val="207E73"/>
            </a:solidFill>
            <a:ln w="9525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1491551" y="6008563"/>
              <a:ext cx="938025" cy="655984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76200" y="3306394"/>
              <a:ext cx="3768726" cy="2215153"/>
            </a:xfrm>
            <a:prstGeom prst="roundRect">
              <a:avLst/>
            </a:prstGeom>
            <a:solidFill>
              <a:srgbClr val="207E73"/>
            </a:solidFill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Arrow Connector 58"/>
            <p:cNvCxnSpPr>
              <a:stCxn id="58" idx="3"/>
            </p:cNvCxnSpPr>
            <p:nvPr/>
          </p:nvCxnSpPr>
          <p:spPr>
            <a:xfrm>
              <a:off x="3844926" y="4413971"/>
              <a:ext cx="1395651" cy="5700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1108407" y="3429000"/>
              <a:ext cx="170431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FF99"/>
                  </a:solidFill>
                  <a:latin typeface="+mj-lt"/>
                </a:rPr>
                <a:t>Synthesize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575751" y="3667347"/>
              <a:ext cx="109837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FF99"/>
                  </a:solidFill>
                  <a:latin typeface="+mj-lt"/>
                </a:rPr>
                <a:t>Check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4301339" y="3886200"/>
                  <a:ext cx="591829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dirty="0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𝝓</m:t>
                        </m:r>
                      </m:oMath>
                    </m:oMathPara>
                  </a14:m>
                  <a:endParaRPr lang="en-US" sz="3200" dirty="0">
                    <a:solidFill>
                      <a:schemeClr val="accent3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2" name="TextBox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1339" y="3886200"/>
                  <a:ext cx="591829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Elbow Connector 62"/>
            <p:cNvCxnSpPr>
              <a:stCxn id="56" idx="2"/>
            </p:cNvCxnSpPr>
            <p:nvPr/>
          </p:nvCxnSpPr>
          <p:spPr>
            <a:xfrm rot="5400000">
              <a:off x="4193980" y="3387734"/>
              <a:ext cx="1213294" cy="4648626"/>
            </a:xfrm>
            <a:prstGeom prst="bentConnector2">
              <a:avLst/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4" name="Elbow Connector 63"/>
            <p:cNvCxnSpPr>
              <a:stCxn id="57" idx="0"/>
              <a:endCxn id="58" idx="2"/>
            </p:cNvCxnSpPr>
            <p:nvPr/>
          </p:nvCxnSpPr>
          <p:spPr>
            <a:xfrm rot="16200000" flipV="1">
              <a:off x="1717056" y="5765054"/>
              <a:ext cx="487016" cy="1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/>
                <p:cNvSpPr txBox="1"/>
                <p:nvPr/>
              </p:nvSpPr>
              <p:spPr>
                <a:xfrm>
                  <a:off x="4258579" y="5750147"/>
                  <a:ext cx="69442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/>
                          </a:rPr>
                          <m:t>𝒊𝒏</m:t>
                        </m:r>
                      </m:oMath>
                    </m:oMathPara>
                  </a14:m>
                  <a:endParaRPr lang="en-US" sz="3200" dirty="0">
                    <a:solidFill>
                      <a:schemeClr val="accent3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5" name="TextBox 1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8579" y="5750147"/>
                  <a:ext cx="694421" cy="584775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 descr=" 148"/>
              <p:cNvSpPr txBox="1"/>
              <p:nvPr/>
            </p:nvSpPr>
            <p:spPr>
              <a:xfrm>
                <a:off x="1663829" y="2999405"/>
                <a:ext cx="152952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8" name="TextBox 67" descr="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829" y="2999405"/>
                <a:ext cx="1529521" cy="453137"/>
              </a:xfrm>
              <a:prstGeom prst="rect">
                <a:avLst/>
              </a:prstGeom>
              <a:blipFill>
                <a:blip r:embed="rId6"/>
                <a:stretch>
                  <a:fillRect l="-2789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 descr=" 156"/>
              <p:cNvSpPr txBox="1"/>
              <p:nvPr/>
            </p:nvSpPr>
            <p:spPr>
              <a:xfrm>
                <a:off x="7720286" y="3160154"/>
                <a:ext cx="175875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/>
                      </a:rPr>
                      <m:t>¬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6" name="TextBox 15" descr=" 1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0286" y="3160154"/>
                <a:ext cx="1758751" cy="453137"/>
              </a:xfrm>
              <a:prstGeom prst="rect">
                <a:avLst/>
              </a:prstGeom>
              <a:blipFill>
                <a:blip r:embed="rId7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 descr=" 148"/>
              <p:cNvSpPr txBox="1"/>
              <p:nvPr/>
            </p:nvSpPr>
            <p:spPr>
              <a:xfrm>
                <a:off x="3306257" y="3016186"/>
                <a:ext cx="152952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7" name="TextBox 16" descr="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6257" y="3016186"/>
                <a:ext cx="1529521" cy="453137"/>
              </a:xfrm>
              <a:prstGeom prst="rect">
                <a:avLst/>
              </a:prstGeom>
              <a:blipFill>
                <a:blip r:embed="rId8"/>
                <a:stretch>
                  <a:fillRect l="-2789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/>
          <p:cNvCxnSpPr>
            <a:endCxn id="6" idx="0"/>
          </p:cNvCxnSpPr>
          <p:nvPr/>
        </p:nvCxnSpPr>
        <p:spPr>
          <a:xfrm>
            <a:off x="9479037" y="4086967"/>
            <a:ext cx="0" cy="1369994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06669" y="4265376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UNSAT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8710466" y="5456961"/>
                <a:ext cx="1537141" cy="72823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𝑏𝑒𝑠𝑡𝑃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𝑏𝑒𝑠𝑡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0466" y="5456961"/>
                <a:ext cx="1537141" cy="728235"/>
              </a:xfrm>
              <a:prstGeom prst="roundRect">
                <a:avLst/>
              </a:prstGeom>
              <a:blipFill>
                <a:blip r:embed="rId9"/>
                <a:stretch>
                  <a:fillRect l="-35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Elbow Connector 22"/>
          <p:cNvCxnSpPr>
            <a:stCxn id="6" idx="1"/>
            <a:endCxn id="11" idx="4"/>
          </p:cNvCxnSpPr>
          <p:nvPr/>
        </p:nvCxnSpPr>
        <p:spPr>
          <a:xfrm rot="10800000">
            <a:off x="2079812" y="4537875"/>
            <a:ext cx="6630654" cy="1283205"/>
          </a:xfrm>
          <a:prstGeom prst="bentConnector2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043953" y="4492155"/>
            <a:ext cx="71718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 descr=" 148"/>
              <p:cNvSpPr txBox="1"/>
              <p:nvPr/>
            </p:nvSpPr>
            <p:spPr>
              <a:xfrm>
                <a:off x="2167452" y="3616787"/>
                <a:ext cx="227761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𝑏𝑒𝑠𝑡𝑃</m:t>
                      </m:r>
                      <m:r>
                        <a:rPr lang="en-US" sz="2400" b="1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&lt; </m:t>
                      </m:r>
                      <m:r>
                        <a:rPr lang="en-US" sz="2400" b="1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2400" b="1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𝝓</m:t>
                      </m:r>
                      <m:r>
                        <a:rPr lang="en-US" sz="2400" b="1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9" name="TextBox 28" descr="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452" y="3616787"/>
                <a:ext cx="2277610" cy="461665"/>
              </a:xfrm>
              <a:prstGeom prst="rect">
                <a:avLst/>
              </a:prstGeom>
              <a:blipFill>
                <a:blip r:embed="rId10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716444" y="4746621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UNSAT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254540" y="6087323"/>
                <a:ext cx="8915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𝒃𝒆𝒔𝒕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𝝓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4540" y="6087323"/>
                <a:ext cx="891591" cy="369332"/>
              </a:xfrm>
              <a:prstGeom prst="rect">
                <a:avLst/>
              </a:prstGeom>
              <a:blipFill>
                <a:blip r:embed="rId11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5063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Probabilistic Grammars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966421" y="2396564"/>
                <a:ext cx="2958182" cy="22467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 smtClean="0"/>
                  <a:t>expr =  expr + expr</a:t>
                </a:r>
              </a:p>
              <a:p>
                <a:r>
                  <a:rPr lang="en-US" sz="2800" dirty="0"/>
                  <a:t> </a:t>
                </a:r>
                <a:r>
                  <a:rPr lang="en-US" sz="2800" dirty="0" smtClean="0"/>
                  <a:t>          | expr – expr</a:t>
                </a:r>
              </a:p>
              <a:p>
                <a:r>
                  <a:rPr lang="en-US" sz="2800" dirty="0"/>
                  <a:t> </a:t>
                </a:r>
                <a:r>
                  <a:rPr lang="en-US" sz="2800" dirty="0" smtClean="0"/>
                  <a:t>          | expr * expr</a:t>
                </a:r>
              </a:p>
              <a:p>
                <a:r>
                  <a:rPr lang="en-US" sz="2800" dirty="0"/>
                  <a:t> </a:t>
                </a:r>
                <a:r>
                  <a:rPr lang="en-US" sz="2800" dirty="0" smtClean="0"/>
                  <a:t>          |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𝑣𝑎𝑟</m:t>
                    </m:r>
                  </m:oMath>
                </a14:m>
                <a:endParaRPr lang="en-US" sz="2800" dirty="0" smtClean="0"/>
              </a:p>
              <a:p>
                <a:r>
                  <a:rPr lang="en-US" sz="2800" dirty="0" smtClean="0"/>
                  <a:t>           |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𝑛𝑢𝑚</m:t>
                    </m:r>
                  </m:oMath>
                </a14:m>
                <a:r>
                  <a:rPr lang="en-US" sz="2800" dirty="0" smtClean="0"/>
                  <a:t> </a:t>
                </a:r>
                <a:endParaRPr lang="en-US" sz="28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6421" y="2396564"/>
                <a:ext cx="2958182" cy="2246769"/>
              </a:xfrm>
              <a:prstGeom prst="rect">
                <a:avLst/>
              </a:prstGeom>
              <a:blipFill>
                <a:blip r:embed="rId2"/>
                <a:stretch>
                  <a:fillRect l="-4330" t="-2439" r="-2887" b="-6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7356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Probabilistic Grammars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966421" y="2396564"/>
                <a:ext cx="4517583" cy="22467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 smtClean="0"/>
                  <a:t>expr =  expr + expr       	0.1</a:t>
                </a:r>
              </a:p>
              <a:p>
                <a:r>
                  <a:rPr lang="en-US" sz="2800" dirty="0"/>
                  <a:t> </a:t>
                </a:r>
                <a:r>
                  <a:rPr lang="en-US" sz="2800" dirty="0" smtClean="0"/>
                  <a:t>          | expr – expr	0.1</a:t>
                </a:r>
              </a:p>
              <a:p>
                <a:r>
                  <a:rPr lang="en-US" sz="2800" dirty="0"/>
                  <a:t> </a:t>
                </a:r>
                <a:r>
                  <a:rPr lang="en-US" sz="2800" dirty="0" smtClean="0"/>
                  <a:t>          | expr * expr	0.05</a:t>
                </a:r>
              </a:p>
              <a:p>
                <a:r>
                  <a:rPr lang="en-US" sz="2800" dirty="0"/>
                  <a:t> </a:t>
                </a:r>
                <a:r>
                  <a:rPr lang="en-US" sz="2800" dirty="0" smtClean="0"/>
                  <a:t>          |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𝑣𝑎𝑟</m:t>
                    </m:r>
                  </m:oMath>
                </a14:m>
                <a:r>
                  <a:rPr lang="en-US" sz="2800" dirty="0" smtClean="0"/>
                  <a:t>			0.25</a:t>
                </a:r>
              </a:p>
              <a:p>
                <a:r>
                  <a:rPr lang="en-US" sz="2800" dirty="0" smtClean="0"/>
                  <a:t>           |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𝑛𝑢𝑚</m:t>
                    </m:r>
                  </m:oMath>
                </a14:m>
                <a:r>
                  <a:rPr lang="en-US" sz="2800" dirty="0" smtClean="0"/>
                  <a:t>		0.5</a:t>
                </a:r>
                <a:endParaRPr lang="en-US" sz="28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6421" y="2396564"/>
                <a:ext cx="4517583" cy="2246769"/>
              </a:xfrm>
              <a:prstGeom prst="rect">
                <a:avLst/>
              </a:prstGeom>
              <a:blipFill>
                <a:blip r:embed="rId2"/>
                <a:stretch>
                  <a:fillRect l="-2834" t="-2439" r="-1484" b="-6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7333130" y="1733177"/>
            <a:ext cx="12307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P(expr)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38527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Probabilistic Grammars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5920" y="320382"/>
            <a:ext cx="3683082" cy="2380983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2838950" y="2605932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3361001" y="3239851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2281231" y="3275297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/>
            <a:r>
              <a:rPr lang="en-US" dirty="0" smtClean="0"/>
              <a:t>*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1499776" y="4073188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2493619" y="4073188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3326956" y="4073188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4027952" y="4073188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 smtClean="0"/>
              <a:t>3</a:t>
            </a:r>
            <a:endParaRPr lang="en-US" dirty="0"/>
          </a:p>
        </p:txBody>
      </p:sp>
      <p:cxnSp>
        <p:nvCxnSpPr>
          <p:cNvPr id="14" name="Straight Arrow Connector 13"/>
          <p:cNvCxnSpPr>
            <a:stCxn id="8" idx="3"/>
            <a:endCxn id="9" idx="7"/>
          </p:cNvCxnSpPr>
          <p:nvPr/>
        </p:nvCxnSpPr>
        <p:spPr>
          <a:xfrm flipH="1">
            <a:off x="1749737" y="3525258"/>
            <a:ext cx="574380" cy="590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8" idx="5"/>
            <a:endCxn id="10" idx="0"/>
          </p:cNvCxnSpPr>
          <p:nvPr/>
        </p:nvCxnSpPr>
        <p:spPr>
          <a:xfrm>
            <a:off x="2531192" y="3525258"/>
            <a:ext cx="108851" cy="547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7" idx="4"/>
            <a:endCxn id="11" idx="0"/>
          </p:cNvCxnSpPr>
          <p:nvPr/>
        </p:nvCxnSpPr>
        <p:spPr>
          <a:xfrm flipH="1">
            <a:off x="3473380" y="3532698"/>
            <a:ext cx="34045" cy="5404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7" idx="5"/>
            <a:endCxn id="12" idx="0"/>
          </p:cNvCxnSpPr>
          <p:nvPr/>
        </p:nvCxnSpPr>
        <p:spPr>
          <a:xfrm>
            <a:off x="3610962" y="3489812"/>
            <a:ext cx="563414" cy="583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6" idx="3"/>
            <a:endCxn id="8" idx="7"/>
          </p:cNvCxnSpPr>
          <p:nvPr/>
        </p:nvCxnSpPr>
        <p:spPr>
          <a:xfrm flipH="1">
            <a:off x="2531192" y="2855893"/>
            <a:ext cx="350644" cy="462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6" idx="5"/>
            <a:endCxn id="7" idx="1"/>
          </p:cNvCxnSpPr>
          <p:nvPr/>
        </p:nvCxnSpPr>
        <p:spPr>
          <a:xfrm>
            <a:off x="3088911" y="2855893"/>
            <a:ext cx="314976" cy="426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7154504" y="2612735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sp>
        <p:nvSpPr>
          <p:cNvPr id="31" name="Oval 30"/>
          <p:cNvSpPr/>
          <p:nvPr/>
        </p:nvSpPr>
        <p:spPr>
          <a:xfrm>
            <a:off x="7676555" y="3246654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sp>
        <p:nvSpPr>
          <p:cNvPr id="33" name="Oval 32"/>
          <p:cNvSpPr/>
          <p:nvPr/>
        </p:nvSpPr>
        <p:spPr>
          <a:xfrm>
            <a:off x="5815330" y="4079991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34" name="Oval 33"/>
          <p:cNvSpPr/>
          <p:nvPr/>
        </p:nvSpPr>
        <p:spPr>
          <a:xfrm>
            <a:off x="6809173" y="4079991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35" name="Oval 34"/>
          <p:cNvSpPr/>
          <p:nvPr/>
        </p:nvSpPr>
        <p:spPr>
          <a:xfrm>
            <a:off x="7642510" y="4079991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36" name="Oval 35"/>
          <p:cNvSpPr/>
          <p:nvPr/>
        </p:nvSpPr>
        <p:spPr>
          <a:xfrm>
            <a:off x="8343506" y="4079991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 smtClean="0"/>
              <a:t>3</a:t>
            </a:r>
            <a:endParaRPr lang="en-US" dirty="0"/>
          </a:p>
        </p:txBody>
      </p:sp>
      <p:cxnSp>
        <p:nvCxnSpPr>
          <p:cNvPr id="37" name="Straight Arrow Connector 36"/>
          <p:cNvCxnSpPr>
            <a:stCxn id="43" idx="3"/>
            <a:endCxn id="33" idx="7"/>
          </p:cNvCxnSpPr>
          <p:nvPr/>
        </p:nvCxnSpPr>
        <p:spPr>
          <a:xfrm flipH="1">
            <a:off x="6065291" y="3547511"/>
            <a:ext cx="603688" cy="575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43" idx="5"/>
            <a:endCxn id="34" idx="0"/>
          </p:cNvCxnSpPr>
          <p:nvPr/>
        </p:nvCxnSpPr>
        <p:spPr>
          <a:xfrm>
            <a:off x="6876054" y="3547511"/>
            <a:ext cx="79543" cy="532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31" idx="4"/>
            <a:endCxn id="35" idx="0"/>
          </p:cNvCxnSpPr>
          <p:nvPr/>
        </p:nvCxnSpPr>
        <p:spPr>
          <a:xfrm flipH="1">
            <a:off x="7788934" y="3539501"/>
            <a:ext cx="34045" cy="5404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31" idx="5"/>
            <a:endCxn id="36" idx="0"/>
          </p:cNvCxnSpPr>
          <p:nvPr/>
        </p:nvCxnSpPr>
        <p:spPr>
          <a:xfrm>
            <a:off x="7926516" y="3496615"/>
            <a:ext cx="563414" cy="583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30" idx="3"/>
            <a:endCxn id="43" idx="7"/>
          </p:cNvCxnSpPr>
          <p:nvPr/>
        </p:nvCxnSpPr>
        <p:spPr>
          <a:xfrm flipH="1">
            <a:off x="6876054" y="2862696"/>
            <a:ext cx="321336" cy="477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30" idx="5"/>
            <a:endCxn id="31" idx="1"/>
          </p:cNvCxnSpPr>
          <p:nvPr/>
        </p:nvCxnSpPr>
        <p:spPr>
          <a:xfrm>
            <a:off x="7404465" y="2862696"/>
            <a:ext cx="314976" cy="426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626093" y="3297550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1018887" y="4366035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0.25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2255413" y="4436452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0.5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3192504" y="443645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0.25</a:t>
            </a:r>
            <a:endParaRPr 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1713037" y="3030946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0.05</a:t>
            </a:r>
            <a:endParaRPr 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4082593" y="440418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0.5</a:t>
            </a:r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3678940" y="301229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0.1</a:t>
            </a:r>
            <a:endParaRPr 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2985373" y="223660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0.1</a:t>
            </a:r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5354892" y="4366035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0.25</a:t>
            </a:r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6591418" y="443645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0.25</a:t>
            </a:r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7528509" y="443645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0.25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6049042" y="303094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0.1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8418598" y="440418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0.5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8014945" y="301229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0.1</a:t>
            </a:r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7321378" y="223660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1646199" y="5186024"/>
                <a:ext cx="21848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P(</a:t>
                </a:r>
                <a:r>
                  <a:rPr lang="en-US" dirty="0" err="1" smtClean="0"/>
                  <a:t>exp</a:t>
                </a:r>
                <a:r>
                  <a:rPr lang="en-US" dirty="0" smtClean="0"/>
                  <a:t>) =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7.81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−6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6199" y="5186024"/>
                <a:ext cx="2184893" cy="369332"/>
              </a:xfrm>
              <a:prstGeom prst="rect">
                <a:avLst/>
              </a:prstGeom>
              <a:blipFill>
                <a:blip r:embed="rId3"/>
                <a:stretch>
                  <a:fillRect l="-2235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6208480" y="5188644"/>
                <a:ext cx="21848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P(</a:t>
                </a:r>
                <a:r>
                  <a:rPr lang="en-US" dirty="0" err="1" smtClean="0"/>
                  <a:t>exp</a:t>
                </a:r>
                <a:r>
                  <a:rPr lang="en-US" dirty="0" smtClean="0"/>
                  <a:t>) =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7.81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−6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8480" y="5188644"/>
                <a:ext cx="2184893" cy="369332"/>
              </a:xfrm>
              <a:prstGeom prst="rect">
                <a:avLst/>
              </a:prstGeom>
              <a:blipFill>
                <a:blip r:embed="rId4"/>
                <a:stretch>
                  <a:fillRect l="-2228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5252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Search with P 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Probability is compositional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Same strategies as length-based metric work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5364148" y="2872380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5886199" y="3506299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4806429" y="3541745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/>
            <a:r>
              <a:rPr lang="en-US" dirty="0" smtClean="0"/>
              <a:t>*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4024974" y="4339636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5018817" y="4339636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5852154" y="4339636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553150" y="4339636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 smtClean="0"/>
              <a:t>3</a:t>
            </a:r>
            <a:endParaRPr lang="en-US" dirty="0"/>
          </a:p>
        </p:txBody>
      </p:sp>
      <p:cxnSp>
        <p:nvCxnSpPr>
          <p:cNvPr id="11" name="Straight Arrow Connector 10"/>
          <p:cNvCxnSpPr>
            <a:stCxn id="6" idx="3"/>
            <a:endCxn id="7" idx="7"/>
          </p:cNvCxnSpPr>
          <p:nvPr/>
        </p:nvCxnSpPr>
        <p:spPr>
          <a:xfrm flipH="1">
            <a:off x="4274935" y="3791706"/>
            <a:ext cx="574380" cy="590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5"/>
            <a:endCxn id="8" idx="0"/>
          </p:cNvCxnSpPr>
          <p:nvPr/>
        </p:nvCxnSpPr>
        <p:spPr>
          <a:xfrm>
            <a:off x="5056390" y="3791706"/>
            <a:ext cx="108851" cy="547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5" idx="4"/>
            <a:endCxn id="9" idx="0"/>
          </p:cNvCxnSpPr>
          <p:nvPr/>
        </p:nvCxnSpPr>
        <p:spPr>
          <a:xfrm flipH="1">
            <a:off x="5998578" y="3799146"/>
            <a:ext cx="34045" cy="5404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10" idx="0"/>
          </p:cNvCxnSpPr>
          <p:nvPr/>
        </p:nvCxnSpPr>
        <p:spPr>
          <a:xfrm>
            <a:off x="6136160" y="3756260"/>
            <a:ext cx="563414" cy="583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4" idx="3"/>
            <a:endCxn id="6" idx="7"/>
          </p:cNvCxnSpPr>
          <p:nvPr/>
        </p:nvCxnSpPr>
        <p:spPr>
          <a:xfrm flipH="1">
            <a:off x="5056390" y="3122341"/>
            <a:ext cx="350644" cy="462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4" idx="5"/>
            <a:endCxn id="5" idx="1"/>
          </p:cNvCxnSpPr>
          <p:nvPr/>
        </p:nvCxnSpPr>
        <p:spPr>
          <a:xfrm>
            <a:off x="5614109" y="3122341"/>
            <a:ext cx="314976" cy="426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3880993" y="3425049"/>
            <a:ext cx="1483155" cy="157446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5614109" y="3424750"/>
            <a:ext cx="1483155" cy="157446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5585588" y="2607558"/>
                <a:ext cx="8322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5588" y="2607558"/>
                <a:ext cx="832279" cy="369332"/>
              </a:xfrm>
              <a:prstGeom prst="rect">
                <a:avLst/>
              </a:prstGeom>
              <a:blipFill>
                <a:blip r:embed="rId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6979354" y="3422374"/>
                <a:ext cx="7735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9354" y="3422374"/>
                <a:ext cx="773545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445185" y="3283390"/>
                <a:ext cx="7735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5185" y="3283390"/>
                <a:ext cx="773545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7143865" y="2753009"/>
                <a:ext cx="34528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𝑒𝑥𝑝𝑟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3865" y="2753009"/>
                <a:ext cx="3452868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8230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00" y="29189"/>
            <a:ext cx="7751006" cy="1325563"/>
          </a:xfrm>
        </p:spPr>
        <p:txBody>
          <a:bodyPr/>
          <a:lstStyle/>
          <a:p>
            <a:r>
              <a:rPr lang="en-US" dirty="0" smtClean="0"/>
              <a:t>Context sensitive Probabilities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966421" y="2396564"/>
                <a:ext cx="3197927" cy="22467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𝑒𝑥𝑝𝑟</m:t>
                    </m:r>
                  </m:oMath>
                </a14:m>
                <a:r>
                  <a:rPr lang="en-US" sz="2800" dirty="0" smtClean="0"/>
                  <a:t> = 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𝑒𝑥𝑝𝑟</m:t>
                    </m:r>
                  </m:oMath>
                </a14:m>
                <a:r>
                  <a:rPr lang="en-US" sz="2800" dirty="0" smtClean="0"/>
                  <a:t> +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𝑒𝑥𝑝𝑟</m:t>
                    </m:r>
                  </m:oMath>
                </a14:m>
                <a:endParaRPr lang="en-US" sz="2800" dirty="0" smtClean="0"/>
              </a:p>
              <a:p>
                <a:r>
                  <a:rPr lang="en-US" sz="2800" dirty="0"/>
                  <a:t> </a:t>
                </a:r>
                <a:r>
                  <a:rPr lang="en-US" sz="2800" dirty="0" smtClean="0"/>
                  <a:t>          |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𝑒𝑥𝑝𝑟</m:t>
                    </m:r>
                  </m:oMath>
                </a14:m>
                <a:r>
                  <a:rPr lang="en-US" sz="2800" dirty="0" smtClean="0"/>
                  <a:t> –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𝑒𝑥𝑝𝑟</m:t>
                    </m:r>
                  </m:oMath>
                </a14:m>
                <a:endParaRPr lang="en-US" sz="2800" dirty="0" smtClean="0"/>
              </a:p>
              <a:p>
                <a:r>
                  <a:rPr lang="en-US" sz="2800" dirty="0"/>
                  <a:t> </a:t>
                </a:r>
                <a:r>
                  <a:rPr lang="en-US" sz="2800" dirty="0" smtClean="0"/>
                  <a:t>          |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𝑒𝑥𝑝𝑟</m:t>
                    </m:r>
                  </m:oMath>
                </a14:m>
                <a:r>
                  <a:rPr lang="en-US" sz="2800" dirty="0" smtClean="0"/>
                  <a:t> *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𝑒𝑥𝑝𝑟</m:t>
                    </m:r>
                  </m:oMath>
                </a14:m>
                <a:endParaRPr lang="en-US" sz="2800" dirty="0" smtClean="0"/>
              </a:p>
              <a:p>
                <a:r>
                  <a:rPr lang="en-US" sz="2800" dirty="0"/>
                  <a:t> </a:t>
                </a:r>
                <a:r>
                  <a:rPr lang="en-US" sz="2800" dirty="0" smtClean="0"/>
                  <a:t>          |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𝑣𝑎𝑟</m:t>
                    </m:r>
                  </m:oMath>
                </a14:m>
                <a:endParaRPr lang="en-US" sz="2800" dirty="0" smtClean="0"/>
              </a:p>
              <a:p>
                <a:r>
                  <a:rPr lang="en-US" sz="2800" dirty="0" smtClean="0"/>
                  <a:t>           |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𝑛𝑢𝑚</m:t>
                    </m:r>
                  </m:oMath>
                </a14:m>
                <a:r>
                  <a:rPr lang="en-US" sz="2800" dirty="0" smtClean="0"/>
                  <a:t> </a:t>
                </a:r>
                <a:endParaRPr lang="en-US" sz="28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6421" y="2396564"/>
                <a:ext cx="3197927" cy="2246769"/>
              </a:xfrm>
              <a:prstGeom prst="rect">
                <a:avLst/>
              </a:prstGeom>
              <a:blipFill>
                <a:blip r:embed="rId2"/>
                <a:stretch>
                  <a:fillRect t="-2439" b="-6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3491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00" y="29189"/>
            <a:ext cx="7751006" cy="1325563"/>
          </a:xfrm>
        </p:spPr>
        <p:txBody>
          <a:bodyPr/>
          <a:lstStyle/>
          <a:p>
            <a:r>
              <a:rPr lang="en-US" dirty="0" smtClean="0"/>
              <a:t>Context sensitive Probabilities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96381" y="2263340"/>
                <a:ext cx="4086375" cy="22467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𝑒𝑥𝑝𝑟</m:t>
                    </m:r>
                  </m:oMath>
                </a14:m>
                <a:r>
                  <a:rPr lang="en-US" sz="2800" dirty="0" smtClean="0"/>
                  <a:t> = 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𝑒𝑥𝑝</m:t>
                    </m:r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 smtClean="0"/>
                  <a:t> +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𝑒𝑥𝑝</m:t>
                    </m:r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 smtClean="0"/>
                  <a:t>	A</a:t>
                </a:r>
              </a:p>
              <a:p>
                <a:r>
                  <a:rPr lang="en-US" sz="2800" dirty="0"/>
                  <a:t> </a:t>
                </a:r>
                <a:r>
                  <a:rPr lang="en-US" sz="2800" dirty="0" smtClean="0"/>
                  <a:t>          |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𝑒𝑥𝑝</m:t>
                    </m:r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800" dirty="0" smtClean="0"/>
                  <a:t> –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𝑒𝑥𝑝</m:t>
                    </m:r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800" dirty="0" smtClean="0"/>
                  <a:t>	B</a:t>
                </a:r>
              </a:p>
              <a:p>
                <a:r>
                  <a:rPr lang="en-US" sz="2800" dirty="0"/>
                  <a:t> </a:t>
                </a:r>
                <a:r>
                  <a:rPr lang="en-US" sz="2800" dirty="0" smtClean="0"/>
                  <a:t>          |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𝑒𝑥𝑝</m:t>
                    </m:r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sz="2800" dirty="0" smtClean="0"/>
                  <a:t> *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𝑒𝑥𝑝</m:t>
                    </m:r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sz="2800" dirty="0" smtClean="0"/>
                  <a:t>	C</a:t>
                </a:r>
              </a:p>
              <a:p>
                <a:r>
                  <a:rPr lang="en-US" sz="2800" dirty="0"/>
                  <a:t> </a:t>
                </a:r>
                <a:r>
                  <a:rPr lang="en-US" sz="2800" dirty="0" smtClean="0"/>
                  <a:t>          |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𝑣𝑎𝑟</m:t>
                    </m:r>
                  </m:oMath>
                </a14:m>
                <a:r>
                  <a:rPr lang="en-US" sz="2800" dirty="0" smtClean="0"/>
                  <a:t>			D</a:t>
                </a:r>
              </a:p>
              <a:p>
                <a:r>
                  <a:rPr lang="en-US" sz="2800" dirty="0" smtClean="0"/>
                  <a:t>           |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𝑛𝑢𝑚</m:t>
                    </m:r>
                  </m:oMath>
                </a14:m>
                <a:r>
                  <a:rPr lang="en-US" sz="2800" dirty="0" smtClean="0"/>
                  <a:t> 		E</a:t>
                </a:r>
                <a:endParaRPr lang="en-US" sz="28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381" y="2263340"/>
                <a:ext cx="4086375" cy="2246769"/>
              </a:xfrm>
              <a:prstGeom prst="rect">
                <a:avLst/>
              </a:prstGeom>
              <a:blipFill>
                <a:blip r:embed="rId2"/>
                <a:stretch>
                  <a:fillRect t="-2439" r="-2385" b="-6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960000"/>
              </p:ext>
            </p:extLst>
          </p:nvPr>
        </p:nvGraphicFramePr>
        <p:xfrm>
          <a:off x="6340243" y="2263340"/>
          <a:ext cx="4752324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54">
                  <a:extLst>
                    <a:ext uri="{9D8B030D-6E8A-4147-A177-3AD203B41FA5}">
                      <a16:colId xmlns:a16="http://schemas.microsoft.com/office/drawing/2014/main" val="2029781710"/>
                    </a:ext>
                  </a:extLst>
                </a:gridCol>
                <a:gridCol w="792054">
                  <a:extLst>
                    <a:ext uri="{9D8B030D-6E8A-4147-A177-3AD203B41FA5}">
                      <a16:colId xmlns:a16="http://schemas.microsoft.com/office/drawing/2014/main" val="1812598856"/>
                    </a:ext>
                  </a:extLst>
                </a:gridCol>
                <a:gridCol w="792054">
                  <a:extLst>
                    <a:ext uri="{9D8B030D-6E8A-4147-A177-3AD203B41FA5}">
                      <a16:colId xmlns:a16="http://schemas.microsoft.com/office/drawing/2014/main" val="1627567190"/>
                    </a:ext>
                  </a:extLst>
                </a:gridCol>
                <a:gridCol w="792054">
                  <a:extLst>
                    <a:ext uri="{9D8B030D-6E8A-4147-A177-3AD203B41FA5}">
                      <a16:colId xmlns:a16="http://schemas.microsoft.com/office/drawing/2014/main" val="937110597"/>
                    </a:ext>
                  </a:extLst>
                </a:gridCol>
                <a:gridCol w="792054">
                  <a:extLst>
                    <a:ext uri="{9D8B030D-6E8A-4147-A177-3AD203B41FA5}">
                      <a16:colId xmlns:a16="http://schemas.microsoft.com/office/drawing/2014/main" val="2864844310"/>
                    </a:ext>
                  </a:extLst>
                </a:gridCol>
                <a:gridCol w="792054">
                  <a:extLst>
                    <a:ext uri="{9D8B030D-6E8A-4147-A177-3AD203B41FA5}">
                      <a16:colId xmlns:a16="http://schemas.microsoft.com/office/drawing/2014/main" val="1983342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234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Root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649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8568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1/3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1/3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1/3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145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8123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1/3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1/3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1/3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5193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244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0.25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298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5279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Top-down and Constraint-based search are similar</a:t>
            </a:r>
          </a:p>
          <a:p>
            <a:endParaRPr lang="en-US" dirty="0"/>
          </a:p>
          <a:p>
            <a:r>
              <a:rPr lang="en-US" dirty="0" smtClean="0"/>
              <a:t>Bottom up search is significantly more challenging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442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Bottom-up search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65955" y="2379847"/>
            <a:ext cx="1406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x=5 =&gt; out=7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3189575" y="3057278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/>
            <a:r>
              <a:rPr lang="en-US" dirty="0" smtClean="0"/>
              <a:t>*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2408120" y="3855169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3401963" y="3855169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cxnSp>
        <p:nvCxnSpPr>
          <p:cNvPr id="8" name="Straight Arrow Connector 7"/>
          <p:cNvCxnSpPr>
            <a:stCxn id="5" idx="3"/>
            <a:endCxn id="6" idx="7"/>
          </p:cNvCxnSpPr>
          <p:nvPr/>
        </p:nvCxnSpPr>
        <p:spPr>
          <a:xfrm flipH="1">
            <a:off x="2658081" y="3307239"/>
            <a:ext cx="574380" cy="590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5"/>
            <a:endCxn id="7" idx="0"/>
          </p:cNvCxnSpPr>
          <p:nvPr/>
        </p:nvCxnSpPr>
        <p:spPr>
          <a:xfrm>
            <a:off x="3439536" y="3307239"/>
            <a:ext cx="108851" cy="547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815330" y="3825639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6809173" y="3825639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 smtClean="0"/>
              <a:t>x</a:t>
            </a:r>
            <a:endParaRPr lang="en-US" dirty="0"/>
          </a:p>
        </p:txBody>
      </p:sp>
      <p:cxnSp>
        <p:nvCxnSpPr>
          <p:cNvPr id="12" name="Straight Arrow Connector 11"/>
          <p:cNvCxnSpPr>
            <a:stCxn id="14" idx="3"/>
            <a:endCxn id="10" idx="7"/>
          </p:cNvCxnSpPr>
          <p:nvPr/>
        </p:nvCxnSpPr>
        <p:spPr>
          <a:xfrm flipH="1">
            <a:off x="6065291" y="3293159"/>
            <a:ext cx="603688" cy="575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4" idx="5"/>
            <a:endCxn id="11" idx="0"/>
          </p:cNvCxnSpPr>
          <p:nvPr/>
        </p:nvCxnSpPr>
        <p:spPr>
          <a:xfrm>
            <a:off x="6876054" y="3293159"/>
            <a:ext cx="79543" cy="532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626093" y="3043198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039939" y="4559873"/>
            <a:ext cx="38361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We know they are equivalent</a:t>
            </a:r>
          </a:p>
          <a:p>
            <a:r>
              <a:rPr lang="en-US" sz="2400" dirty="0" smtClean="0"/>
              <a:t>Which one do we keep?</a:t>
            </a:r>
          </a:p>
        </p:txBody>
      </p:sp>
    </p:spTree>
    <p:extLst>
      <p:ext uri="{BB962C8B-B14F-4D97-AF65-F5344CB8AC3E}">
        <p14:creationId xmlns:p14="http://schemas.microsoft.com/office/powerpoint/2010/main" val="710085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Bottom-up search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65955" y="2385903"/>
            <a:ext cx="1406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x=5 =&gt; out=7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3189575" y="3063334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/>
            <a:r>
              <a:rPr lang="en-US" dirty="0" smtClean="0"/>
              <a:t>*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2408120" y="3861225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3401963" y="3861225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cxnSp>
        <p:nvCxnSpPr>
          <p:cNvPr id="8" name="Straight Arrow Connector 7"/>
          <p:cNvCxnSpPr>
            <a:stCxn id="5" idx="3"/>
            <a:endCxn id="6" idx="7"/>
          </p:cNvCxnSpPr>
          <p:nvPr/>
        </p:nvCxnSpPr>
        <p:spPr>
          <a:xfrm flipH="1">
            <a:off x="2658081" y="3313295"/>
            <a:ext cx="574380" cy="590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5"/>
            <a:endCxn id="7" idx="0"/>
          </p:cNvCxnSpPr>
          <p:nvPr/>
        </p:nvCxnSpPr>
        <p:spPr>
          <a:xfrm>
            <a:off x="3439536" y="3313295"/>
            <a:ext cx="108851" cy="547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815330" y="3831695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6809173" y="3831695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 smtClean="0"/>
              <a:t>x</a:t>
            </a:r>
            <a:endParaRPr lang="en-US" dirty="0"/>
          </a:p>
        </p:txBody>
      </p:sp>
      <p:cxnSp>
        <p:nvCxnSpPr>
          <p:cNvPr id="12" name="Straight Arrow Connector 11"/>
          <p:cNvCxnSpPr>
            <a:stCxn id="14" idx="3"/>
            <a:endCxn id="10" idx="7"/>
          </p:cNvCxnSpPr>
          <p:nvPr/>
        </p:nvCxnSpPr>
        <p:spPr>
          <a:xfrm flipH="1">
            <a:off x="6065291" y="3299215"/>
            <a:ext cx="603688" cy="575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4" idx="5"/>
            <a:endCxn id="11" idx="0"/>
          </p:cNvCxnSpPr>
          <p:nvPr/>
        </p:nvCxnSpPr>
        <p:spPr>
          <a:xfrm>
            <a:off x="6876054" y="3299215"/>
            <a:ext cx="79543" cy="532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626093" y="3049254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9173" y="196680"/>
            <a:ext cx="5194393" cy="17977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246816" y="4160832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0.2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3335998" y="4153711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0.25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705590" y="410337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0.2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6794772" y="4096255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0.33</a:t>
            </a:r>
            <a:endParaRPr lang="en-US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354749"/>
              </p:ext>
            </p:extLst>
          </p:nvPr>
        </p:nvGraphicFramePr>
        <p:xfrm>
          <a:off x="1523420" y="4593794"/>
          <a:ext cx="1247634" cy="2133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23817">
                  <a:extLst>
                    <a:ext uri="{9D8B030D-6E8A-4147-A177-3AD203B41FA5}">
                      <a16:colId xmlns:a16="http://schemas.microsoft.com/office/drawing/2014/main" val="1429462887"/>
                    </a:ext>
                  </a:extLst>
                </a:gridCol>
                <a:gridCol w="623817">
                  <a:extLst>
                    <a:ext uri="{9D8B030D-6E8A-4147-A177-3AD203B41FA5}">
                      <a16:colId xmlns:a16="http://schemas.microsoft.com/office/drawing/2014/main" val="1906209082"/>
                    </a:ext>
                  </a:extLst>
                </a:gridCol>
              </a:tblGrid>
              <a:tr h="28813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Root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0.01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745183"/>
                  </a:ext>
                </a:extLst>
              </a:tr>
              <a:tr h="28813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0.01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0484174"/>
                  </a:ext>
                </a:extLst>
              </a:tr>
              <a:tr h="28813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0.017</a:t>
                      </a:r>
                      <a:endParaRPr lang="en-US" sz="1400" b="1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0093165"/>
                  </a:ext>
                </a:extLst>
              </a:tr>
              <a:tr h="28813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3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0.01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4093347"/>
                  </a:ext>
                </a:extLst>
              </a:tr>
              <a:tr h="28813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4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0.017</a:t>
                      </a:r>
                      <a:endParaRPr lang="en-US" sz="1400" b="1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7630572"/>
                  </a:ext>
                </a:extLst>
              </a:tr>
              <a:tr h="28813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0.01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973616"/>
                  </a:ext>
                </a:extLst>
              </a:tr>
              <a:tr h="28813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6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787969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018647"/>
              </p:ext>
            </p:extLst>
          </p:nvPr>
        </p:nvGraphicFramePr>
        <p:xfrm>
          <a:off x="4882381" y="4593794"/>
          <a:ext cx="1410608" cy="2133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05304">
                  <a:extLst>
                    <a:ext uri="{9D8B030D-6E8A-4147-A177-3AD203B41FA5}">
                      <a16:colId xmlns:a16="http://schemas.microsoft.com/office/drawing/2014/main" val="1429462887"/>
                    </a:ext>
                  </a:extLst>
                </a:gridCol>
                <a:gridCol w="705304">
                  <a:extLst>
                    <a:ext uri="{9D8B030D-6E8A-4147-A177-3AD203B41FA5}">
                      <a16:colId xmlns:a16="http://schemas.microsoft.com/office/drawing/2014/main" val="1906209082"/>
                    </a:ext>
                  </a:extLst>
                </a:gridCol>
              </a:tblGrid>
              <a:tr h="290141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Root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0.013</a:t>
                      </a:r>
                      <a:endParaRPr lang="en-US" sz="1400" b="1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745183"/>
                  </a:ext>
                </a:extLst>
              </a:tr>
              <a:tr h="290141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0.013</a:t>
                      </a:r>
                      <a:endParaRPr lang="en-US" sz="1400" b="1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0484174"/>
                  </a:ext>
                </a:extLst>
              </a:tr>
              <a:tr h="290141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0093165"/>
                  </a:ext>
                </a:extLst>
              </a:tr>
              <a:tr h="290141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3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0.013</a:t>
                      </a:r>
                      <a:endParaRPr lang="en-US" sz="1400" b="1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4093347"/>
                  </a:ext>
                </a:extLst>
              </a:tr>
              <a:tr h="290141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4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7630572"/>
                  </a:ext>
                </a:extLst>
              </a:tr>
              <a:tr h="290141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0.013</a:t>
                      </a:r>
                      <a:endParaRPr lang="en-US" sz="1400" b="1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973616"/>
                  </a:ext>
                </a:extLst>
              </a:tr>
              <a:tr h="290141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6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0.0165</a:t>
                      </a:r>
                      <a:endParaRPr lang="en-US" sz="1400" b="1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787969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7763317" y="4483015"/>
            <a:ext cx="36981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Is this exponentially slower?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08059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Bottom-up search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65955" y="2385903"/>
            <a:ext cx="1406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x=5 =&gt; out=7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3189575" y="3063334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/>
            <a:r>
              <a:rPr lang="en-US" dirty="0" smtClean="0"/>
              <a:t>*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2408120" y="3861225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3401963" y="3861225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cxnSp>
        <p:nvCxnSpPr>
          <p:cNvPr id="8" name="Straight Arrow Connector 7"/>
          <p:cNvCxnSpPr>
            <a:stCxn id="5" idx="3"/>
            <a:endCxn id="6" idx="7"/>
          </p:cNvCxnSpPr>
          <p:nvPr/>
        </p:nvCxnSpPr>
        <p:spPr>
          <a:xfrm flipH="1">
            <a:off x="2658081" y="3313295"/>
            <a:ext cx="574380" cy="590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5"/>
            <a:endCxn id="7" idx="0"/>
          </p:cNvCxnSpPr>
          <p:nvPr/>
        </p:nvCxnSpPr>
        <p:spPr>
          <a:xfrm>
            <a:off x="3439536" y="3313295"/>
            <a:ext cx="108851" cy="547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815330" y="3831695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6809173" y="3831695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 smtClean="0"/>
              <a:t>x</a:t>
            </a:r>
            <a:endParaRPr lang="en-US" dirty="0"/>
          </a:p>
        </p:txBody>
      </p:sp>
      <p:cxnSp>
        <p:nvCxnSpPr>
          <p:cNvPr id="12" name="Straight Arrow Connector 11"/>
          <p:cNvCxnSpPr>
            <a:stCxn id="14" idx="3"/>
            <a:endCxn id="10" idx="7"/>
          </p:cNvCxnSpPr>
          <p:nvPr/>
        </p:nvCxnSpPr>
        <p:spPr>
          <a:xfrm flipH="1">
            <a:off x="6065291" y="3299215"/>
            <a:ext cx="603688" cy="575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4" idx="5"/>
            <a:endCxn id="11" idx="0"/>
          </p:cNvCxnSpPr>
          <p:nvPr/>
        </p:nvCxnSpPr>
        <p:spPr>
          <a:xfrm>
            <a:off x="6876054" y="3299215"/>
            <a:ext cx="79543" cy="532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626093" y="3049254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9173" y="196680"/>
            <a:ext cx="5194393" cy="17977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246816" y="4160832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0.2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3335998" y="4153711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0.25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705590" y="410337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0.2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6794772" y="4096255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0.33</a:t>
            </a:r>
            <a:endParaRPr lang="en-US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354749"/>
              </p:ext>
            </p:extLst>
          </p:nvPr>
        </p:nvGraphicFramePr>
        <p:xfrm>
          <a:off x="1523420" y="4593794"/>
          <a:ext cx="1247634" cy="2133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23817">
                  <a:extLst>
                    <a:ext uri="{9D8B030D-6E8A-4147-A177-3AD203B41FA5}">
                      <a16:colId xmlns:a16="http://schemas.microsoft.com/office/drawing/2014/main" val="1429462887"/>
                    </a:ext>
                  </a:extLst>
                </a:gridCol>
                <a:gridCol w="623817">
                  <a:extLst>
                    <a:ext uri="{9D8B030D-6E8A-4147-A177-3AD203B41FA5}">
                      <a16:colId xmlns:a16="http://schemas.microsoft.com/office/drawing/2014/main" val="1906209082"/>
                    </a:ext>
                  </a:extLst>
                </a:gridCol>
              </a:tblGrid>
              <a:tr h="28813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Root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0.01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745183"/>
                  </a:ext>
                </a:extLst>
              </a:tr>
              <a:tr h="28813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0.01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0484174"/>
                  </a:ext>
                </a:extLst>
              </a:tr>
              <a:tr h="28813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0.017</a:t>
                      </a:r>
                      <a:endParaRPr lang="en-US" sz="1400" b="1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0093165"/>
                  </a:ext>
                </a:extLst>
              </a:tr>
              <a:tr h="28813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3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0.01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4093347"/>
                  </a:ext>
                </a:extLst>
              </a:tr>
              <a:tr h="28813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4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0.017</a:t>
                      </a:r>
                      <a:endParaRPr lang="en-US" sz="1400" b="1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7630572"/>
                  </a:ext>
                </a:extLst>
              </a:tr>
              <a:tr h="28813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0.01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973616"/>
                  </a:ext>
                </a:extLst>
              </a:tr>
              <a:tr h="28813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6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787969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018647"/>
              </p:ext>
            </p:extLst>
          </p:nvPr>
        </p:nvGraphicFramePr>
        <p:xfrm>
          <a:off x="4882381" y="4593794"/>
          <a:ext cx="1410608" cy="2133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05304">
                  <a:extLst>
                    <a:ext uri="{9D8B030D-6E8A-4147-A177-3AD203B41FA5}">
                      <a16:colId xmlns:a16="http://schemas.microsoft.com/office/drawing/2014/main" val="1429462887"/>
                    </a:ext>
                  </a:extLst>
                </a:gridCol>
                <a:gridCol w="705304">
                  <a:extLst>
                    <a:ext uri="{9D8B030D-6E8A-4147-A177-3AD203B41FA5}">
                      <a16:colId xmlns:a16="http://schemas.microsoft.com/office/drawing/2014/main" val="1906209082"/>
                    </a:ext>
                  </a:extLst>
                </a:gridCol>
              </a:tblGrid>
              <a:tr h="290141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Root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0.013</a:t>
                      </a:r>
                      <a:endParaRPr lang="en-US" sz="1400" b="1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745183"/>
                  </a:ext>
                </a:extLst>
              </a:tr>
              <a:tr h="290141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0.013</a:t>
                      </a:r>
                      <a:endParaRPr lang="en-US" sz="1400" b="1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0484174"/>
                  </a:ext>
                </a:extLst>
              </a:tr>
              <a:tr h="290141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0093165"/>
                  </a:ext>
                </a:extLst>
              </a:tr>
              <a:tr h="290141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3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0.013</a:t>
                      </a:r>
                      <a:endParaRPr lang="en-US" sz="1400" b="1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4093347"/>
                  </a:ext>
                </a:extLst>
              </a:tr>
              <a:tr h="290141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4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7630572"/>
                  </a:ext>
                </a:extLst>
              </a:tr>
              <a:tr h="290141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0.013</a:t>
                      </a:r>
                      <a:endParaRPr lang="en-US" sz="1400" b="1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973616"/>
                  </a:ext>
                </a:extLst>
              </a:tr>
              <a:tr h="290141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6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0.0165</a:t>
                      </a:r>
                      <a:endParaRPr lang="en-US" sz="1400" b="1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787969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7763317" y="5129117"/>
            <a:ext cx="448174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No!</a:t>
            </a:r>
          </a:p>
          <a:p>
            <a:r>
              <a:rPr lang="en-US" sz="2400" dirty="0" smtClean="0"/>
              <a:t>Given K contexts, we need at most</a:t>
            </a:r>
          </a:p>
          <a:p>
            <a:r>
              <a:rPr lang="en-US" sz="2400" dirty="0" smtClean="0"/>
              <a:t>k representatives for each </a:t>
            </a:r>
            <a:br>
              <a:rPr lang="en-US" sz="2400" dirty="0" smtClean="0"/>
            </a:br>
            <a:r>
              <a:rPr lang="en-US" sz="2400" dirty="0" smtClean="0"/>
              <a:t>equivalence class</a:t>
            </a:r>
            <a:endParaRPr lang="en-US" sz="2400" dirty="0"/>
          </a:p>
        </p:txBody>
      </p:sp>
      <p:sp>
        <p:nvSpPr>
          <p:cNvPr id="25" name="TextBox 24"/>
          <p:cNvSpPr txBox="1"/>
          <p:nvPr/>
        </p:nvSpPr>
        <p:spPr>
          <a:xfrm>
            <a:off x="7763317" y="4483015"/>
            <a:ext cx="36981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Is this exponentially slower?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13061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Bottom-up search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65955" y="2385903"/>
            <a:ext cx="1406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x=5 =&gt; out=7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3189575" y="3063334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/>
            <a:r>
              <a:rPr lang="en-US" dirty="0" smtClean="0"/>
              <a:t>*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2408120" y="3861225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3401963" y="3861225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cxnSp>
        <p:nvCxnSpPr>
          <p:cNvPr id="8" name="Straight Arrow Connector 7"/>
          <p:cNvCxnSpPr>
            <a:stCxn id="5" idx="3"/>
            <a:endCxn id="6" idx="7"/>
          </p:cNvCxnSpPr>
          <p:nvPr/>
        </p:nvCxnSpPr>
        <p:spPr>
          <a:xfrm flipH="1">
            <a:off x="2658081" y="3313295"/>
            <a:ext cx="574380" cy="590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5"/>
            <a:endCxn id="7" idx="0"/>
          </p:cNvCxnSpPr>
          <p:nvPr/>
        </p:nvCxnSpPr>
        <p:spPr>
          <a:xfrm>
            <a:off x="3439536" y="3313295"/>
            <a:ext cx="108851" cy="547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815330" y="3831695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6809173" y="3831695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 smtClean="0"/>
              <a:t>x</a:t>
            </a:r>
            <a:endParaRPr lang="en-US" dirty="0"/>
          </a:p>
        </p:txBody>
      </p:sp>
      <p:cxnSp>
        <p:nvCxnSpPr>
          <p:cNvPr id="12" name="Straight Arrow Connector 11"/>
          <p:cNvCxnSpPr>
            <a:stCxn id="14" idx="3"/>
            <a:endCxn id="10" idx="7"/>
          </p:cNvCxnSpPr>
          <p:nvPr/>
        </p:nvCxnSpPr>
        <p:spPr>
          <a:xfrm flipH="1">
            <a:off x="6065291" y="3299215"/>
            <a:ext cx="603688" cy="575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4" idx="5"/>
            <a:endCxn id="11" idx="0"/>
          </p:cNvCxnSpPr>
          <p:nvPr/>
        </p:nvCxnSpPr>
        <p:spPr>
          <a:xfrm>
            <a:off x="6876054" y="3299215"/>
            <a:ext cx="79543" cy="532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626093" y="3049254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9173" y="196680"/>
            <a:ext cx="5194393" cy="17977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246816" y="4160832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0.2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3335998" y="4153711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0.25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705590" y="410337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0.2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6794772" y="4096255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0.33</a:t>
            </a:r>
            <a:endParaRPr lang="en-US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3892146"/>
              </p:ext>
            </p:extLst>
          </p:nvPr>
        </p:nvGraphicFramePr>
        <p:xfrm>
          <a:off x="1775288" y="4593794"/>
          <a:ext cx="1482602" cy="2133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41301">
                  <a:extLst>
                    <a:ext uri="{9D8B030D-6E8A-4147-A177-3AD203B41FA5}">
                      <a16:colId xmlns:a16="http://schemas.microsoft.com/office/drawing/2014/main" val="1429462887"/>
                    </a:ext>
                  </a:extLst>
                </a:gridCol>
                <a:gridCol w="741301">
                  <a:extLst>
                    <a:ext uri="{9D8B030D-6E8A-4147-A177-3AD203B41FA5}">
                      <a16:colId xmlns:a16="http://schemas.microsoft.com/office/drawing/2014/main" val="1906209082"/>
                    </a:ext>
                  </a:extLst>
                </a:gridCol>
              </a:tblGrid>
              <a:tr h="28813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Root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0.0005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745183"/>
                  </a:ext>
                </a:extLst>
              </a:tr>
              <a:tr h="28813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0.0005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0484174"/>
                  </a:ext>
                </a:extLst>
              </a:tr>
              <a:tr h="28813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0.0008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0093165"/>
                  </a:ext>
                </a:extLst>
              </a:tr>
              <a:tr h="28813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3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0.0005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4093347"/>
                  </a:ext>
                </a:extLst>
              </a:tr>
              <a:tr h="28813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4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0.0008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7630572"/>
                  </a:ext>
                </a:extLst>
              </a:tr>
              <a:tr h="28813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0.0005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973616"/>
                  </a:ext>
                </a:extLst>
              </a:tr>
              <a:tr h="28813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6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787969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7763317" y="5129117"/>
            <a:ext cx="448174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No!</a:t>
            </a:r>
          </a:p>
          <a:p>
            <a:r>
              <a:rPr lang="en-US" sz="2400" dirty="0" smtClean="0"/>
              <a:t>Given K contexts, we need at most</a:t>
            </a:r>
          </a:p>
          <a:p>
            <a:r>
              <a:rPr lang="en-US" sz="2400" dirty="0" smtClean="0"/>
              <a:t>k representatives for each </a:t>
            </a:r>
            <a:br>
              <a:rPr lang="en-US" sz="2400" dirty="0" smtClean="0"/>
            </a:br>
            <a:r>
              <a:rPr lang="en-US" sz="2400" dirty="0" smtClean="0"/>
              <a:t>equivalence class</a:t>
            </a:r>
            <a:endParaRPr lang="en-US" sz="2400" dirty="0"/>
          </a:p>
        </p:txBody>
      </p:sp>
      <p:sp>
        <p:nvSpPr>
          <p:cNvPr id="25" name="TextBox 24"/>
          <p:cNvSpPr txBox="1"/>
          <p:nvPr/>
        </p:nvSpPr>
        <p:spPr>
          <a:xfrm>
            <a:off x="7763317" y="4483015"/>
            <a:ext cx="36981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Is this exponentially slower?</a:t>
            </a:r>
            <a:endParaRPr lang="en-US" sz="2400" dirty="0"/>
          </a:p>
        </p:txBody>
      </p:sp>
      <p:sp>
        <p:nvSpPr>
          <p:cNvPr id="26" name="Oval 25"/>
          <p:cNvSpPr/>
          <p:nvPr/>
        </p:nvSpPr>
        <p:spPr>
          <a:xfrm>
            <a:off x="3604026" y="2588764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/>
            <a:r>
              <a:rPr lang="en-US" dirty="0" smtClean="0"/>
              <a:t>*</a:t>
            </a:r>
            <a:endParaRPr lang="en-US" dirty="0"/>
          </a:p>
        </p:txBody>
      </p:sp>
      <p:sp>
        <p:nvSpPr>
          <p:cNvPr id="27" name="Oval 26"/>
          <p:cNvSpPr/>
          <p:nvPr/>
        </p:nvSpPr>
        <p:spPr>
          <a:xfrm>
            <a:off x="7047171" y="2588763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/>
            <a:r>
              <a:rPr lang="en-US" dirty="0" smtClean="0"/>
              <a:t>*</a:t>
            </a:r>
            <a:endParaRPr lang="en-US" dirty="0"/>
          </a:p>
        </p:txBody>
      </p:sp>
      <p:cxnSp>
        <p:nvCxnSpPr>
          <p:cNvPr id="16" name="Straight Arrow Connector 15"/>
          <p:cNvCxnSpPr>
            <a:stCxn id="26" idx="3"/>
            <a:endCxn id="5" idx="7"/>
          </p:cNvCxnSpPr>
          <p:nvPr/>
        </p:nvCxnSpPr>
        <p:spPr>
          <a:xfrm flipH="1">
            <a:off x="3439536" y="2838725"/>
            <a:ext cx="207376" cy="267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7" idx="3"/>
            <a:endCxn id="14" idx="7"/>
          </p:cNvCxnSpPr>
          <p:nvPr/>
        </p:nvCxnSpPr>
        <p:spPr>
          <a:xfrm flipH="1">
            <a:off x="6876054" y="2838724"/>
            <a:ext cx="214003" cy="253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013916" y="3059008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31" name="Oval 30"/>
          <p:cNvSpPr/>
          <p:nvPr/>
        </p:nvSpPr>
        <p:spPr>
          <a:xfrm>
            <a:off x="7469230" y="3049253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cxnSp>
        <p:nvCxnSpPr>
          <p:cNvPr id="32" name="Straight Arrow Connector 31"/>
          <p:cNvCxnSpPr>
            <a:stCxn id="26" idx="5"/>
            <a:endCxn id="30" idx="1"/>
          </p:cNvCxnSpPr>
          <p:nvPr/>
        </p:nvCxnSpPr>
        <p:spPr>
          <a:xfrm>
            <a:off x="3853987" y="2838725"/>
            <a:ext cx="202815" cy="263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7" idx="5"/>
            <a:endCxn id="31" idx="1"/>
          </p:cNvCxnSpPr>
          <p:nvPr/>
        </p:nvCxnSpPr>
        <p:spPr>
          <a:xfrm>
            <a:off x="7297132" y="2838724"/>
            <a:ext cx="214984" cy="2534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106988" y="3299215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0.25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7637459" y="3249653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0.25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6114311" y="3049253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0.2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2634907" y="3064987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0.2</a:t>
            </a:r>
            <a:endParaRPr lang="en-US" dirty="0"/>
          </a:p>
        </p:txBody>
      </p:sp>
      <p:graphicFrame>
        <p:nvGraphicFramePr>
          <p:cNvPr id="43" name="Table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2145948"/>
              </p:ext>
            </p:extLst>
          </p:nvPr>
        </p:nvGraphicFramePr>
        <p:xfrm>
          <a:off x="4964289" y="4593794"/>
          <a:ext cx="1482602" cy="2133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41301">
                  <a:extLst>
                    <a:ext uri="{9D8B030D-6E8A-4147-A177-3AD203B41FA5}">
                      <a16:colId xmlns:a16="http://schemas.microsoft.com/office/drawing/2014/main" val="1429462887"/>
                    </a:ext>
                  </a:extLst>
                </a:gridCol>
                <a:gridCol w="741301">
                  <a:extLst>
                    <a:ext uri="{9D8B030D-6E8A-4147-A177-3AD203B41FA5}">
                      <a16:colId xmlns:a16="http://schemas.microsoft.com/office/drawing/2014/main" val="1906209082"/>
                    </a:ext>
                  </a:extLst>
                </a:gridCol>
              </a:tblGrid>
              <a:tr h="28813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Root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0.0006</a:t>
                      </a:r>
                      <a:endParaRPr lang="en-US" sz="1400" b="1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745183"/>
                  </a:ext>
                </a:extLst>
              </a:tr>
              <a:tr h="28813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0.0006</a:t>
                      </a:r>
                      <a:endParaRPr lang="en-US" sz="1400" b="1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0484174"/>
                  </a:ext>
                </a:extLst>
              </a:tr>
              <a:tr h="28813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0.001</a:t>
                      </a:r>
                      <a:endParaRPr lang="en-US" sz="1400" b="1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0093165"/>
                  </a:ext>
                </a:extLst>
              </a:tr>
              <a:tr h="28813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3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0.0006</a:t>
                      </a:r>
                      <a:endParaRPr lang="en-US" sz="1400" b="1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4093347"/>
                  </a:ext>
                </a:extLst>
              </a:tr>
              <a:tr h="28813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4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0.001</a:t>
                      </a:r>
                      <a:endParaRPr lang="en-US" sz="1400" b="1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7630572"/>
                  </a:ext>
                </a:extLst>
              </a:tr>
              <a:tr h="28813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0.0006</a:t>
                      </a:r>
                      <a:endParaRPr lang="en-US" sz="1400" b="1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973616"/>
                  </a:ext>
                </a:extLst>
              </a:tr>
              <a:tr h="28813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6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0</a:t>
                      </a:r>
                      <a:endParaRPr lang="en-US" sz="1400" b="1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787969"/>
                  </a:ext>
                </a:extLst>
              </a:tr>
            </a:tbl>
          </a:graphicData>
        </a:graphic>
      </p:graphicFrame>
      <p:sp>
        <p:nvSpPr>
          <p:cNvPr id="44" name="Rounded Rectangular Callout 43"/>
          <p:cNvSpPr/>
          <p:nvPr/>
        </p:nvSpPr>
        <p:spPr>
          <a:xfrm>
            <a:off x="65616" y="2881610"/>
            <a:ext cx="1503416" cy="2352918"/>
          </a:xfrm>
          <a:prstGeom prst="wedgeRoundRectCallout">
            <a:avLst>
              <a:gd name="adj1" fmla="val 60432"/>
              <a:gd name="adj2" fmla="val 6174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Keeping x*2 and </a:t>
            </a:r>
            <a:r>
              <a:rPr lang="en-US" dirty="0" err="1" smtClean="0"/>
              <a:t>x+x</a:t>
            </a:r>
            <a:r>
              <a:rPr lang="en-US" dirty="0" smtClean="0"/>
              <a:t> does not force us to keep all programs generated from both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434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</a:t>
            </a:r>
            <a:r>
              <a:rPr lang="en-US" dirty="0" smtClean="0"/>
              <a:t>a </a:t>
            </a:r>
            <a:r>
              <a:rPr lang="en-US" dirty="0" err="1" smtClean="0"/>
              <a:t>pCFG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168140" y="2346960"/>
                <a:ext cx="322723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𝑡𝑟𝑒𝑒</m:t>
                          </m:r>
                        </m:sub>
                      </m:sSub>
                      <m:d>
                        <m:dPr>
                          <m:endChr m:val="|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𝑛𝑜𝑑𝑒𝑠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8140" y="2346960"/>
                <a:ext cx="3227230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ular Callout 4"/>
          <p:cNvSpPr/>
          <p:nvPr/>
        </p:nvSpPr>
        <p:spPr>
          <a:xfrm>
            <a:off x="6598920" y="3223260"/>
            <a:ext cx="3017520" cy="2804160"/>
          </a:xfrm>
          <a:prstGeom prst="wedgeRoundRectCallout">
            <a:avLst>
              <a:gd name="adj1" fmla="val -35853"/>
              <a:gd name="adj2" fmla="val -6103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Probability of a tree/string given the probabilities of individual tokens/chars</a:t>
            </a:r>
          </a:p>
          <a:p>
            <a:pPr algn="ctr"/>
            <a:endParaRPr lang="en-US" dirty="0"/>
          </a:p>
          <a:p>
            <a:pPr algn="ctr"/>
            <a:r>
              <a:rPr lang="en-US" dirty="0" smtClean="0"/>
              <a:t>Usually a simple function that traverses the tree/string and multiplies probabilities </a:t>
            </a:r>
            <a:br>
              <a:rPr lang="en-US" dirty="0" smtClean="0"/>
            </a:br>
            <a:r>
              <a:rPr lang="en-US" dirty="0" smtClean="0"/>
              <a:t>(adds their logs)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333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</a:t>
            </a:r>
            <a:r>
              <a:rPr lang="en-US" dirty="0" smtClean="0"/>
              <a:t>a </a:t>
            </a:r>
            <a:r>
              <a:rPr lang="en-US" dirty="0" err="1" smtClean="0"/>
              <a:t>pCFG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96381" y="2263340"/>
                <a:ext cx="4086375" cy="22467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𝑒𝑥𝑝𝑟</m:t>
                    </m:r>
                  </m:oMath>
                </a14:m>
                <a:r>
                  <a:rPr lang="en-US" sz="2800" dirty="0" smtClean="0"/>
                  <a:t> = 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𝑒𝑥𝑝</m:t>
                    </m:r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 smtClean="0"/>
                  <a:t> +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𝑒𝑥𝑝</m:t>
                    </m:r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 smtClean="0"/>
                  <a:t>	A</a:t>
                </a:r>
              </a:p>
              <a:p>
                <a:r>
                  <a:rPr lang="en-US" sz="2800" dirty="0"/>
                  <a:t> </a:t>
                </a:r>
                <a:r>
                  <a:rPr lang="en-US" sz="2800" dirty="0" smtClean="0"/>
                  <a:t>          |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𝑒𝑥𝑝</m:t>
                    </m:r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800" dirty="0" smtClean="0"/>
                  <a:t> –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𝑒𝑥𝑝</m:t>
                    </m:r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800" dirty="0" smtClean="0"/>
                  <a:t>	B</a:t>
                </a:r>
              </a:p>
              <a:p>
                <a:r>
                  <a:rPr lang="en-US" sz="2800" dirty="0"/>
                  <a:t> </a:t>
                </a:r>
                <a:r>
                  <a:rPr lang="en-US" sz="2800" dirty="0" smtClean="0"/>
                  <a:t>          |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𝑒𝑥𝑝</m:t>
                    </m:r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sz="2800" dirty="0" smtClean="0"/>
                  <a:t> *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𝑒𝑥𝑝</m:t>
                    </m:r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sz="2800" dirty="0" smtClean="0"/>
                  <a:t>	C</a:t>
                </a:r>
              </a:p>
              <a:p>
                <a:r>
                  <a:rPr lang="en-US" sz="2800" dirty="0"/>
                  <a:t> </a:t>
                </a:r>
                <a:r>
                  <a:rPr lang="en-US" sz="2800" dirty="0" smtClean="0"/>
                  <a:t>          |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𝑣𝑎𝑟</m:t>
                    </m:r>
                  </m:oMath>
                </a14:m>
                <a:r>
                  <a:rPr lang="en-US" sz="2800" dirty="0" smtClean="0"/>
                  <a:t>			D</a:t>
                </a:r>
              </a:p>
              <a:p>
                <a:r>
                  <a:rPr lang="en-US" sz="2800" dirty="0" smtClean="0"/>
                  <a:t>           |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𝑛𝑢𝑚</m:t>
                    </m:r>
                  </m:oMath>
                </a14:m>
                <a:r>
                  <a:rPr lang="en-US" sz="2800" dirty="0" smtClean="0"/>
                  <a:t> 		E</a:t>
                </a:r>
                <a:endParaRPr lang="en-US" sz="28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381" y="2263340"/>
                <a:ext cx="4086375" cy="2246769"/>
              </a:xfrm>
              <a:prstGeom prst="rect">
                <a:avLst/>
              </a:prstGeom>
              <a:blipFill>
                <a:blip r:embed="rId2"/>
                <a:stretch>
                  <a:fillRect t="-2439" r="-2385" b="-6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5166903"/>
                  </p:ext>
                </p:extLst>
              </p:nvPr>
            </p:nvGraphicFramePr>
            <p:xfrm>
              <a:off x="6340243" y="2263340"/>
              <a:ext cx="4752324" cy="30156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2054">
                      <a:extLst>
                        <a:ext uri="{9D8B030D-6E8A-4147-A177-3AD203B41FA5}">
                          <a16:colId xmlns:a16="http://schemas.microsoft.com/office/drawing/2014/main" val="2029781710"/>
                        </a:ext>
                      </a:extLst>
                    </a:gridCol>
                    <a:gridCol w="792054">
                      <a:extLst>
                        <a:ext uri="{9D8B030D-6E8A-4147-A177-3AD203B41FA5}">
                          <a16:colId xmlns:a16="http://schemas.microsoft.com/office/drawing/2014/main" val="1812598856"/>
                        </a:ext>
                      </a:extLst>
                    </a:gridCol>
                    <a:gridCol w="792054">
                      <a:extLst>
                        <a:ext uri="{9D8B030D-6E8A-4147-A177-3AD203B41FA5}">
                          <a16:colId xmlns:a16="http://schemas.microsoft.com/office/drawing/2014/main" val="1627567190"/>
                        </a:ext>
                      </a:extLst>
                    </a:gridCol>
                    <a:gridCol w="792054">
                      <a:extLst>
                        <a:ext uri="{9D8B030D-6E8A-4147-A177-3AD203B41FA5}">
                          <a16:colId xmlns:a16="http://schemas.microsoft.com/office/drawing/2014/main" val="937110597"/>
                        </a:ext>
                      </a:extLst>
                    </a:gridCol>
                    <a:gridCol w="792054">
                      <a:extLst>
                        <a:ext uri="{9D8B030D-6E8A-4147-A177-3AD203B41FA5}">
                          <a16:colId xmlns:a16="http://schemas.microsoft.com/office/drawing/2014/main" val="2864844310"/>
                        </a:ext>
                      </a:extLst>
                    </a:gridCol>
                    <a:gridCol w="792054">
                      <a:extLst>
                        <a:ext uri="{9D8B030D-6E8A-4147-A177-3AD203B41FA5}">
                          <a16:colId xmlns:a16="http://schemas.microsoft.com/office/drawing/2014/main" val="1983342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C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D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E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82341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Root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916494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85684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01457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81234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251934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5,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5,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5,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5,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5,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52449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6,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6,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6,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6,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6,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92981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5166903"/>
                  </p:ext>
                </p:extLst>
              </p:nvPr>
            </p:nvGraphicFramePr>
            <p:xfrm>
              <a:off x="6340243" y="2263340"/>
              <a:ext cx="4752324" cy="30156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2054">
                      <a:extLst>
                        <a:ext uri="{9D8B030D-6E8A-4147-A177-3AD203B41FA5}">
                          <a16:colId xmlns:a16="http://schemas.microsoft.com/office/drawing/2014/main" val="2029781710"/>
                        </a:ext>
                      </a:extLst>
                    </a:gridCol>
                    <a:gridCol w="792054">
                      <a:extLst>
                        <a:ext uri="{9D8B030D-6E8A-4147-A177-3AD203B41FA5}">
                          <a16:colId xmlns:a16="http://schemas.microsoft.com/office/drawing/2014/main" val="1812598856"/>
                        </a:ext>
                      </a:extLst>
                    </a:gridCol>
                    <a:gridCol w="792054">
                      <a:extLst>
                        <a:ext uri="{9D8B030D-6E8A-4147-A177-3AD203B41FA5}">
                          <a16:colId xmlns:a16="http://schemas.microsoft.com/office/drawing/2014/main" val="1627567190"/>
                        </a:ext>
                      </a:extLst>
                    </a:gridCol>
                    <a:gridCol w="792054">
                      <a:extLst>
                        <a:ext uri="{9D8B030D-6E8A-4147-A177-3AD203B41FA5}">
                          <a16:colId xmlns:a16="http://schemas.microsoft.com/office/drawing/2014/main" val="937110597"/>
                        </a:ext>
                      </a:extLst>
                    </a:gridCol>
                    <a:gridCol w="792054">
                      <a:extLst>
                        <a:ext uri="{9D8B030D-6E8A-4147-A177-3AD203B41FA5}">
                          <a16:colId xmlns:a16="http://schemas.microsoft.com/office/drawing/2014/main" val="2864844310"/>
                        </a:ext>
                      </a:extLst>
                    </a:gridCol>
                    <a:gridCol w="792054">
                      <a:extLst>
                        <a:ext uri="{9D8B030D-6E8A-4147-A177-3AD203B41FA5}">
                          <a16:colId xmlns:a16="http://schemas.microsoft.com/office/drawing/2014/main" val="1983342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C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D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E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8234144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Root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769" t="-106452" r="-403077" b="-6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769" t="-106452" r="-303077" b="-6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769" t="-106452" r="-203077" b="-6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769" t="-106452" r="-103077" b="-6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0769" t="-106452" r="-3077" b="-6225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1649451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769" t="-206452" r="-403077" b="-5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769" t="-206452" r="-303077" b="-5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769" t="-206452" r="-203077" b="-5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769" t="-206452" r="-103077" b="-5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0769" t="-206452" r="-3077" b="-5225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8568442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769" t="-306452" r="-403077" b="-4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769" t="-306452" r="-303077" b="-4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769" t="-306452" r="-203077" b="-4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769" t="-306452" r="-103077" b="-4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0769" t="-306452" r="-3077" b="-4225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0145770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769" t="-406452" r="-403077" b="-3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769" t="-406452" r="-303077" b="-3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769" t="-406452" r="-203077" b="-3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769" t="-406452" r="-103077" b="-3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0769" t="-406452" r="-3077" b="-3225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8123404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769" t="-506452" r="-403077" b="-2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769" t="-506452" r="-303077" b="-2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769" t="-506452" r="-203077" b="-2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769" t="-506452" r="-103077" b="-2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0769" t="-506452" r="-3077" b="-2225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5193418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769" t="-606452" r="-403077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769" t="-606452" r="-303077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769" t="-606452" r="-203077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769" t="-606452" r="-103077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0769" t="-606452" r="-3077" b="-1225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95244973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769" t="-706452" r="-403077" b="-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769" t="-706452" r="-303077" b="-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769" t="-706452" r="-203077" b="-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769" t="-706452" r="-103077" b="-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0769" t="-706452" r="-3077" b="-225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92981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757160" y="1280160"/>
                <a:ext cx="2212144" cy="764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𝑛𝑜𝑑𝑒𝑠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7160" y="1280160"/>
                <a:ext cx="2212144" cy="7645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9348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</a:t>
            </a:r>
            <a:r>
              <a:rPr lang="en-US" dirty="0" smtClean="0"/>
              <a:t>a </a:t>
            </a:r>
            <a:r>
              <a:rPr lang="en-US" dirty="0" err="1" smtClean="0"/>
              <a:t>pCFG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181416" y="4032654"/>
                <a:ext cx="10955179" cy="8701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lang="en-US" sz="32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𝑡𝑟𝑒𝑒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 |</m:t>
                              </m:r>
                              <m:sSubSup>
                                <m:sSubSup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𝑛𝑜𝑑𝑒𝑠</m:t>
                                  </m:r>
                                </m:sub>
                                <m:sup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3200">
                                      <a:latin typeface="Cambria Math" panose="02040503050406030204" pitchFamily="18" charset="0"/>
                                    </a:rPr>
                                    <m:t>argmax</m:t>
                                  </m:r>
                                </m:e>
                                <m:li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3200" b="0" i="0" smtClean="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32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𝑡𝑟𝑒𝑒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 |</m:t>
                                      </m:r>
                                      <m:sSubSup>
                                        <m:sSubSupPr>
                                          <m:ctrlP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𝑛𝑜𝑑𝑒𝑠</m:t>
                                          </m:r>
                                        </m:sub>
                                        <m:sup>
                                          <m: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func>
                            </m:e>
                          </m:func>
                        </m:e>
                      </m:func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416" y="4032654"/>
                <a:ext cx="10955179" cy="8701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225040" y="1562607"/>
                <a:ext cx="8261429" cy="21074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0" dirty="0" smtClean="0"/>
                  <a:t>Given a set of sample trees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3200" b="0" i="0" smtClean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3200" b="0" i="0" smtClean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US" sz="3200" b="0" i="0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sz="3200" b="0" i="0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m:rPr>
                            <m:sty m:val="p"/>
                          </m:rPr>
                          <a:rPr lang="en-US" sz="3200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dirty="0" smtClean="0"/>
                  <a:t> </a:t>
                </a:r>
              </a:p>
              <a:p>
                <a:r>
                  <a:rPr lang="en-US" sz="3200" dirty="0" smtClean="0"/>
                  <a:t>and a parametric distribution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𝑛𝑜𝑑𝑒𝑠</m:t>
                        </m:r>
                      </m:sub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p>
                    </m:sSubSup>
                  </m:oMath>
                </a14:m>
                <a:endParaRPr lang="en-US" sz="3200" dirty="0" smtClean="0"/>
              </a:p>
              <a:p>
                <a:r>
                  <a:rPr lang="en-US" sz="3200" dirty="0" smtClean="0"/>
                  <a:t>the goal is to find parameters that maximize the </a:t>
                </a:r>
              </a:p>
              <a:p>
                <a:r>
                  <a:rPr lang="en-US" sz="3200" dirty="0" smtClean="0"/>
                  <a:t>probability of the samples.</a:t>
                </a:r>
                <a:endParaRPr lang="en-US" sz="3200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040" y="1562607"/>
                <a:ext cx="8261429" cy="2107436"/>
              </a:xfrm>
              <a:prstGeom prst="rect">
                <a:avLst/>
              </a:prstGeom>
              <a:blipFill>
                <a:blip r:embed="rId3"/>
                <a:stretch>
                  <a:fillRect l="-1845" t="-3468" r="-886" b="-86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4935472" y="4990435"/>
                <a:ext cx="6353278" cy="8701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limLow>
                            <m:limLow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200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2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2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2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bSup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 |</m:t>
                                  </m:r>
                                  <m:sSubSup>
                                    <m:sSubSup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bSup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Sup>
                                    <m:sSubSupPr>
                                      <m:ctrlP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𝑛𝑜𝑑𝑒𝑠</m:t>
                                      </m:r>
                                    </m:sub>
                                    <m:sup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5472" y="4990435"/>
                <a:ext cx="6353278" cy="8701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1565978" y="6028469"/>
                <a:ext cx="9073959" cy="4269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where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US" dirty="0" smtClean="0"/>
                  <a:t> is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 smtClean="0"/>
                  <a:t> of tree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 smtClean="0"/>
                  <a:t> in the dataset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US" dirty="0" smtClean="0"/>
                  <a:t> is the context where </a:t>
                </a:r>
                <a:r>
                  <a:rPr lang="en-US" dirty="0"/>
                  <a:t>node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of </a:t>
                </a:r>
                <a:r>
                  <a:rPr lang="en-US" dirty="0"/>
                  <a:t>tree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 smtClean="0"/>
                  <a:t> appears </a:t>
                </a:r>
                <a:endParaRPr lang="en-US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5978" y="6028469"/>
                <a:ext cx="9073959" cy="426912"/>
              </a:xfrm>
              <a:prstGeom prst="rect">
                <a:avLst/>
              </a:prstGeom>
              <a:blipFill>
                <a:blip r:embed="rId5"/>
                <a:stretch>
                  <a:fillRect l="-605" t="-1429" b="-1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5637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a </a:t>
            </a:r>
            <a:r>
              <a:rPr lang="en-US" dirty="0" err="1" smtClean="0"/>
              <a:t>pCFG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5084081" y="2176311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/>
            <a:r>
              <a:rPr lang="en-US" dirty="0" smtClean="0"/>
              <a:t>*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4302626" y="2974202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5296469" y="2974202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cxnSp>
        <p:nvCxnSpPr>
          <p:cNvPr id="7" name="Straight Arrow Connector 6"/>
          <p:cNvCxnSpPr>
            <a:stCxn id="4" idx="3"/>
            <a:endCxn id="5" idx="7"/>
          </p:cNvCxnSpPr>
          <p:nvPr/>
        </p:nvCxnSpPr>
        <p:spPr>
          <a:xfrm flipH="1">
            <a:off x="4552587" y="2426272"/>
            <a:ext cx="574380" cy="590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4" idx="5"/>
            <a:endCxn id="6" idx="0"/>
          </p:cNvCxnSpPr>
          <p:nvPr/>
        </p:nvCxnSpPr>
        <p:spPr>
          <a:xfrm>
            <a:off x="5334042" y="2426272"/>
            <a:ext cx="108851" cy="547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5498532" y="1701741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/>
            <a:r>
              <a:rPr lang="en-US" dirty="0" smtClean="0"/>
              <a:t>*</a:t>
            </a:r>
            <a:endParaRPr lang="en-US" dirty="0"/>
          </a:p>
        </p:txBody>
      </p:sp>
      <p:cxnSp>
        <p:nvCxnSpPr>
          <p:cNvPr id="12" name="Straight Arrow Connector 11"/>
          <p:cNvCxnSpPr>
            <a:stCxn id="11" idx="3"/>
            <a:endCxn id="4" idx="7"/>
          </p:cNvCxnSpPr>
          <p:nvPr/>
        </p:nvCxnSpPr>
        <p:spPr>
          <a:xfrm flipH="1">
            <a:off x="5334042" y="1951702"/>
            <a:ext cx="207376" cy="267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908422" y="2171985"/>
            <a:ext cx="292847" cy="2928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cxnSp>
        <p:nvCxnSpPr>
          <p:cNvPr id="14" name="Straight Arrow Connector 13"/>
          <p:cNvCxnSpPr>
            <a:stCxn id="11" idx="5"/>
            <a:endCxn id="13" idx="1"/>
          </p:cNvCxnSpPr>
          <p:nvPr/>
        </p:nvCxnSpPr>
        <p:spPr>
          <a:xfrm>
            <a:off x="5748493" y="1951702"/>
            <a:ext cx="202815" cy="263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5712332" y="1501745"/>
                <a:ext cx="718964" cy="3860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US" dirty="0" smtClean="0"/>
                  <a:t>=C</a:t>
                </a:r>
                <a:endParaRPr lang="en-US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2332" y="1501745"/>
                <a:ext cx="718964" cy="386068"/>
              </a:xfrm>
              <a:prstGeom prst="rect">
                <a:avLst/>
              </a:prstGeom>
              <a:blipFill>
                <a:blip r:embed="rId2"/>
                <a:stretch>
                  <a:fillRect t="-3125" b="-234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93028" y="1343917"/>
            <a:ext cx="12056993" cy="276267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08067" y="1394036"/>
            <a:ext cx="901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Dataset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1942004" y="2039464"/>
            <a:ext cx="71526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 smtClean="0"/>
              <a:t>…</a:t>
            </a:r>
            <a:endParaRPr lang="en-US" sz="6000" dirty="0"/>
          </a:p>
        </p:txBody>
      </p:sp>
      <p:sp>
        <p:nvSpPr>
          <p:cNvPr id="19" name="TextBox 18"/>
          <p:cNvSpPr txBox="1"/>
          <p:nvPr/>
        </p:nvSpPr>
        <p:spPr>
          <a:xfrm>
            <a:off x="8540016" y="1958539"/>
            <a:ext cx="71526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 smtClean="0"/>
              <a:t>…</a:t>
            </a:r>
            <a:endParaRPr lang="en-US" sz="6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5005825" y="3695247"/>
                <a:ext cx="724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Tree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825" y="3695247"/>
                <a:ext cx="724494" cy="369332"/>
              </a:xfrm>
              <a:prstGeom prst="rect">
                <a:avLst/>
              </a:prstGeom>
              <a:blipFill>
                <a:blip r:embed="rId3"/>
                <a:stretch>
                  <a:fillRect l="-6723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4298714" y="1980105"/>
                <a:ext cx="658578" cy="3837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US" dirty="0" smtClean="0"/>
                  <a:t>=C</a:t>
                </a:r>
                <a:endParaRPr lang="en-US" dirty="0"/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8714" y="1980105"/>
                <a:ext cx="658578" cy="383759"/>
              </a:xfrm>
              <a:prstGeom prst="rect">
                <a:avLst/>
              </a:prstGeom>
              <a:blipFill>
                <a:blip r:embed="rId4"/>
                <a:stretch>
                  <a:fillRect t="-4762" r="-7407" b="-25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3710551" y="3225134"/>
                <a:ext cx="683136" cy="3843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US" dirty="0" smtClean="0"/>
                  <a:t>=D</a:t>
                </a:r>
                <a:endParaRPr lang="en-US" dirty="0"/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551" y="3225134"/>
                <a:ext cx="683136" cy="384336"/>
              </a:xfrm>
              <a:prstGeom prst="rect">
                <a:avLst/>
              </a:prstGeom>
              <a:blipFill>
                <a:blip r:embed="rId5"/>
                <a:stretch>
                  <a:fillRect t="-3175" r="-6250" b="-25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5181016" y="3265831"/>
                <a:ext cx="652679" cy="3843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US" dirty="0" smtClean="0"/>
                  <a:t>=E</a:t>
                </a:r>
                <a:endParaRPr lang="en-US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016" y="3265831"/>
                <a:ext cx="652679" cy="384336"/>
              </a:xfrm>
              <a:prstGeom prst="rect">
                <a:avLst/>
              </a:prstGeom>
              <a:blipFill>
                <a:blip r:embed="rId6"/>
                <a:stretch>
                  <a:fillRect t="-4762" r="-7477" b="-25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6068350" y="2354261"/>
                <a:ext cx="652679" cy="3857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US" dirty="0" smtClean="0"/>
                  <a:t>=E</a:t>
                </a:r>
                <a:endParaRPr lang="en-US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8350" y="2354261"/>
                <a:ext cx="652679" cy="385747"/>
              </a:xfrm>
              <a:prstGeom prst="rect">
                <a:avLst/>
              </a:prstGeom>
              <a:blipFill>
                <a:blip r:embed="rId7"/>
                <a:stretch>
                  <a:fillRect t="-3175" r="-7407" b="-25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6394689" y="1512248"/>
                <a:ext cx="1191714" cy="3860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US" dirty="0" smtClean="0"/>
                  <a:t>=Root</a:t>
                </a:r>
                <a:endParaRPr lang="en-US" dirty="0"/>
              </a:p>
            </p:txBody>
          </p:sp>
        </mc:Choice>
        <mc:Fallback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4689" y="1512248"/>
                <a:ext cx="1191714" cy="386068"/>
              </a:xfrm>
              <a:prstGeom prst="rect">
                <a:avLst/>
              </a:prstGeom>
              <a:blipFill>
                <a:blip r:embed="rId8"/>
                <a:stretch>
                  <a:fillRect t="-3175" b="-25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6649805" y="2335612"/>
                <a:ext cx="1191714" cy="3860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US" dirty="0" smtClean="0"/>
                  <a:t>=6</a:t>
                </a:r>
                <a:endParaRPr lang="en-US" dirty="0"/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9805" y="2335612"/>
                <a:ext cx="1191714" cy="386068"/>
              </a:xfrm>
              <a:prstGeom prst="rect">
                <a:avLst/>
              </a:prstGeom>
              <a:blipFill>
                <a:blip r:embed="rId9"/>
                <a:stretch>
                  <a:fillRect t="-3175" b="-25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5734023" y="3265831"/>
                <a:ext cx="1191714" cy="3860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US" dirty="0" smtClean="0"/>
                  <a:t>=6</a:t>
                </a:r>
                <a:endParaRPr lang="en-US" dirty="0"/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4023" y="3265831"/>
                <a:ext cx="1191714" cy="386068"/>
              </a:xfrm>
              <a:prstGeom prst="rect">
                <a:avLst/>
              </a:prstGeom>
              <a:blipFill>
                <a:blip r:embed="rId10"/>
                <a:stretch>
                  <a:fillRect t="-4762" b="-25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4286074" y="3218097"/>
                <a:ext cx="1191714" cy="3860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US" dirty="0" smtClean="0"/>
                  <a:t>=5</a:t>
                </a:r>
                <a:endParaRPr lang="en-US" dirty="0"/>
              </a:p>
            </p:txBody>
          </p:sp>
        </mc:Choice>
        <mc:Fallback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074" y="3218097"/>
                <a:ext cx="1191714" cy="386068"/>
              </a:xfrm>
              <a:prstGeom prst="rect">
                <a:avLst/>
              </a:prstGeom>
              <a:blipFill>
                <a:blip r:embed="rId11"/>
                <a:stretch>
                  <a:fillRect t="-4762" b="-25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4270393" y="2271335"/>
                <a:ext cx="1191714" cy="3860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US" dirty="0" smtClean="0"/>
                  <a:t>=5</a:t>
                </a:r>
                <a:endParaRPr lang="en-US" dirty="0"/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0393" y="2271335"/>
                <a:ext cx="1191714" cy="386068"/>
              </a:xfrm>
              <a:prstGeom prst="rect">
                <a:avLst/>
              </a:prstGeom>
              <a:blipFill>
                <a:blip r:embed="rId12"/>
                <a:stretch>
                  <a:fillRect t="-4762" b="-25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Rectangle 30"/>
              <p:cNvSpPr/>
              <p:nvPr/>
            </p:nvSpPr>
            <p:spPr>
              <a:xfrm>
                <a:off x="6696660" y="5009599"/>
                <a:ext cx="5486438" cy="6801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𝑡𝑟𝑒𝑒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|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𝑛𝑜𝑑𝑒𝑠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unc>
                                      <m:func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5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𝐶</m:t>
                                            </m:r>
                                          </m:sub>
                                        </m:s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func>
                                          <m:func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>
                                                <a:latin typeface="Cambria Math" panose="02040503050406030204" pitchFamily="18" charset="0"/>
                                              </a:rPr>
                                              <m:t>log</m:t>
                                            </m:r>
                                          </m:fName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5,</m:t>
                                                </m:r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𝐷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</m:e>
                                        </m:func>
                                        <m:r>
                                          <m:rPr>
                                            <m:nor/>
                                          </m:rPr>
                                          <a:rPr lang="en-US" dirty="0"/>
                                          <m:t> </m:t>
                                        </m:r>
                                      </m:e>
                                    </m:func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unc>
                                      <m:func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6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𝐸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nor/>
                                          </m:rPr>
                                          <a:rPr lang="en-US" dirty="0"/>
                                          <m:t> </m:t>
                                        </m:r>
                                      </m:e>
                                    </m:func>
                                  </m:e>
                                </m:func>
                              </m:e>
                            </m:mr>
                          </m:m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660" y="5009599"/>
                <a:ext cx="5486438" cy="68018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Picture 3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6000" y="4261566"/>
            <a:ext cx="5972438" cy="234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8969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Neural Networks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Standard </a:t>
            </a:r>
            <a:r>
              <a:rPr lang="en-US" dirty="0" smtClean="0"/>
              <a:t>neural network model:</a:t>
            </a:r>
          </a:p>
          <a:p>
            <a:pPr lvl="1"/>
            <a:r>
              <a:rPr lang="en-US" dirty="0" smtClean="0"/>
              <a:t>very </a:t>
            </a:r>
            <a:r>
              <a:rPr lang="en-US" dirty="0" smtClean="0"/>
              <a:t>general parametric function 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2134829" y="3794284"/>
            <a:ext cx="266700" cy="2000351"/>
            <a:chOff x="1943100" y="3215640"/>
            <a:chExt cx="266700" cy="2000351"/>
          </a:xfrm>
        </p:grpSpPr>
        <p:sp>
          <p:nvSpPr>
            <p:cNvPr id="4" name="Flowchart: Process 3"/>
            <p:cNvSpPr/>
            <p:nvPr/>
          </p:nvSpPr>
          <p:spPr>
            <a:xfrm>
              <a:off x="1943100" y="3215640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lowchart: Process 4"/>
            <p:cNvSpPr/>
            <p:nvPr/>
          </p:nvSpPr>
          <p:spPr>
            <a:xfrm>
              <a:off x="1943100" y="3465482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lowchart: Process 5"/>
            <p:cNvSpPr/>
            <p:nvPr/>
          </p:nvSpPr>
          <p:spPr>
            <a:xfrm>
              <a:off x="1943100" y="3715324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Process 6"/>
            <p:cNvSpPr/>
            <p:nvPr/>
          </p:nvSpPr>
          <p:spPr>
            <a:xfrm>
              <a:off x="1943100" y="3965166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Process 7"/>
            <p:cNvSpPr/>
            <p:nvPr/>
          </p:nvSpPr>
          <p:spPr>
            <a:xfrm>
              <a:off x="1943100" y="4215008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Process 8"/>
            <p:cNvSpPr/>
            <p:nvPr/>
          </p:nvSpPr>
          <p:spPr>
            <a:xfrm>
              <a:off x="1943100" y="4464850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lowchart: Process 9"/>
            <p:cNvSpPr/>
            <p:nvPr/>
          </p:nvSpPr>
          <p:spPr>
            <a:xfrm>
              <a:off x="1943100" y="4714692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Process 10"/>
            <p:cNvSpPr/>
            <p:nvPr/>
          </p:nvSpPr>
          <p:spPr>
            <a:xfrm>
              <a:off x="1943100" y="4964531"/>
              <a:ext cx="266700" cy="251460"/>
            </a:xfrm>
            <a:prstGeom prst="flowChartProcess">
              <a:avLst/>
            </a:prstGeom>
            <a:solidFill>
              <a:schemeClr val="accent4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044015" y="3323411"/>
                <a:ext cx="4483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4015" y="3323411"/>
                <a:ext cx="448328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2943864" y="4212464"/>
                <a:ext cx="1184788" cy="1086465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lIns="2743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3864" y="4212464"/>
                <a:ext cx="1184788" cy="10864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411247" y="4512164"/>
                <a:ext cx="52289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247" y="4512164"/>
                <a:ext cx="52289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>
            <a:stCxn id="14" idx="3"/>
          </p:cNvCxnSpPr>
          <p:nvPr/>
        </p:nvCxnSpPr>
        <p:spPr>
          <a:xfrm flipV="1">
            <a:off x="4128652" y="4755696"/>
            <a:ext cx="34010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4468761" y="4471741"/>
                <a:ext cx="604684" cy="60406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𝑟𝑒𝑐𝑡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8761" y="4471741"/>
                <a:ext cx="604684" cy="604066"/>
              </a:xfrm>
              <a:prstGeom prst="rect">
                <a:avLst/>
              </a:prstGeom>
              <a:blipFill>
                <a:blip r:embed="rId5"/>
                <a:stretch>
                  <a:fillRect l="-9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/>
          <p:cNvCxnSpPr>
            <a:stCxn id="18" idx="3"/>
          </p:cNvCxnSpPr>
          <p:nvPr/>
        </p:nvCxnSpPr>
        <p:spPr>
          <a:xfrm flipV="1">
            <a:off x="5073445" y="4755696"/>
            <a:ext cx="340109" cy="18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/>
          <p:cNvGrpSpPr/>
          <p:nvPr/>
        </p:nvGrpSpPr>
        <p:grpSpPr>
          <a:xfrm>
            <a:off x="5432425" y="3843446"/>
            <a:ext cx="266700" cy="2000351"/>
            <a:chOff x="1943100" y="3215640"/>
            <a:chExt cx="266700" cy="2000351"/>
          </a:xfrm>
        </p:grpSpPr>
        <p:sp>
          <p:nvSpPr>
            <p:cNvPr id="23" name="Flowchart: Process 22"/>
            <p:cNvSpPr/>
            <p:nvPr/>
          </p:nvSpPr>
          <p:spPr>
            <a:xfrm>
              <a:off x="1943100" y="3215640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lowchart: Process 23"/>
            <p:cNvSpPr/>
            <p:nvPr/>
          </p:nvSpPr>
          <p:spPr>
            <a:xfrm>
              <a:off x="1943100" y="3465482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lowchart: Process 24"/>
            <p:cNvSpPr/>
            <p:nvPr/>
          </p:nvSpPr>
          <p:spPr>
            <a:xfrm>
              <a:off x="1943100" y="3715324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lowchart: Process 25"/>
            <p:cNvSpPr/>
            <p:nvPr/>
          </p:nvSpPr>
          <p:spPr>
            <a:xfrm>
              <a:off x="1943100" y="3965166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lowchart: Process 26"/>
            <p:cNvSpPr/>
            <p:nvPr/>
          </p:nvSpPr>
          <p:spPr>
            <a:xfrm>
              <a:off x="1943100" y="4215008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lowchart: Process 27"/>
            <p:cNvSpPr/>
            <p:nvPr/>
          </p:nvSpPr>
          <p:spPr>
            <a:xfrm>
              <a:off x="1943100" y="4464850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lowchart: Process 28"/>
            <p:cNvSpPr/>
            <p:nvPr/>
          </p:nvSpPr>
          <p:spPr>
            <a:xfrm>
              <a:off x="1943100" y="4714692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lowchart: Process 29"/>
            <p:cNvSpPr/>
            <p:nvPr/>
          </p:nvSpPr>
          <p:spPr>
            <a:xfrm>
              <a:off x="1943100" y="4964531"/>
              <a:ext cx="266700" cy="251460"/>
            </a:xfrm>
            <a:prstGeom prst="flowChartProcess">
              <a:avLst/>
            </a:prstGeom>
            <a:solidFill>
              <a:schemeClr val="accent4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5341611" y="3372573"/>
                <a:ext cx="4328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1611" y="3372573"/>
                <a:ext cx="43287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/>
          <p:cNvCxnSpPr/>
          <p:nvPr/>
        </p:nvCxnSpPr>
        <p:spPr>
          <a:xfrm flipV="1">
            <a:off x="6452625" y="4754746"/>
            <a:ext cx="340109" cy="18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/>
          <p:cNvGrpSpPr/>
          <p:nvPr/>
        </p:nvGrpSpPr>
        <p:grpSpPr>
          <a:xfrm>
            <a:off x="6811605" y="3842496"/>
            <a:ext cx="266700" cy="2000351"/>
            <a:chOff x="1943100" y="3215640"/>
            <a:chExt cx="266700" cy="2000351"/>
          </a:xfrm>
        </p:grpSpPr>
        <p:sp>
          <p:nvSpPr>
            <p:cNvPr id="34" name="Flowchart: Process 33"/>
            <p:cNvSpPr/>
            <p:nvPr/>
          </p:nvSpPr>
          <p:spPr>
            <a:xfrm>
              <a:off x="1943100" y="3215640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lowchart: Process 34"/>
            <p:cNvSpPr/>
            <p:nvPr/>
          </p:nvSpPr>
          <p:spPr>
            <a:xfrm>
              <a:off x="1943100" y="3465482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lowchart: Process 35"/>
            <p:cNvSpPr/>
            <p:nvPr/>
          </p:nvSpPr>
          <p:spPr>
            <a:xfrm>
              <a:off x="1943100" y="3715324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lowchart: Process 36"/>
            <p:cNvSpPr/>
            <p:nvPr/>
          </p:nvSpPr>
          <p:spPr>
            <a:xfrm>
              <a:off x="1943100" y="3965166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lowchart: Process 37"/>
            <p:cNvSpPr/>
            <p:nvPr/>
          </p:nvSpPr>
          <p:spPr>
            <a:xfrm>
              <a:off x="1943100" y="4215008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lowchart: Process 38"/>
            <p:cNvSpPr/>
            <p:nvPr/>
          </p:nvSpPr>
          <p:spPr>
            <a:xfrm>
              <a:off x="1943100" y="4464850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lowchart: Process 39"/>
            <p:cNvSpPr/>
            <p:nvPr/>
          </p:nvSpPr>
          <p:spPr>
            <a:xfrm>
              <a:off x="1943100" y="4714692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lowchart: Process 40"/>
            <p:cNvSpPr/>
            <p:nvPr/>
          </p:nvSpPr>
          <p:spPr>
            <a:xfrm>
              <a:off x="1943100" y="4964531"/>
              <a:ext cx="266700" cy="251460"/>
            </a:xfrm>
            <a:prstGeom prst="flowChartProcess">
              <a:avLst/>
            </a:prstGeom>
            <a:solidFill>
              <a:schemeClr val="accent4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6720791" y="3371623"/>
                <a:ext cx="4469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0791" y="3371623"/>
                <a:ext cx="44698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5850046" y="4520274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0046" y="4520274"/>
                <a:ext cx="53572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/>
              <p:cNvSpPr/>
              <p:nvPr/>
            </p:nvSpPr>
            <p:spPr>
              <a:xfrm>
                <a:off x="7670428" y="4229591"/>
                <a:ext cx="1184788" cy="1086465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lIns="2743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4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0428" y="4229591"/>
                <a:ext cx="1184788" cy="10864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7137811" y="4529291"/>
                <a:ext cx="52289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7811" y="4529291"/>
                <a:ext cx="522899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/>
          <p:cNvCxnSpPr>
            <a:stCxn id="44" idx="3"/>
          </p:cNvCxnSpPr>
          <p:nvPr/>
        </p:nvCxnSpPr>
        <p:spPr>
          <a:xfrm flipV="1">
            <a:off x="8855216" y="4772823"/>
            <a:ext cx="34010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9195325" y="4488868"/>
                <a:ext cx="604684" cy="60406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𝑟𝑒𝑐𝑡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5325" y="4488868"/>
                <a:ext cx="604684" cy="60406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/>
          <p:cNvCxnSpPr>
            <a:stCxn id="47" idx="3"/>
          </p:cNvCxnSpPr>
          <p:nvPr/>
        </p:nvCxnSpPr>
        <p:spPr>
          <a:xfrm flipV="1">
            <a:off x="9800009" y="4772823"/>
            <a:ext cx="340109" cy="18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/>
          <p:cNvGrpSpPr/>
          <p:nvPr/>
        </p:nvGrpSpPr>
        <p:grpSpPr>
          <a:xfrm>
            <a:off x="10158989" y="3860573"/>
            <a:ext cx="266700" cy="2000351"/>
            <a:chOff x="1943100" y="3215640"/>
            <a:chExt cx="266700" cy="2000351"/>
          </a:xfrm>
        </p:grpSpPr>
        <p:sp>
          <p:nvSpPr>
            <p:cNvPr id="50" name="Flowchart: Process 49"/>
            <p:cNvSpPr/>
            <p:nvPr/>
          </p:nvSpPr>
          <p:spPr>
            <a:xfrm>
              <a:off x="1943100" y="3215640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lowchart: Process 50"/>
            <p:cNvSpPr/>
            <p:nvPr/>
          </p:nvSpPr>
          <p:spPr>
            <a:xfrm>
              <a:off x="1943100" y="3465482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lowchart: Process 51"/>
            <p:cNvSpPr/>
            <p:nvPr/>
          </p:nvSpPr>
          <p:spPr>
            <a:xfrm>
              <a:off x="1943100" y="3715324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lowchart: Process 52"/>
            <p:cNvSpPr/>
            <p:nvPr/>
          </p:nvSpPr>
          <p:spPr>
            <a:xfrm>
              <a:off x="1943100" y="3965166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lowchart: Process 53"/>
            <p:cNvSpPr/>
            <p:nvPr/>
          </p:nvSpPr>
          <p:spPr>
            <a:xfrm>
              <a:off x="1943100" y="4215008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lowchart: Process 54"/>
            <p:cNvSpPr/>
            <p:nvPr/>
          </p:nvSpPr>
          <p:spPr>
            <a:xfrm>
              <a:off x="1943100" y="4464850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Flowchart: Process 55"/>
            <p:cNvSpPr/>
            <p:nvPr/>
          </p:nvSpPr>
          <p:spPr>
            <a:xfrm>
              <a:off x="1943100" y="4714692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lowchart: Process 56"/>
            <p:cNvSpPr/>
            <p:nvPr/>
          </p:nvSpPr>
          <p:spPr>
            <a:xfrm>
              <a:off x="1943100" y="4964531"/>
              <a:ext cx="266700" cy="251460"/>
            </a:xfrm>
            <a:prstGeom prst="flowChartProcess">
              <a:avLst/>
            </a:prstGeom>
            <a:solidFill>
              <a:schemeClr val="accent4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10068175" y="3389700"/>
                <a:ext cx="5910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𝑜𝑢𝑡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8175" y="3389700"/>
                <a:ext cx="59105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ounded Rectangle 58"/>
          <p:cNvSpPr/>
          <p:nvPr/>
        </p:nvSpPr>
        <p:spPr>
          <a:xfrm>
            <a:off x="3942970" y="6290509"/>
            <a:ext cx="4253948" cy="4884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Matrices of parameters to be discovered</a:t>
            </a:r>
            <a:endParaRPr lang="en-US" dirty="0"/>
          </a:p>
        </p:txBody>
      </p:sp>
      <p:cxnSp>
        <p:nvCxnSpPr>
          <p:cNvPr id="61" name="Straight Arrow Connector 60"/>
          <p:cNvCxnSpPr/>
          <p:nvPr/>
        </p:nvCxnSpPr>
        <p:spPr>
          <a:xfrm flipH="1" flipV="1">
            <a:off x="3754152" y="5485355"/>
            <a:ext cx="714609" cy="9075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 flipV="1">
            <a:off x="7474226" y="5582884"/>
            <a:ext cx="630425" cy="8292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 flipV="1">
            <a:off x="1671998" y="5724578"/>
            <a:ext cx="446072" cy="254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1061158" y="5977426"/>
            <a:ext cx="1190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Constant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542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DeepCoder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Learn a conditional distribution for a simple probabilistic grammar </a:t>
            </a:r>
            <a:endParaRPr lang="en-US" dirty="0"/>
          </a:p>
        </p:txBody>
      </p:sp>
      <p:grpSp>
        <p:nvGrpSpPr>
          <p:cNvPr id="52" name="Group 51"/>
          <p:cNvGrpSpPr/>
          <p:nvPr/>
        </p:nvGrpSpPr>
        <p:grpSpPr>
          <a:xfrm>
            <a:off x="2213754" y="2999451"/>
            <a:ext cx="448328" cy="2471224"/>
            <a:chOff x="2044015" y="3323411"/>
            <a:chExt cx="448328" cy="2471224"/>
          </a:xfrm>
        </p:grpSpPr>
        <p:grpSp>
          <p:nvGrpSpPr>
            <p:cNvPr id="4" name="Group 3"/>
            <p:cNvGrpSpPr/>
            <p:nvPr/>
          </p:nvGrpSpPr>
          <p:grpSpPr>
            <a:xfrm>
              <a:off x="2134829" y="3794284"/>
              <a:ext cx="266700" cy="2000351"/>
              <a:chOff x="1943100" y="3215640"/>
              <a:chExt cx="266700" cy="2000351"/>
            </a:xfrm>
          </p:grpSpPr>
          <p:sp>
            <p:nvSpPr>
              <p:cNvPr id="5" name="Flowchart: Process 4"/>
              <p:cNvSpPr/>
              <p:nvPr/>
            </p:nvSpPr>
            <p:spPr>
              <a:xfrm>
                <a:off x="1943100" y="3215640"/>
                <a:ext cx="266700" cy="251460"/>
              </a:xfrm>
              <a:prstGeom prst="flowChartProcess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Flowchart: Process 5"/>
              <p:cNvSpPr/>
              <p:nvPr/>
            </p:nvSpPr>
            <p:spPr>
              <a:xfrm>
                <a:off x="1943100" y="3465482"/>
                <a:ext cx="266700" cy="251460"/>
              </a:xfrm>
              <a:prstGeom prst="flowChartProcess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Flowchart: Process 6"/>
              <p:cNvSpPr/>
              <p:nvPr/>
            </p:nvSpPr>
            <p:spPr>
              <a:xfrm>
                <a:off x="1943100" y="3715324"/>
                <a:ext cx="266700" cy="251460"/>
              </a:xfrm>
              <a:prstGeom prst="flowChartProcess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Flowchart: Process 7"/>
              <p:cNvSpPr/>
              <p:nvPr/>
            </p:nvSpPr>
            <p:spPr>
              <a:xfrm>
                <a:off x="1943100" y="3965166"/>
                <a:ext cx="266700" cy="251460"/>
              </a:xfrm>
              <a:prstGeom prst="flowChartProcess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Flowchart: Process 8"/>
              <p:cNvSpPr/>
              <p:nvPr/>
            </p:nvSpPr>
            <p:spPr>
              <a:xfrm>
                <a:off x="1943100" y="4215008"/>
                <a:ext cx="266700" cy="251460"/>
              </a:xfrm>
              <a:prstGeom prst="flowChartProcess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Flowchart: Process 9"/>
              <p:cNvSpPr/>
              <p:nvPr/>
            </p:nvSpPr>
            <p:spPr>
              <a:xfrm>
                <a:off x="1943100" y="4464850"/>
                <a:ext cx="266700" cy="251460"/>
              </a:xfrm>
              <a:prstGeom prst="flowChartProcess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Flowchart: Process 10"/>
              <p:cNvSpPr/>
              <p:nvPr/>
            </p:nvSpPr>
            <p:spPr>
              <a:xfrm>
                <a:off x="1943100" y="4714692"/>
                <a:ext cx="266700" cy="251460"/>
              </a:xfrm>
              <a:prstGeom prst="flowChartProcess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Flowchart: Process 11"/>
              <p:cNvSpPr/>
              <p:nvPr/>
            </p:nvSpPr>
            <p:spPr>
              <a:xfrm>
                <a:off x="1943100" y="4964531"/>
                <a:ext cx="266700" cy="251460"/>
              </a:xfrm>
              <a:prstGeom prst="flowChartProcess">
                <a:avLst/>
              </a:prstGeom>
              <a:solidFill>
                <a:schemeClr val="accent4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2044015" y="3323411"/>
                  <a:ext cx="4483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44015" y="3323411"/>
                  <a:ext cx="448328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4" name="Straight Arrow Connector 13"/>
          <p:cNvCxnSpPr/>
          <p:nvPr/>
        </p:nvCxnSpPr>
        <p:spPr>
          <a:xfrm flipV="1">
            <a:off x="1841737" y="5379625"/>
            <a:ext cx="446072" cy="254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230897" y="5632473"/>
            <a:ext cx="3638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Vector representing the specification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angle 15"/>
              <p:cNvSpPr/>
              <p:nvPr/>
            </p:nvSpPr>
            <p:spPr>
              <a:xfrm>
                <a:off x="3113602" y="3799633"/>
                <a:ext cx="1756175" cy="1086465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lIns="2743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𝐸𝑛𝑐𝑜𝑑𝑒𝑟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3602" y="3799633"/>
                <a:ext cx="1756175" cy="10864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>
            <a:stCxn id="16" idx="3"/>
            <a:endCxn id="26" idx="1"/>
          </p:cNvCxnSpPr>
          <p:nvPr/>
        </p:nvCxnSpPr>
        <p:spPr>
          <a:xfrm>
            <a:off x="4869777" y="4342866"/>
            <a:ext cx="542334" cy="27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8" idx="3"/>
            <a:endCxn id="16" idx="1"/>
          </p:cNvCxnSpPr>
          <p:nvPr/>
        </p:nvCxnSpPr>
        <p:spPr>
          <a:xfrm flipV="1">
            <a:off x="2571268" y="4342866"/>
            <a:ext cx="542334" cy="27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/>
          <p:cNvGrpSpPr/>
          <p:nvPr/>
        </p:nvGrpSpPr>
        <p:grpSpPr>
          <a:xfrm>
            <a:off x="5412111" y="3470324"/>
            <a:ext cx="266700" cy="2000351"/>
            <a:chOff x="1943100" y="3215640"/>
            <a:chExt cx="266700" cy="2000351"/>
          </a:xfrm>
        </p:grpSpPr>
        <p:sp>
          <p:nvSpPr>
            <p:cNvPr id="23" name="Flowchart: Process 22"/>
            <p:cNvSpPr/>
            <p:nvPr/>
          </p:nvSpPr>
          <p:spPr>
            <a:xfrm>
              <a:off x="1943100" y="3215640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lowchart: Process 23"/>
            <p:cNvSpPr/>
            <p:nvPr/>
          </p:nvSpPr>
          <p:spPr>
            <a:xfrm>
              <a:off x="1943100" y="3465482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lowchart: Process 24"/>
            <p:cNvSpPr/>
            <p:nvPr/>
          </p:nvSpPr>
          <p:spPr>
            <a:xfrm>
              <a:off x="1943100" y="3715324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lowchart: Process 25"/>
            <p:cNvSpPr/>
            <p:nvPr/>
          </p:nvSpPr>
          <p:spPr>
            <a:xfrm>
              <a:off x="1943100" y="3965166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lowchart: Process 26"/>
            <p:cNvSpPr/>
            <p:nvPr/>
          </p:nvSpPr>
          <p:spPr>
            <a:xfrm>
              <a:off x="1943100" y="4215008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lowchart: Process 27"/>
            <p:cNvSpPr/>
            <p:nvPr/>
          </p:nvSpPr>
          <p:spPr>
            <a:xfrm>
              <a:off x="1943100" y="4464850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lowchart: Process 28"/>
            <p:cNvSpPr/>
            <p:nvPr/>
          </p:nvSpPr>
          <p:spPr>
            <a:xfrm>
              <a:off x="1943100" y="4714692"/>
              <a:ext cx="266700" cy="251460"/>
            </a:xfrm>
            <a:prstGeom prst="flowChartProcess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lowchart: Process 29"/>
            <p:cNvSpPr/>
            <p:nvPr/>
          </p:nvSpPr>
          <p:spPr>
            <a:xfrm>
              <a:off x="1943100" y="4964531"/>
              <a:ext cx="266700" cy="251460"/>
            </a:xfrm>
            <a:prstGeom prst="flowChartProcess">
              <a:avLst/>
            </a:prstGeom>
            <a:solidFill>
              <a:schemeClr val="accent4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2" name="Straight Arrow Connector 31"/>
          <p:cNvCxnSpPr>
            <a:endCxn id="30" idx="2"/>
          </p:cNvCxnSpPr>
          <p:nvPr/>
        </p:nvCxnSpPr>
        <p:spPr>
          <a:xfrm flipH="1" flipV="1">
            <a:off x="5545461" y="5470675"/>
            <a:ext cx="184950" cy="253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066675" y="5754630"/>
            <a:ext cx="2994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Latent representation of spec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Rectangle 33"/>
              <p:cNvSpPr/>
              <p:nvPr/>
            </p:nvSpPr>
            <p:spPr>
              <a:xfrm>
                <a:off x="6221145" y="3799633"/>
                <a:ext cx="1756175" cy="1086465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lIns="2743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𝐷𝑒𝑐𝑜𝑑𝑒𝑟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1145" y="3799633"/>
                <a:ext cx="1756175" cy="10864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/>
          <p:cNvCxnSpPr>
            <a:stCxn id="34" idx="3"/>
            <a:endCxn id="43" idx="1"/>
          </p:cNvCxnSpPr>
          <p:nvPr/>
        </p:nvCxnSpPr>
        <p:spPr>
          <a:xfrm>
            <a:off x="7977320" y="4342866"/>
            <a:ext cx="682042" cy="27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26" idx="3"/>
            <a:endCxn id="34" idx="1"/>
          </p:cNvCxnSpPr>
          <p:nvPr/>
        </p:nvCxnSpPr>
        <p:spPr>
          <a:xfrm flipV="1">
            <a:off x="5678811" y="4342866"/>
            <a:ext cx="542334" cy="27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52"/>
          <p:cNvGrpSpPr/>
          <p:nvPr/>
        </p:nvGrpSpPr>
        <p:grpSpPr>
          <a:xfrm>
            <a:off x="8568548" y="2999451"/>
            <a:ext cx="591059" cy="2471224"/>
            <a:chOff x="8398809" y="3344404"/>
            <a:chExt cx="591059" cy="2471224"/>
          </a:xfrm>
        </p:grpSpPr>
        <p:grpSp>
          <p:nvGrpSpPr>
            <p:cNvPr id="39" name="Group 38"/>
            <p:cNvGrpSpPr/>
            <p:nvPr/>
          </p:nvGrpSpPr>
          <p:grpSpPr>
            <a:xfrm>
              <a:off x="8489623" y="3815277"/>
              <a:ext cx="266700" cy="2000351"/>
              <a:chOff x="1943100" y="3215640"/>
              <a:chExt cx="266700" cy="2000351"/>
            </a:xfrm>
          </p:grpSpPr>
          <p:sp>
            <p:nvSpPr>
              <p:cNvPr id="40" name="Flowchart: Process 39"/>
              <p:cNvSpPr/>
              <p:nvPr/>
            </p:nvSpPr>
            <p:spPr>
              <a:xfrm>
                <a:off x="1943100" y="3215640"/>
                <a:ext cx="266700" cy="251460"/>
              </a:xfrm>
              <a:prstGeom prst="flowChartProcess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Flowchart: Process 40"/>
              <p:cNvSpPr/>
              <p:nvPr/>
            </p:nvSpPr>
            <p:spPr>
              <a:xfrm>
                <a:off x="1943100" y="3465482"/>
                <a:ext cx="266700" cy="251460"/>
              </a:xfrm>
              <a:prstGeom prst="flowChartProcess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Flowchart: Process 41"/>
              <p:cNvSpPr/>
              <p:nvPr/>
            </p:nvSpPr>
            <p:spPr>
              <a:xfrm>
                <a:off x="1943100" y="3715324"/>
                <a:ext cx="266700" cy="251460"/>
              </a:xfrm>
              <a:prstGeom prst="flowChartProcess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Flowchart: Process 42"/>
              <p:cNvSpPr/>
              <p:nvPr/>
            </p:nvSpPr>
            <p:spPr>
              <a:xfrm>
                <a:off x="1943100" y="3965166"/>
                <a:ext cx="266700" cy="251460"/>
              </a:xfrm>
              <a:prstGeom prst="flowChartProcess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Flowchart: Process 43"/>
              <p:cNvSpPr/>
              <p:nvPr/>
            </p:nvSpPr>
            <p:spPr>
              <a:xfrm>
                <a:off x="1943100" y="4215008"/>
                <a:ext cx="266700" cy="251460"/>
              </a:xfrm>
              <a:prstGeom prst="flowChartProcess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Flowchart: Process 44"/>
              <p:cNvSpPr/>
              <p:nvPr/>
            </p:nvSpPr>
            <p:spPr>
              <a:xfrm>
                <a:off x="1943100" y="4464850"/>
                <a:ext cx="266700" cy="251460"/>
              </a:xfrm>
              <a:prstGeom prst="flowChartProcess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Flowchart: Process 45"/>
              <p:cNvSpPr/>
              <p:nvPr/>
            </p:nvSpPr>
            <p:spPr>
              <a:xfrm>
                <a:off x="1943100" y="4714692"/>
                <a:ext cx="266700" cy="251460"/>
              </a:xfrm>
              <a:prstGeom prst="flowChartProcess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Flowchart: Process 46"/>
              <p:cNvSpPr/>
              <p:nvPr/>
            </p:nvSpPr>
            <p:spPr>
              <a:xfrm>
                <a:off x="1943100" y="4964531"/>
                <a:ext cx="266700" cy="251460"/>
              </a:xfrm>
              <a:prstGeom prst="flowChartProcess">
                <a:avLst/>
              </a:prstGeom>
              <a:solidFill>
                <a:schemeClr val="accent4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TextBox 47"/>
                <p:cNvSpPr txBox="1"/>
                <p:nvPr/>
              </p:nvSpPr>
              <p:spPr>
                <a:xfrm>
                  <a:off x="8398809" y="3344404"/>
                  <a:ext cx="59105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48" name="TextBox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98809" y="3344404"/>
                  <a:ext cx="591059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0" name="Straight Arrow Connector 49"/>
          <p:cNvCxnSpPr/>
          <p:nvPr/>
        </p:nvCxnSpPr>
        <p:spPr>
          <a:xfrm flipH="1" flipV="1">
            <a:off x="8769229" y="5483879"/>
            <a:ext cx="184949" cy="3445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290443" y="5858884"/>
            <a:ext cx="35814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Vector representing probabilities for</a:t>
            </a:r>
            <a:br>
              <a:rPr lang="en-US" dirty="0" smtClean="0"/>
            </a:br>
            <a:r>
              <a:rPr lang="en-US" dirty="0" smtClean="0"/>
              <a:t>each component in the grammar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8108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if we do not want the best?</a:t>
            </a:r>
          </a:p>
          <a:p>
            <a:pPr lvl="1"/>
            <a:r>
              <a:rPr lang="en-US" dirty="0" smtClean="0"/>
              <a:t>Instead we want to sample from the distribution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581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ontent Placeholder 45"/>
              <p:cNvSpPr>
                <a:spLocks noGrp="1"/>
              </p:cNvSpPr>
              <p:nvPr>
                <p:ph sz="half" idx="2"/>
              </p:nvPr>
            </p:nvSpPr>
            <p:spPr>
              <a:xfrm>
                <a:off x="7839118" y="2095247"/>
                <a:ext cx="4070190" cy="4081716"/>
              </a:xfrm>
            </p:spPr>
            <p:txBody>
              <a:bodyPr/>
              <a:lstStyle/>
              <a:p>
                <a:r>
                  <a:rPr lang="en-US" dirty="0" smtClean="0"/>
                  <a:t>Rejection sampling</a:t>
                </a:r>
              </a:p>
              <a:p>
                <a:pPr lvl="1"/>
                <a:r>
                  <a:rPr lang="en-US" dirty="0" smtClean="0"/>
                  <a:t>Sample according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Reject anything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𝑒𝑣𝑖𝑑𝑒𝑛𝑐𝑒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 smtClean="0"/>
              </a:p>
              <a:p>
                <a:r>
                  <a:rPr lang="en-US" dirty="0" smtClean="0"/>
                  <a:t>Very inefficient</a:t>
                </a:r>
                <a:endParaRPr lang="en-US" dirty="0"/>
              </a:p>
            </p:txBody>
          </p:sp>
        </mc:Choice>
        <mc:Fallback xmlns="">
          <p:sp>
            <p:nvSpPr>
              <p:cNvPr id="46" name="Content Placeholder 4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7839118" y="2095247"/>
                <a:ext cx="4070190" cy="4081716"/>
              </a:xfrm>
              <a:blipFill>
                <a:blip r:embed="rId2"/>
                <a:stretch>
                  <a:fillRect l="-2695" t="-2541" r="-1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Sampling with Constraints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224704" y="2095247"/>
            <a:ext cx="7769372" cy="428738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1398164" y="2578411"/>
            <a:ext cx="2572170" cy="1103410"/>
          </a:xfrm>
          <a:custGeom>
            <a:avLst/>
            <a:gdLst>
              <a:gd name="connsiteX0" fmla="*/ 31442 w 3100873"/>
              <a:gd name="connsiteY0" fmla="*/ 1277736 h 2242801"/>
              <a:gd name="connsiteX1" fmla="*/ 85943 w 3100873"/>
              <a:gd name="connsiteY1" fmla="*/ 417836 h 2242801"/>
              <a:gd name="connsiteX2" fmla="*/ 848952 w 3100873"/>
              <a:gd name="connsiteY2" fmla="*/ 660062 h 2242801"/>
              <a:gd name="connsiteX3" fmla="*/ 764173 w 3100873"/>
              <a:gd name="connsiteY3" fmla="*/ 1211124 h 2242801"/>
              <a:gd name="connsiteX4" fmla="*/ 1751241 w 3100873"/>
              <a:gd name="connsiteY4" fmla="*/ 1223235 h 2242801"/>
              <a:gd name="connsiteX5" fmla="*/ 1454515 w 3100873"/>
              <a:gd name="connsiteY5" fmla="*/ 320946 h 2242801"/>
              <a:gd name="connsiteX6" fmla="*/ 2368915 w 3100873"/>
              <a:gd name="connsiteY6" fmla="*/ 18165 h 2242801"/>
              <a:gd name="connsiteX7" fmla="*/ 2362860 w 3100873"/>
              <a:gd name="connsiteY7" fmla="*/ 781174 h 2242801"/>
              <a:gd name="connsiteX8" fmla="*/ 3071368 w 3100873"/>
              <a:gd name="connsiteY8" fmla="*/ 1374626 h 2242801"/>
              <a:gd name="connsiteX9" fmla="*/ 2901811 w 3100873"/>
              <a:gd name="connsiteY9" fmla="*/ 1622907 h 2242801"/>
              <a:gd name="connsiteX10" fmla="*/ 2308359 w 3100873"/>
              <a:gd name="connsiteY10" fmla="*/ 1059733 h 2242801"/>
              <a:gd name="connsiteX11" fmla="*/ 1987411 w 3100873"/>
              <a:gd name="connsiteY11" fmla="*/ 1441238 h 2242801"/>
              <a:gd name="connsiteX12" fmla="*/ 1648295 w 3100873"/>
              <a:gd name="connsiteY12" fmla="*/ 2240581 h 2242801"/>
              <a:gd name="connsiteX13" fmla="*/ 1163845 w 3100873"/>
              <a:gd name="connsiteY13" fmla="*/ 1689519 h 2242801"/>
              <a:gd name="connsiteX14" fmla="*/ 419003 w 3100873"/>
              <a:gd name="connsiteY14" fmla="*/ 1986244 h 2242801"/>
              <a:gd name="connsiteX15" fmla="*/ 207056 w 3100873"/>
              <a:gd name="connsiteY15" fmla="*/ 1544183 h 2242801"/>
              <a:gd name="connsiteX16" fmla="*/ 31442 w 3100873"/>
              <a:gd name="connsiteY16" fmla="*/ 1277736 h 2242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100873" h="2242801">
                <a:moveTo>
                  <a:pt x="31442" y="1277736"/>
                </a:moveTo>
                <a:cubicBezTo>
                  <a:pt x="11257" y="1090012"/>
                  <a:pt x="-50309" y="520782"/>
                  <a:pt x="85943" y="417836"/>
                </a:cubicBezTo>
                <a:cubicBezTo>
                  <a:pt x="222195" y="314890"/>
                  <a:pt x="735914" y="527847"/>
                  <a:pt x="848952" y="660062"/>
                </a:cubicBezTo>
                <a:cubicBezTo>
                  <a:pt x="961990" y="792277"/>
                  <a:pt x="613792" y="1117262"/>
                  <a:pt x="764173" y="1211124"/>
                </a:cubicBezTo>
                <a:cubicBezTo>
                  <a:pt x="914554" y="1304986"/>
                  <a:pt x="1636184" y="1371598"/>
                  <a:pt x="1751241" y="1223235"/>
                </a:cubicBezTo>
                <a:cubicBezTo>
                  <a:pt x="1866298" y="1074872"/>
                  <a:pt x="1351569" y="521791"/>
                  <a:pt x="1454515" y="320946"/>
                </a:cubicBezTo>
                <a:cubicBezTo>
                  <a:pt x="1557461" y="120101"/>
                  <a:pt x="2217524" y="-58540"/>
                  <a:pt x="2368915" y="18165"/>
                </a:cubicBezTo>
                <a:cubicBezTo>
                  <a:pt x="2520306" y="94870"/>
                  <a:pt x="2245785" y="555097"/>
                  <a:pt x="2362860" y="781174"/>
                </a:cubicBezTo>
                <a:cubicBezTo>
                  <a:pt x="2479935" y="1007251"/>
                  <a:pt x="2981543" y="1234337"/>
                  <a:pt x="3071368" y="1374626"/>
                </a:cubicBezTo>
                <a:cubicBezTo>
                  <a:pt x="3161193" y="1514915"/>
                  <a:pt x="3028979" y="1675389"/>
                  <a:pt x="2901811" y="1622907"/>
                </a:cubicBezTo>
                <a:cubicBezTo>
                  <a:pt x="2774643" y="1570425"/>
                  <a:pt x="2460759" y="1090011"/>
                  <a:pt x="2308359" y="1059733"/>
                </a:cubicBezTo>
                <a:cubicBezTo>
                  <a:pt x="2155959" y="1029455"/>
                  <a:pt x="2097422" y="1244430"/>
                  <a:pt x="1987411" y="1441238"/>
                </a:cubicBezTo>
                <a:cubicBezTo>
                  <a:pt x="1877400" y="1638046"/>
                  <a:pt x="1785556" y="2199201"/>
                  <a:pt x="1648295" y="2240581"/>
                </a:cubicBezTo>
                <a:cubicBezTo>
                  <a:pt x="1511034" y="2281961"/>
                  <a:pt x="1368727" y="1731908"/>
                  <a:pt x="1163845" y="1689519"/>
                </a:cubicBezTo>
                <a:cubicBezTo>
                  <a:pt x="958963" y="1647130"/>
                  <a:pt x="578468" y="2010467"/>
                  <a:pt x="419003" y="1986244"/>
                </a:cubicBezTo>
                <a:cubicBezTo>
                  <a:pt x="259538" y="1962021"/>
                  <a:pt x="269631" y="1666305"/>
                  <a:pt x="207056" y="1544183"/>
                </a:cubicBezTo>
                <a:cubicBezTo>
                  <a:pt x="144481" y="1422061"/>
                  <a:pt x="51627" y="1465460"/>
                  <a:pt x="31442" y="1277736"/>
                </a:cubicBezTo>
                <a:close/>
              </a:path>
            </a:pathLst>
          </a:cu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5349351" y="5304702"/>
            <a:ext cx="813299" cy="537695"/>
          </a:xfrm>
          <a:custGeom>
            <a:avLst/>
            <a:gdLst>
              <a:gd name="connsiteX0" fmla="*/ 542773 w 813299"/>
              <a:gd name="connsiteY0" fmla="*/ 532925 h 537695"/>
              <a:gd name="connsiteX1" fmla="*/ 288436 w 813299"/>
              <a:gd name="connsiteY1" fmla="*/ 278589 h 537695"/>
              <a:gd name="connsiteX2" fmla="*/ 34100 w 813299"/>
              <a:gd name="connsiteY2" fmla="*/ 496591 h 537695"/>
              <a:gd name="connsiteX3" fmla="*/ 34100 w 813299"/>
              <a:gd name="connsiteY3" fmla="*/ 242255 h 537695"/>
              <a:gd name="connsiteX4" fmla="*/ 324770 w 813299"/>
              <a:gd name="connsiteY4" fmla="*/ 242255 h 537695"/>
              <a:gd name="connsiteX5" fmla="*/ 809220 w 813299"/>
              <a:gd name="connsiteY5" fmla="*/ 6085 h 537695"/>
              <a:gd name="connsiteX6" fmla="*/ 542773 w 813299"/>
              <a:gd name="connsiteY6" fmla="*/ 532925 h 537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13299" h="537695">
                <a:moveTo>
                  <a:pt x="542773" y="532925"/>
                </a:moveTo>
                <a:cubicBezTo>
                  <a:pt x="455976" y="578342"/>
                  <a:pt x="373215" y="284645"/>
                  <a:pt x="288436" y="278589"/>
                </a:cubicBezTo>
                <a:cubicBezTo>
                  <a:pt x="203657" y="272533"/>
                  <a:pt x="76489" y="502647"/>
                  <a:pt x="34100" y="496591"/>
                </a:cubicBezTo>
                <a:cubicBezTo>
                  <a:pt x="-8289" y="490535"/>
                  <a:pt x="-14345" y="284644"/>
                  <a:pt x="34100" y="242255"/>
                </a:cubicBezTo>
                <a:cubicBezTo>
                  <a:pt x="82545" y="199866"/>
                  <a:pt x="195583" y="281617"/>
                  <a:pt x="324770" y="242255"/>
                </a:cubicBezTo>
                <a:cubicBezTo>
                  <a:pt x="453957" y="202893"/>
                  <a:pt x="772886" y="-41351"/>
                  <a:pt x="809220" y="6085"/>
                </a:cubicBezTo>
                <a:cubicBezTo>
                  <a:pt x="845554" y="53521"/>
                  <a:pt x="629570" y="487508"/>
                  <a:pt x="542773" y="532925"/>
                </a:cubicBezTo>
                <a:close/>
              </a:path>
            </a:pathLst>
          </a:cu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768378" y="5467679"/>
            <a:ext cx="823819" cy="374718"/>
          </a:xfrm>
          <a:custGeom>
            <a:avLst/>
            <a:gdLst>
              <a:gd name="connsiteX0" fmla="*/ 330095 w 823819"/>
              <a:gd name="connsiteY0" fmla="*/ 265710 h 374718"/>
              <a:gd name="connsiteX1" fmla="*/ 57592 w 823819"/>
              <a:gd name="connsiteY1" fmla="*/ 308099 h 374718"/>
              <a:gd name="connsiteX2" fmla="*/ 57592 w 823819"/>
              <a:gd name="connsiteY2" fmla="*/ 235431 h 374718"/>
              <a:gd name="connsiteX3" fmla="*/ 675266 w 823819"/>
              <a:gd name="connsiteY3" fmla="*/ 253598 h 374718"/>
              <a:gd name="connsiteX4" fmla="*/ 475430 w 823819"/>
              <a:gd name="connsiteY4" fmla="*/ 29540 h 374718"/>
              <a:gd name="connsiteX5" fmla="*/ 687377 w 823819"/>
              <a:gd name="connsiteY5" fmla="*/ 29540 h 374718"/>
              <a:gd name="connsiteX6" fmla="*/ 820601 w 823819"/>
              <a:gd name="connsiteY6" fmla="*/ 277821 h 374718"/>
              <a:gd name="connsiteX7" fmla="*/ 554153 w 823819"/>
              <a:gd name="connsiteY7" fmla="*/ 374711 h 374718"/>
              <a:gd name="connsiteX8" fmla="*/ 330095 w 823819"/>
              <a:gd name="connsiteY8" fmla="*/ 265710 h 374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3819" h="374718">
                <a:moveTo>
                  <a:pt x="330095" y="265710"/>
                </a:moveTo>
                <a:cubicBezTo>
                  <a:pt x="247335" y="254608"/>
                  <a:pt x="103009" y="313146"/>
                  <a:pt x="57592" y="308099"/>
                </a:cubicBezTo>
                <a:cubicBezTo>
                  <a:pt x="12175" y="303053"/>
                  <a:pt x="-45354" y="244514"/>
                  <a:pt x="57592" y="235431"/>
                </a:cubicBezTo>
                <a:cubicBezTo>
                  <a:pt x="160538" y="226348"/>
                  <a:pt x="605626" y="287913"/>
                  <a:pt x="675266" y="253598"/>
                </a:cubicBezTo>
                <a:cubicBezTo>
                  <a:pt x="744906" y="219283"/>
                  <a:pt x="473412" y="66883"/>
                  <a:pt x="475430" y="29540"/>
                </a:cubicBezTo>
                <a:cubicBezTo>
                  <a:pt x="477448" y="-7803"/>
                  <a:pt x="629848" y="-11840"/>
                  <a:pt x="687377" y="29540"/>
                </a:cubicBezTo>
                <a:cubicBezTo>
                  <a:pt x="744906" y="70920"/>
                  <a:pt x="842805" y="220293"/>
                  <a:pt x="820601" y="277821"/>
                </a:cubicBezTo>
                <a:cubicBezTo>
                  <a:pt x="798397" y="335349"/>
                  <a:pt x="634895" y="373702"/>
                  <a:pt x="554153" y="374711"/>
                </a:cubicBezTo>
                <a:cubicBezTo>
                  <a:pt x="473411" y="375720"/>
                  <a:pt x="412855" y="276812"/>
                  <a:pt x="330095" y="265710"/>
                </a:cubicBezTo>
                <a:close/>
              </a:path>
            </a:pathLst>
          </a:cu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ine Callout 1 (Border and Accent Bar) 9"/>
          <p:cNvSpPr/>
          <p:nvPr/>
        </p:nvSpPr>
        <p:spPr>
          <a:xfrm>
            <a:off x="6590756" y="1354752"/>
            <a:ext cx="2086958" cy="461082"/>
          </a:xfrm>
          <a:prstGeom prst="accentBorderCallout1">
            <a:avLst>
              <a:gd name="adj1" fmla="val 45017"/>
              <a:gd name="adj2" fmla="val -3400"/>
              <a:gd name="adj3" fmla="val 157699"/>
              <a:gd name="adj4" fmla="val -49005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dirty="0"/>
              <a:t>Space of all </a:t>
            </a:r>
            <a:r>
              <a:rPr lang="en-US" dirty="0" smtClean="0"/>
              <a:t>programs</a:t>
            </a:r>
            <a:endParaRPr lang="en-US" dirty="0"/>
          </a:p>
        </p:txBody>
      </p:sp>
      <p:sp>
        <p:nvSpPr>
          <p:cNvPr id="11" name="Line Callout 1 (Border and Accent Bar) 10"/>
          <p:cNvSpPr/>
          <p:nvPr/>
        </p:nvSpPr>
        <p:spPr>
          <a:xfrm>
            <a:off x="245466" y="1403624"/>
            <a:ext cx="2086958" cy="461082"/>
          </a:xfrm>
          <a:prstGeom prst="accentBorderCallout1">
            <a:avLst>
              <a:gd name="adj1" fmla="val 67344"/>
              <a:gd name="adj2" fmla="val 102510"/>
              <a:gd name="adj3" fmla="val 261453"/>
              <a:gd name="adj4" fmla="val 13031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dirty="0" smtClean="0"/>
              <a:t>Correct programs</a:t>
            </a:r>
            <a:endParaRPr lang="en-US" dirty="0"/>
          </a:p>
        </p:txBody>
      </p:sp>
      <p:grpSp>
        <p:nvGrpSpPr>
          <p:cNvPr id="44" name="Group 43"/>
          <p:cNvGrpSpPr/>
          <p:nvPr/>
        </p:nvGrpSpPr>
        <p:grpSpPr>
          <a:xfrm>
            <a:off x="794210" y="2649004"/>
            <a:ext cx="6460430" cy="3407448"/>
            <a:chOff x="2229398" y="2649004"/>
            <a:chExt cx="6460430" cy="3407448"/>
          </a:xfrm>
        </p:grpSpPr>
        <p:sp>
          <p:nvSpPr>
            <p:cNvPr id="12" name="Explosion 1 11"/>
            <p:cNvSpPr/>
            <p:nvPr/>
          </p:nvSpPr>
          <p:spPr>
            <a:xfrm>
              <a:off x="5789181" y="3009004"/>
              <a:ext cx="109002" cy="121112"/>
            </a:xfrm>
            <a:prstGeom prst="irregularSeal1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Explosion 1 25"/>
            <p:cNvSpPr/>
            <p:nvPr/>
          </p:nvSpPr>
          <p:spPr>
            <a:xfrm>
              <a:off x="4669898" y="3248656"/>
              <a:ext cx="109002" cy="121112"/>
            </a:xfrm>
            <a:prstGeom prst="irregularSeal1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Explosion 1 26"/>
            <p:cNvSpPr/>
            <p:nvPr/>
          </p:nvSpPr>
          <p:spPr>
            <a:xfrm>
              <a:off x="4119437" y="4803489"/>
              <a:ext cx="109002" cy="121112"/>
            </a:xfrm>
            <a:prstGeom prst="irregularSeal1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Explosion 1 27"/>
            <p:cNvSpPr/>
            <p:nvPr/>
          </p:nvSpPr>
          <p:spPr>
            <a:xfrm>
              <a:off x="7348505" y="3130116"/>
              <a:ext cx="109002" cy="121112"/>
            </a:xfrm>
            <a:prstGeom prst="irregularSeal1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Explosion 1 28"/>
            <p:cNvSpPr/>
            <p:nvPr/>
          </p:nvSpPr>
          <p:spPr>
            <a:xfrm>
              <a:off x="8524307" y="3621265"/>
              <a:ext cx="109002" cy="121112"/>
            </a:xfrm>
            <a:prstGeom prst="irregularSeal1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Explosion 1 29"/>
            <p:cNvSpPr/>
            <p:nvPr/>
          </p:nvSpPr>
          <p:spPr>
            <a:xfrm>
              <a:off x="3287197" y="2649004"/>
              <a:ext cx="109002" cy="121112"/>
            </a:xfrm>
            <a:prstGeom prst="irregularSeal1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Explosion 1 30"/>
            <p:cNvSpPr/>
            <p:nvPr/>
          </p:nvSpPr>
          <p:spPr>
            <a:xfrm>
              <a:off x="5637790" y="5467679"/>
              <a:ext cx="109002" cy="121112"/>
            </a:xfrm>
            <a:prstGeom prst="irregularSeal1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Explosion 1 31"/>
            <p:cNvSpPr/>
            <p:nvPr/>
          </p:nvSpPr>
          <p:spPr>
            <a:xfrm>
              <a:off x="6798001" y="4742933"/>
              <a:ext cx="109002" cy="121112"/>
            </a:xfrm>
            <a:prstGeom prst="irregularSeal1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Explosion 1 32"/>
            <p:cNvSpPr/>
            <p:nvPr/>
          </p:nvSpPr>
          <p:spPr>
            <a:xfrm>
              <a:off x="8580826" y="5082047"/>
              <a:ext cx="109002" cy="121112"/>
            </a:xfrm>
            <a:prstGeom prst="irregularSeal1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Explosion 1 33"/>
            <p:cNvSpPr/>
            <p:nvPr/>
          </p:nvSpPr>
          <p:spPr>
            <a:xfrm>
              <a:off x="5029199" y="4361760"/>
              <a:ext cx="109002" cy="121112"/>
            </a:xfrm>
            <a:prstGeom prst="irregularSeal1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Explosion 1 34"/>
            <p:cNvSpPr/>
            <p:nvPr/>
          </p:nvSpPr>
          <p:spPr>
            <a:xfrm>
              <a:off x="8097385" y="5922860"/>
              <a:ext cx="109002" cy="121112"/>
            </a:xfrm>
            <a:prstGeom prst="irregularSeal1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Explosion 1 35"/>
            <p:cNvSpPr/>
            <p:nvPr/>
          </p:nvSpPr>
          <p:spPr>
            <a:xfrm>
              <a:off x="3791703" y="5594482"/>
              <a:ext cx="109002" cy="121112"/>
            </a:xfrm>
            <a:prstGeom prst="irregularSeal1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Explosion 1 36"/>
            <p:cNvSpPr/>
            <p:nvPr/>
          </p:nvSpPr>
          <p:spPr>
            <a:xfrm>
              <a:off x="3131339" y="4812748"/>
              <a:ext cx="109002" cy="121112"/>
            </a:xfrm>
            <a:prstGeom prst="irregularSeal1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Explosion 1 37"/>
            <p:cNvSpPr/>
            <p:nvPr/>
          </p:nvSpPr>
          <p:spPr>
            <a:xfrm>
              <a:off x="2229398" y="4532815"/>
              <a:ext cx="109002" cy="121112"/>
            </a:xfrm>
            <a:prstGeom prst="irregularSeal1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Explosion 1 38"/>
            <p:cNvSpPr/>
            <p:nvPr/>
          </p:nvSpPr>
          <p:spPr>
            <a:xfrm>
              <a:off x="6487467" y="3802291"/>
              <a:ext cx="109002" cy="121112"/>
            </a:xfrm>
            <a:prstGeom prst="irregularSeal1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Explosion 1 39"/>
            <p:cNvSpPr/>
            <p:nvPr/>
          </p:nvSpPr>
          <p:spPr>
            <a:xfrm>
              <a:off x="2229398" y="3248656"/>
              <a:ext cx="109002" cy="121112"/>
            </a:xfrm>
            <a:prstGeom prst="irregularSeal1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Explosion 1 40"/>
            <p:cNvSpPr/>
            <p:nvPr/>
          </p:nvSpPr>
          <p:spPr>
            <a:xfrm>
              <a:off x="2501297" y="5935340"/>
              <a:ext cx="109002" cy="121112"/>
            </a:xfrm>
            <a:prstGeom prst="irregularSeal1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Explosion 1 41"/>
            <p:cNvSpPr/>
            <p:nvPr/>
          </p:nvSpPr>
          <p:spPr>
            <a:xfrm>
              <a:off x="4920197" y="5801748"/>
              <a:ext cx="109002" cy="121112"/>
            </a:xfrm>
            <a:prstGeom prst="irregularSeal1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Explosion 1 42"/>
            <p:cNvSpPr/>
            <p:nvPr/>
          </p:nvSpPr>
          <p:spPr>
            <a:xfrm>
              <a:off x="3972963" y="4176593"/>
              <a:ext cx="109002" cy="121112"/>
            </a:xfrm>
            <a:prstGeom prst="irregularSeal1">
              <a:avLst/>
            </a:prstGeom>
            <a:solidFill>
              <a:schemeClr val="accent2">
                <a:lumMod val="5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74118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Sampling with Constraints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14"/>
              <p:cNvSpPr>
                <a:spLocks noGrp="1"/>
              </p:cNvSpPr>
              <p:nvPr>
                <p:ph idx="1"/>
              </p:nvPr>
            </p:nvSpPr>
            <p:spPr>
              <a:xfrm>
                <a:off x="1592494" y="4832035"/>
                <a:ext cx="9761306" cy="1344928"/>
              </a:xfrm>
            </p:spPr>
            <p:txBody>
              <a:bodyPr/>
              <a:lstStyle/>
              <a:p>
                <a:r>
                  <a:rPr lang="en-US" dirty="0" smtClean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 smtClean="0"/>
                  <a:t> is measure preserving, sampling uniformly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dirty="0" smtClean="0"/>
                  <a:t> is equivalent to sampling uniformly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 smtClean="0"/>
                  <a:t> and then solving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s.t.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15" name="Content Placeholder 1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92494" y="4832035"/>
                <a:ext cx="9761306" cy="1344928"/>
              </a:xfrm>
              <a:blipFill>
                <a:blip r:embed="rId2"/>
                <a:stretch>
                  <a:fillRect t="-7727" b="-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/>
          <p:nvPr/>
        </p:nvGrpSpPr>
        <p:grpSpPr>
          <a:xfrm>
            <a:off x="626013" y="2268731"/>
            <a:ext cx="3868901" cy="2173972"/>
            <a:chOff x="224704" y="2095247"/>
            <a:chExt cx="7769372" cy="4287386"/>
          </a:xfrm>
        </p:grpSpPr>
        <p:sp>
          <p:nvSpPr>
            <p:cNvPr id="4" name="Rounded Rectangle 3"/>
            <p:cNvSpPr/>
            <p:nvPr/>
          </p:nvSpPr>
          <p:spPr>
            <a:xfrm>
              <a:off x="224704" y="2095247"/>
              <a:ext cx="7769372" cy="428738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 6"/>
            <p:cNvSpPr/>
            <p:nvPr/>
          </p:nvSpPr>
          <p:spPr>
            <a:xfrm>
              <a:off x="1398164" y="2578411"/>
              <a:ext cx="2572170" cy="1103410"/>
            </a:xfrm>
            <a:custGeom>
              <a:avLst/>
              <a:gdLst>
                <a:gd name="connsiteX0" fmla="*/ 31442 w 3100873"/>
                <a:gd name="connsiteY0" fmla="*/ 1277736 h 2242801"/>
                <a:gd name="connsiteX1" fmla="*/ 85943 w 3100873"/>
                <a:gd name="connsiteY1" fmla="*/ 417836 h 2242801"/>
                <a:gd name="connsiteX2" fmla="*/ 848952 w 3100873"/>
                <a:gd name="connsiteY2" fmla="*/ 660062 h 2242801"/>
                <a:gd name="connsiteX3" fmla="*/ 764173 w 3100873"/>
                <a:gd name="connsiteY3" fmla="*/ 1211124 h 2242801"/>
                <a:gd name="connsiteX4" fmla="*/ 1751241 w 3100873"/>
                <a:gd name="connsiteY4" fmla="*/ 1223235 h 2242801"/>
                <a:gd name="connsiteX5" fmla="*/ 1454515 w 3100873"/>
                <a:gd name="connsiteY5" fmla="*/ 320946 h 2242801"/>
                <a:gd name="connsiteX6" fmla="*/ 2368915 w 3100873"/>
                <a:gd name="connsiteY6" fmla="*/ 18165 h 2242801"/>
                <a:gd name="connsiteX7" fmla="*/ 2362860 w 3100873"/>
                <a:gd name="connsiteY7" fmla="*/ 781174 h 2242801"/>
                <a:gd name="connsiteX8" fmla="*/ 3071368 w 3100873"/>
                <a:gd name="connsiteY8" fmla="*/ 1374626 h 2242801"/>
                <a:gd name="connsiteX9" fmla="*/ 2901811 w 3100873"/>
                <a:gd name="connsiteY9" fmla="*/ 1622907 h 2242801"/>
                <a:gd name="connsiteX10" fmla="*/ 2308359 w 3100873"/>
                <a:gd name="connsiteY10" fmla="*/ 1059733 h 2242801"/>
                <a:gd name="connsiteX11" fmla="*/ 1987411 w 3100873"/>
                <a:gd name="connsiteY11" fmla="*/ 1441238 h 2242801"/>
                <a:gd name="connsiteX12" fmla="*/ 1648295 w 3100873"/>
                <a:gd name="connsiteY12" fmla="*/ 2240581 h 2242801"/>
                <a:gd name="connsiteX13" fmla="*/ 1163845 w 3100873"/>
                <a:gd name="connsiteY13" fmla="*/ 1689519 h 2242801"/>
                <a:gd name="connsiteX14" fmla="*/ 419003 w 3100873"/>
                <a:gd name="connsiteY14" fmla="*/ 1986244 h 2242801"/>
                <a:gd name="connsiteX15" fmla="*/ 207056 w 3100873"/>
                <a:gd name="connsiteY15" fmla="*/ 1544183 h 2242801"/>
                <a:gd name="connsiteX16" fmla="*/ 31442 w 3100873"/>
                <a:gd name="connsiteY16" fmla="*/ 1277736 h 2242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100873" h="2242801">
                  <a:moveTo>
                    <a:pt x="31442" y="1277736"/>
                  </a:moveTo>
                  <a:cubicBezTo>
                    <a:pt x="11257" y="1090012"/>
                    <a:pt x="-50309" y="520782"/>
                    <a:pt x="85943" y="417836"/>
                  </a:cubicBezTo>
                  <a:cubicBezTo>
                    <a:pt x="222195" y="314890"/>
                    <a:pt x="735914" y="527847"/>
                    <a:pt x="848952" y="660062"/>
                  </a:cubicBezTo>
                  <a:cubicBezTo>
                    <a:pt x="961990" y="792277"/>
                    <a:pt x="613792" y="1117262"/>
                    <a:pt x="764173" y="1211124"/>
                  </a:cubicBezTo>
                  <a:cubicBezTo>
                    <a:pt x="914554" y="1304986"/>
                    <a:pt x="1636184" y="1371598"/>
                    <a:pt x="1751241" y="1223235"/>
                  </a:cubicBezTo>
                  <a:cubicBezTo>
                    <a:pt x="1866298" y="1074872"/>
                    <a:pt x="1351569" y="521791"/>
                    <a:pt x="1454515" y="320946"/>
                  </a:cubicBezTo>
                  <a:cubicBezTo>
                    <a:pt x="1557461" y="120101"/>
                    <a:pt x="2217524" y="-58540"/>
                    <a:pt x="2368915" y="18165"/>
                  </a:cubicBezTo>
                  <a:cubicBezTo>
                    <a:pt x="2520306" y="94870"/>
                    <a:pt x="2245785" y="555097"/>
                    <a:pt x="2362860" y="781174"/>
                  </a:cubicBezTo>
                  <a:cubicBezTo>
                    <a:pt x="2479935" y="1007251"/>
                    <a:pt x="2981543" y="1234337"/>
                    <a:pt x="3071368" y="1374626"/>
                  </a:cubicBezTo>
                  <a:cubicBezTo>
                    <a:pt x="3161193" y="1514915"/>
                    <a:pt x="3028979" y="1675389"/>
                    <a:pt x="2901811" y="1622907"/>
                  </a:cubicBezTo>
                  <a:cubicBezTo>
                    <a:pt x="2774643" y="1570425"/>
                    <a:pt x="2460759" y="1090011"/>
                    <a:pt x="2308359" y="1059733"/>
                  </a:cubicBezTo>
                  <a:cubicBezTo>
                    <a:pt x="2155959" y="1029455"/>
                    <a:pt x="2097422" y="1244430"/>
                    <a:pt x="1987411" y="1441238"/>
                  </a:cubicBezTo>
                  <a:cubicBezTo>
                    <a:pt x="1877400" y="1638046"/>
                    <a:pt x="1785556" y="2199201"/>
                    <a:pt x="1648295" y="2240581"/>
                  </a:cubicBezTo>
                  <a:cubicBezTo>
                    <a:pt x="1511034" y="2281961"/>
                    <a:pt x="1368727" y="1731908"/>
                    <a:pt x="1163845" y="1689519"/>
                  </a:cubicBezTo>
                  <a:cubicBezTo>
                    <a:pt x="958963" y="1647130"/>
                    <a:pt x="578468" y="2010467"/>
                    <a:pt x="419003" y="1986244"/>
                  </a:cubicBezTo>
                  <a:cubicBezTo>
                    <a:pt x="259538" y="1962021"/>
                    <a:pt x="269631" y="1666305"/>
                    <a:pt x="207056" y="1544183"/>
                  </a:cubicBezTo>
                  <a:cubicBezTo>
                    <a:pt x="144481" y="1422061"/>
                    <a:pt x="51627" y="1465460"/>
                    <a:pt x="31442" y="1277736"/>
                  </a:cubicBezTo>
                  <a:close/>
                </a:path>
              </a:pathLst>
            </a:cu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reeform 7"/>
            <p:cNvSpPr/>
            <p:nvPr/>
          </p:nvSpPr>
          <p:spPr>
            <a:xfrm>
              <a:off x="5349351" y="5304702"/>
              <a:ext cx="813299" cy="537695"/>
            </a:xfrm>
            <a:custGeom>
              <a:avLst/>
              <a:gdLst>
                <a:gd name="connsiteX0" fmla="*/ 542773 w 813299"/>
                <a:gd name="connsiteY0" fmla="*/ 532925 h 537695"/>
                <a:gd name="connsiteX1" fmla="*/ 288436 w 813299"/>
                <a:gd name="connsiteY1" fmla="*/ 278589 h 537695"/>
                <a:gd name="connsiteX2" fmla="*/ 34100 w 813299"/>
                <a:gd name="connsiteY2" fmla="*/ 496591 h 537695"/>
                <a:gd name="connsiteX3" fmla="*/ 34100 w 813299"/>
                <a:gd name="connsiteY3" fmla="*/ 242255 h 537695"/>
                <a:gd name="connsiteX4" fmla="*/ 324770 w 813299"/>
                <a:gd name="connsiteY4" fmla="*/ 242255 h 537695"/>
                <a:gd name="connsiteX5" fmla="*/ 809220 w 813299"/>
                <a:gd name="connsiteY5" fmla="*/ 6085 h 537695"/>
                <a:gd name="connsiteX6" fmla="*/ 542773 w 813299"/>
                <a:gd name="connsiteY6" fmla="*/ 532925 h 53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3299" h="537695">
                  <a:moveTo>
                    <a:pt x="542773" y="532925"/>
                  </a:moveTo>
                  <a:cubicBezTo>
                    <a:pt x="455976" y="578342"/>
                    <a:pt x="373215" y="284645"/>
                    <a:pt x="288436" y="278589"/>
                  </a:cubicBezTo>
                  <a:cubicBezTo>
                    <a:pt x="203657" y="272533"/>
                    <a:pt x="76489" y="502647"/>
                    <a:pt x="34100" y="496591"/>
                  </a:cubicBezTo>
                  <a:cubicBezTo>
                    <a:pt x="-8289" y="490535"/>
                    <a:pt x="-14345" y="284644"/>
                    <a:pt x="34100" y="242255"/>
                  </a:cubicBezTo>
                  <a:cubicBezTo>
                    <a:pt x="82545" y="199866"/>
                    <a:pt x="195583" y="281617"/>
                    <a:pt x="324770" y="242255"/>
                  </a:cubicBezTo>
                  <a:cubicBezTo>
                    <a:pt x="453957" y="202893"/>
                    <a:pt x="772886" y="-41351"/>
                    <a:pt x="809220" y="6085"/>
                  </a:cubicBezTo>
                  <a:cubicBezTo>
                    <a:pt x="845554" y="53521"/>
                    <a:pt x="629570" y="487508"/>
                    <a:pt x="542773" y="532925"/>
                  </a:cubicBezTo>
                  <a:close/>
                </a:path>
              </a:pathLst>
            </a:cu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768378" y="5467679"/>
              <a:ext cx="823819" cy="374718"/>
            </a:xfrm>
            <a:custGeom>
              <a:avLst/>
              <a:gdLst>
                <a:gd name="connsiteX0" fmla="*/ 330095 w 823819"/>
                <a:gd name="connsiteY0" fmla="*/ 265710 h 374718"/>
                <a:gd name="connsiteX1" fmla="*/ 57592 w 823819"/>
                <a:gd name="connsiteY1" fmla="*/ 308099 h 374718"/>
                <a:gd name="connsiteX2" fmla="*/ 57592 w 823819"/>
                <a:gd name="connsiteY2" fmla="*/ 235431 h 374718"/>
                <a:gd name="connsiteX3" fmla="*/ 675266 w 823819"/>
                <a:gd name="connsiteY3" fmla="*/ 253598 h 374718"/>
                <a:gd name="connsiteX4" fmla="*/ 475430 w 823819"/>
                <a:gd name="connsiteY4" fmla="*/ 29540 h 374718"/>
                <a:gd name="connsiteX5" fmla="*/ 687377 w 823819"/>
                <a:gd name="connsiteY5" fmla="*/ 29540 h 374718"/>
                <a:gd name="connsiteX6" fmla="*/ 820601 w 823819"/>
                <a:gd name="connsiteY6" fmla="*/ 277821 h 374718"/>
                <a:gd name="connsiteX7" fmla="*/ 554153 w 823819"/>
                <a:gd name="connsiteY7" fmla="*/ 374711 h 374718"/>
                <a:gd name="connsiteX8" fmla="*/ 330095 w 823819"/>
                <a:gd name="connsiteY8" fmla="*/ 265710 h 37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3819" h="374718">
                  <a:moveTo>
                    <a:pt x="330095" y="265710"/>
                  </a:moveTo>
                  <a:cubicBezTo>
                    <a:pt x="247335" y="254608"/>
                    <a:pt x="103009" y="313146"/>
                    <a:pt x="57592" y="308099"/>
                  </a:cubicBezTo>
                  <a:cubicBezTo>
                    <a:pt x="12175" y="303053"/>
                    <a:pt x="-45354" y="244514"/>
                    <a:pt x="57592" y="235431"/>
                  </a:cubicBezTo>
                  <a:cubicBezTo>
                    <a:pt x="160538" y="226348"/>
                    <a:pt x="605626" y="287913"/>
                    <a:pt x="675266" y="253598"/>
                  </a:cubicBezTo>
                  <a:cubicBezTo>
                    <a:pt x="744906" y="219283"/>
                    <a:pt x="473412" y="66883"/>
                    <a:pt x="475430" y="29540"/>
                  </a:cubicBezTo>
                  <a:cubicBezTo>
                    <a:pt x="477448" y="-7803"/>
                    <a:pt x="629848" y="-11840"/>
                    <a:pt x="687377" y="29540"/>
                  </a:cubicBezTo>
                  <a:cubicBezTo>
                    <a:pt x="744906" y="70920"/>
                    <a:pt x="842805" y="220293"/>
                    <a:pt x="820601" y="277821"/>
                  </a:cubicBezTo>
                  <a:cubicBezTo>
                    <a:pt x="798397" y="335349"/>
                    <a:pt x="634895" y="373702"/>
                    <a:pt x="554153" y="374711"/>
                  </a:cubicBezTo>
                  <a:cubicBezTo>
                    <a:pt x="473411" y="375720"/>
                    <a:pt x="412855" y="276812"/>
                    <a:pt x="330095" y="265710"/>
                  </a:cubicBezTo>
                  <a:close/>
                </a:path>
              </a:pathLst>
            </a:cu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Line Callout 1 (Border and Accent Bar) 89"/>
              <p:cNvSpPr/>
              <p:nvPr/>
            </p:nvSpPr>
            <p:spPr>
              <a:xfrm>
                <a:off x="9944879" y="1557438"/>
                <a:ext cx="659534" cy="461082"/>
              </a:xfrm>
              <a:prstGeom prst="accentBorderCallout1">
                <a:avLst>
                  <a:gd name="adj1" fmla="val 45017"/>
                  <a:gd name="adj2" fmla="val -3400"/>
                  <a:gd name="adj3" fmla="val 157699"/>
                  <a:gd name="adj4" fmla="val -49005"/>
                </a:avLst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0" name="Line Callout 1 (Border and Accent Bar) 8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4879" y="1557438"/>
                <a:ext cx="659534" cy="461082"/>
              </a:xfrm>
              <a:prstGeom prst="accentBorderCallout1">
                <a:avLst>
                  <a:gd name="adj1" fmla="val 45017"/>
                  <a:gd name="adj2" fmla="val -3400"/>
                  <a:gd name="adj3" fmla="val 157699"/>
                  <a:gd name="adj4" fmla="val -49005"/>
                </a:avLst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Line Callout 1 (Border and Accent Bar) 90"/>
              <p:cNvSpPr/>
              <p:nvPr/>
            </p:nvSpPr>
            <p:spPr>
              <a:xfrm>
                <a:off x="134911" y="1377643"/>
                <a:ext cx="2076138" cy="461082"/>
              </a:xfrm>
              <a:prstGeom prst="accentBorderCallout1">
                <a:avLst>
                  <a:gd name="adj1" fmla="val 67344"/>
                  <a:gd name="adj2" fmla="val 102510"/>
                  <a:gd name="adj3" fmla="val 261453"/>
                  <a:gd name="adj4" fmla="val 93671"/>
                </a:avLst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Φ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1" name="Line Callout 1 (Border and Accent Bar) 9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911" y="1377643"/>
                <a:ext cx="2076138" cy="461082"/>
              </a:xfrm>
              <a:prstGeom prst="accentBorderCallout1">
                <a:avLst>
                  <a:gd name="adj1" fmla="val 67344"/>
                  <a:gd name="adj2" fmla="val 102510"/>
                  <a:gd name="adj3" fmla="val 261453"/>
                  <a:gd name="adj4" fmla="val 93671"/>
                </a:avLst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ight Arrow 13"/>
              <p:cNvSpPr/>
              <p:nvPr/>
            </p:nvSpPr>
            <p:spPr>
              <a:xfrm>
                <a:off x="5319707" y="3047331"/>
                <a:ext cx="1533334" cy="771017"/>
              </a:xfrm>
              <a:prstGeom prst="rightArrow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Right Arrow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9707" y="3047331"/>
                <a:ext cx="1533334" cy="771017"/>
              </a:xfrm>
              <a:prstGeom prst="rightArrow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Line Callout 1 (Border and Accent Bar) 91"/>
              <p:cNvSpPr/>
              <p:nvPr/>
            </p:nvSpPr>
            <p:spPr>
              <a:xfrm>
                <a:off x="5319707" y="1511942"/>
                <a:ext cx="3408560" cy="461082"/>
              </a:xfrm>
              <a:prstGeom prst="accentBorderCallout1">
                <a:avLst>
                  <a:gd name="adj1" fmla="val 67344"/>
                  <a:gd name="adj2" fmla="val 102510"/>
                  <a:gd name="adj3" fmla="val 219189"/>
                  <a:gd name="adj4" fmla="val 118011"/>
                </a:avLst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| ∃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. 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2" name="Line Callout 1 (Border and Accent Bar) 9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9707" y="1511942"/>
                <a:ext cx="3408560" cy="461082"/>
              </a:xfrm>
              <a:prstGeom prst="accentBorderCallout1">
                <a:avLst>
                  <a:gd name="adj1" fmla="val 67344"/>
                  <a:gd name="adj2" fmla="val 102510"/>
                  <a:gd name="adj3" fmla="val 219189"/>
                  <a:gd name="adj4" fmla="val 118011"/>
                </a:avLst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/>
          <p:cNvGrpSpPr/>
          <p:nvPr/>
        </p:nvGrpSpPr>
        <p:grpSpPr>
          <a:xfrm>
            <a:off x="7494106" y="2268731"/>
            <a:ext cx="3868901" cy="2173972"/>
            <a:chOff x="7494106" y="2268731"/>
            <a:chExt cx="3868901" cy="2173972"/>
          </a:xfrm>
        </p:grpSpPr>
        <p:sp>
          <p:nvSpPr>
            <p:cNvPr id="47" name="Rounded Rectangle 46"/>
            <p:cNvSpPr/>
            <p:nvPr/>
          </p:nvSpPr>
          <p:spPr>
            <a:xfrm>
              <a:off x="7494106" y="2268731"/>
              <a:ext cx="3868901" cy="217397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Cloud 5"/>
            <p:cNvSpPr/>
            <p:nvPr/>
          </p:nvSpPr>
          <p:spPr>
            <a:xfrm>
              <a:off x="7996662" y="2696584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Cloud 50"/>
            <p:cNvSpPr/>
            <p:nvPr/>
          </p:nvSpPr>
          <p:spPr>
            <a:xfrm>
              <a:off x="8213702" y="3093394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Cloud 51"/>
            <p:cNvSpPr/>
            <p:nvPr/>
          </p:nvSpPr>
          <p:spPr>
            <a:xfrm>
              <a:off x="7922323" y="3420295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Cloud 52"/>
            <p:cNvSpPr/>
            <p:nvPr/>
          </p:nvSpPr>
          <p:spPr>
            <a:xfrm>
              <a:off x="9334473" y="2918123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Cloud 53"/>
            <p:cNvSpPr/>
            <p:nvPr/>
          </p:nvSpPr>
          <p:spPr>
            <a:xfrm>
              <a:off x="7870816" y="4003515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Cloud 54"/>
            <p:cNvSpPr/>
            <p:nvPr/>
          </p:nvSpPr>
          <p:spPr>
            <a:xfrm rot="-4800000">
              <a:off x="8955216" y="2991911"/>
              <a:ext cx="9144" cy="146304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Cloud 55"/>
            <p:cNvSpPr/>
            <p:nvPr/>
          </p:nvSpPr>
          <p:spPr>
            <a:xfrm>
              <a:off x="8735562" y="3482510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Cloud 56"/>
            <p:cNvSpPr/>
            <p:nvPr/>
          </p:nvSpPr>
          <p:spPr>
            <a:xfrm rot="-1020000">
              <a:off x="8561210" y="2945874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Cloud 57"/>
            <p:cNvSpPr/>
            <p:nvPr/>
          </p:nvSpPr>
          <p:spPr>
            <a:xfrm rot="780000">
              <a:off x="8594690" y="3311850"/>
              <a:ext cx="36576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Cloud 58"/>
            <p:cNvSpPr/>
            <p:nvPr/>
          </p:nvSpPr>
          <p:spPr>
            <a:xfrm rot="-1800000">
              <a:off x="9553714" y="3312176"/>
              <a:ext cx="9144" cy="133845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Cloud 59"/>
            <p:cNvSpPr/>
            <p:nvPr/>
          </p:nvSpPr>
          <p:spPr>
            <a:xfrm>
              <a:off x="10436227" y="2856029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Cloud 60"/>
            <p:cNvSpPr/>
            <p:nvPr/>
          </p:nvSpPr>
          <p:spPr>
            <a:xfrm>
              <a:off x="9184755" y="3750790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Cloud 61"/>
            <p:cNvSpPr/>
            <p:nvPr/>
          </p:nvSpPr>
          <p:spPr>
            <a:xfrm>
              <a:off x="8841105" y="4032447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Cloud 62"/>
            <p:cNvSpPr/>
            <p:nvPr/>
          </p:nvSpPr>
          <p:spPr>
            <a:xfrm>
              <a:off x="10231916" y="4032447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Cloud 63"/>
            <p:cNvSpPr/>
            <p:nvPr/>
          </p:nvSpPr>
          <p:spPr>
            <a:xfrm>
              <a:off x="10225479" y="3454805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Cloud 64"/>
            <p:cNvSpPr/>
            <p:nvPr/>
          </p:nvSpPr>
          <p:spPr>
            <a:xfrm>
              <a:off x="9710839" y="3454805"/>
              <a:ext cx="47009" cy="48445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Cloud 65"/>
            <p:cNvSpPr/>
            <p:nvPr/>
          </p:nvSpPr>
          <p:spPr>
            <a:xfrm>
              <a:off x="11170360" y="3563759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Cloud 66"/>
            <p:cNvSpPr/>
            <p:nvPr/>
          </p:nvSpPr>
          <p:spPr>
            <a:xfrm>
              <a:off x="7710292" y="3044949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Cloud 67"/>
            <p:cNvSpPr/>
            <p:nvPr/>
          </p:nvSpPr>
          <p:spPr>
            <a:xfrm rot="5400000">
              <a:off x="8525575" y="3820248"/>
              <a:ext cx="45719" cy="54864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Cloud 68"/>
            <p:cNvSpPr/>
            <p:nvPr/>
          </p:nvSpPr>
          <p:spPr>
            <a:xfrm>
              <a:off x="9357332" y="2448092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Cloud 69"/>
            <p:cNvSpPr/>
            <p:nvPr/>
          </p:nvSpPr>
          <p:spPr>
            <a:xfrm rot="-600000">
              <a:off x="10857701" y="3875894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Cloud 70"/>
            <p:cNvSpPr/>
            <p:nvPr/>
          </p:nvSpPr>
          <p:spPr>
            <a:xfrm rot="5400000">
              <a:off x="9984519" y="3113830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Cloud 71"/>
            <p:cNvSpPr/>
            <p:nvPr/>
          </p:nvSpPr>
          <p:spPr>
            <a:xfrm>
              <a:off x="8970022" y="2621650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Cloud 72"/>
            <p:cNvSpPr/>
            <p:nvPr/>
          </p:nvSpPr>
          <p:spPr>
            <a:xfrm rot="2700000">
              <a:off x="9780101" y="2696584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Cloud 73"/>
            <p:cNvSpPr/>
            <p:nvPr/>
          </p:nvSpPr>
          <p:spPr>
            <a:xfrm rot="-1200000">
              <a:off x="8063520" y="3896125"/>
              <a:ext cx="45719" cy="369534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Cloud 74"/>
            <p:cNvSpPr/>
            <p:nvPr/>
          </p:nvSpPr>
          <p:spPr>
            <a:xfrm rot="600000" flipH="1">
              <a:off x="9811395" y="3724734"/>
              <a:ext cx="52164" cy="359259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Cloud 75"/>
            <p:cNvSpPr/>
            <p:nvPr/>
          </p:nvSpPr>
          <p:spPr>
            <a:xfrm>
              <a:off x="10159893" y="2696584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Cloud 76"/>
            <p:cNvSpPr/>
            <p:nvPr/>
          </p:nvSpPr>
          <p:spPr>
            <a:xfrm>
              <a:off x="10568390" y="3406360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Cloud 77"/>
            <p:cNvSpPr/>
            <p:nvPr/>
          </p:nvSpPr>
          <p:spPr>
            <a:xfrm rot="-5400000">
              <a:off x="9009014" y="3439992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Cloud 78"/>
            <p:cNvSpPr/>
            <p:nvPr/>
          </p:nvSpPr>
          <p:spPr>
            <a:xfrm rot="600000">
              <a:off x="9460173" y="3633018"/>
              <a:ext cx="45719" cy="186269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Cloud 79"/>
            <p:cNvSpPr/>
            <p:nvPr/>
          </p:nvSpPr>
          <p:spPr>
            <a:xfrm>
              <a:off x="9253597" y="3380408"/>
              <a:ext cx="45719" cy="198991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Cloud 80"/>
            <p:cNvSpPr/>
            <p:nvPr/>
          </p:nvSpPr>
          <p:spPr>
            <a:xfrm>
              <a:off x="9345162" y="4092110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Cloud 81"/>
            <p:cNvSpPr/>
            <p:nvPr/>
          </p:nvSpPr>
          <p:spPr>
            <a:xfrm>
              <a:off x="10985097" y="2544982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Cloud 82"/>
            <p:cNvSpPr/>
            <p:nvPr/>
          </p:nvSpPr>
          <p:spPr>
            <a:xfrm>
              <a:off x="10604413" y="2544982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Cloud 83"/>
            <p:cNvSpPr/>
            <p:nvPr/>
          </p:nvSpPr>
          <p:spPr>
            <a:xfrm>
              <a:off x="10880560" y="2918222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Cloud 84"/>
            <p:cNvSpPr/>
            <p:nvPr/>
          </p:nvSpPr>
          <p:spPr>
            <a:xfrm rot="1800000">
              <a:off x="10885940" y="3352975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Cloud 85"/>
            <p:cNvSpPr/>
            <p:nvPr/>
          </p:nvSpPr>
          <p:spPr>
            <a:xfrm>
              <a:off x="10377879" y="3607205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Cloud 86"/>
            <p:cNvSpPr/>
            <p:nvPr/>
          </p:nvSpPr>
          <p:spPr>
            <a:xfrm>
              <a:off x="10627272" y="3926050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Cloud 87"/>
            <p:cNvSpPr/>
            <p:nvPr/>
          </p:nvSpPr>
          <p:spPr>
            <a:xfrm rot="780000">
              <a:off x="8312380" y="2489890"/>
              <a:ext cx="36576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Cloud 88"/>
            <p:cNvSpPr/>
            <p:nvPr/>
          </p:nvSpPr>
          <p:spPr>
            <a:xfrm rot="780000">
              <a:off x="8082529" y="3616650"/>
              <a:ext cx="36576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Cloud 92"/>
            <p:cNvSpPr/>
            <p:nvPr/>
          </p:nvSpPr>
          <p:spPr>
            <a:xfrm rot="5400000">
              <a:off x="8677975" y="3972648"/>
              <a:ext cx="45719" cy="54864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Cloud 93"/>
            <p:cNvSpPr/>
            <p:nvPr/>
          </p:nvSpPr>
          <p:spPr>
            <a:xfrm rot="5400000">
              <a:off x="9947143" y="2925835"/>
              <a:ext cx="45719" cy="54864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Line Callout 1 (Border and Accent Bar) 94"/>
              <p:cNvSpPr/>
              <p:nvPr/>
            </p:nvSpPr>
            <p:spPr>
              <a:xfrm>
                <a:off x="3356329" y="1527996"/>
                <a:ext cx="659534" cy="461082"/>
              </a:xfrm>
              <a:prstGeom prst="accentBorderCallout1">
                <a:avLst>
                  <a:gd name="adj1" fmla="val 45017"/>
                  <a:gd name="adj2" fmla="val -3400"/>
                  <a:gd name="adj3" fmla="val 157699"/>
                  <a:gd name="adj4" fmla="val -49005"/>
                </a:avLst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Φ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5" name="Line Callout 1 (Border and Accent Bar) 9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6329" y="1527996"/>
                <a:ext cx="659534" cy="461082"/>
              </a:xfrm>
              <a:prstGeom prst="accentBorderCallout1">
                <a:avLst>
                  <a:gd name="adj1" fmla="val 45017"/>
                  <a:gd name="adj2" fmla="val -3400"/>
                  <a:gd name="adj3" fmla="val 157699"/>
                  <a:gd name="adj4" fmla="val -49005"/>
                </a:avLst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3335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15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 smtClean="0"/>
                  <a:t>Approach:</a:t>
                </a:r>
              </a:p>
              <a:p>
                <a:pPr lvl="1"/>
                <a:r>
                  <a:rPr lang="en-US" dirty="0" smtClean="0"/>
                  <a:t>Partition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Sample uniformly from the partitions to pick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⊂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Solve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s.t.</a:t>
                </a:r>
                <a:r>
                  <a:rPr lang="en-US" dirty="0" smtClean="0"/>
                  <a:t/>
                </a:r>
                <a:br>
                  <a:rPr lang="en-US" dirty="0" smtClean="0"/>
                </a:br>
                <a:r>
                  <a:rPr lang="en-US" dirty="0" smtClean="0"/>
                  <a:t>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6" name="Content Placeholder 1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118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Sampling with Constraints</a:t>
            </a:r>
            <a:endParaRPr lang="en-US" dirty="0"/>
          </a:p>
        </p:txBody>
      </p:sp>
      <p:grpSp>
        <p:nvGrpSpPr>
          <p:cNvPr id="105" name="Group 104"/>
          <p:cNvGrpSpPr/>
          <p:nvPr/>
        </p:nvGrpSpPr>
        <p:grpSpPr>
          <a:xfrm>
            <a:off x="525726" y="1855674"/>
            <a:ext cx="4980842" cy="2891135"/>
            <a:chOff x="7494106" y="2268731"/>
            <a:chExt cx="3868901" cy="2173972"/>
          </a:xfrm>
        </p:grpSpPr>
        <p:sp>
          <p:nvSpPr>
            <p:cNvPr id="106" name="Rounded Rectangle 105"/>
            <p:cNvSpPr/>
            <p:nvPr/>
          </p:nvSpPr>
          <p:spPr>
            <a:xfrm>
              <a:off x="7494106" y="2268731"/>
              <a:ext cx="3868901" cy="217397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Cloud 106"/>
            <p:cNvSpPr/>
            <p:nvPr/>
          </p:nvSpPr>
          <p:spPr>
            <a:xfrm>
              <a:off x="7996662" y="2696584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Cloud 107"/>
            <p:cNvSpPr/>
            <p:nvPr/>
          </p:nvSpPr>
          <p:spPr>
            <a:xfrm>
              <a:off x="8213702" y="3093394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Cloud 108"/>
            <p:cNvSpPr/>
            <p:nvPr/>
          </p:nvSpPr>
          <p:spPr>
            <a:xfrm>
              <a:off x="7922323" y="3420295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Cloud 109"/>
            <p:cNvSpPr/>
            <p:nvPr/>
          </p:nvSpPr>
          <p:spPr>
            <a:xfrm>
              <a:off x="9334473" y="2918123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Cloud 110"/>
            <p:cNvSpPr/>
            <p:nvPr/>
          </p:nvSpPr>
          <p:spPr>
            <a:xfrm>
              <a:off x="7870816" y="4003515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Cloud 111"/>
            <p:cNvSpPr/>
            <p:nvPr/>
          </p:nvSpPr>
          <p:spPr>
            <a:xfrm rot="-4800000">
              <a:off x="8955216" y="2991911"/>
              <a:ext cx="9144" cy="146304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Cloud 112"/>
            <p:cNvSpPr/>
            <p:nvPr/>
          </p:nvSpPr>
          <p:spPr>
            <a:xfrm>
              <a:off x="8735562" y="3482510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Cloud 113"/>
            <p:cNvSpPr/>
            <p:nvPr/>
          </p:nvSpPr>
          <p:spPr>
            <a:xfrm rot="-1020000">
              <a:off x="8561210" y="2945874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Cloud 114"/>
            <p:cNvSpPr/>
            <p:nvPr/>
          </p:nvSpPr>
          <p:spPr>
            <a:xfrm rot="780000">
              <a:off x="8594690" y="3311850"/>
              <a:ext cx="36576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Cloud 115"/>
            <p:cNvSpPr/>
            <p:nvPr/>
          </p:nvSpPr>
          <p:spPr>
            <a:xfrm rot="-1800000">
              <a:off x="9553714" y="3312176"/>
              <a:ext cx="9144" cy="133845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Cloud 116"/>
            <p:cNvSpPr/>
            <p:nvPr/>
          </p:nvSpPr>
          <p:spPr>
            <a:xfrm>
              <a:off x="10436227" y="2856029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Cloud 117"/>
            <p:cNvSpPr/>
            <p:nvPr/>
          </p:nvSpPr>
          <p:spPr>
            <a:xfrm>
              <a:off x="9184755" y="3750790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Cloud 118"/>
            <p:cNvSpPr/>
            <p:nvPr/>
          </p:nvSpPr>
          <p:spPr>
            <a:xfrm>
              <a:off x="8841105" y="4032447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Cloud 119"/>
            <p:cNvSpPr/>
            <p:nvPr/>
          </p:nvSpPr>
          <p:spPr>
            <a:xfrm>
              <a:off x="10231916" y="4032447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Cloud 120"/>
            <p:cNvSpPr/>
            <p:nvPr/>
          </p:nvSpPr>
          <p:spPr>
            <a:xfrm>
              <a:off x="10225479" y="3454805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Cloud 121"/>
            <p:cNvSpPr/>
            <p:nvPr/>
          </p:nvSpPr>
          <p:spPr>
            <a:xfrm>
              <a:off x="9710839" y="3454805"/>
              <a:ext cx="47009" cy="48445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Cloud 122"/>
            <p:cNvSpPr/>
            <p:nvPr/>
          </p:nvSpPr>
          <p:spPr>
            <a:xfrm>
              <a:off x="11170360" y="3563759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Cloud 123"/>
            <p:cNvSpPr/>
            <p:nvPr/>
          </p:nvSpPr>
          <p:spPr>
            <a:xfrm>
              <a:off x="7710292" y="3044949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Cloud 124"/>
            <p:cNvSpPr/>
            <p:nvPr/>
          </p:nvSpPr>
          <p:spPr>
            <a:xfrm rot="5400000">
              <a:off x="8525575" y="3820248"/>
              <a:ext cx="45719" cy="54864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Cloud 125"/>
            <p:cNvSpPr/>
            <p:nvPr/>
          </p:nvSpPr>
          <p:spPr>
            <a:xfrm>
              <a:off x="9357332" y="2448092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Cloud 126"/>
            <p:cNvSpPr/>
            <p:nvPr/>
          </p:nvSpPr>
          <p:spPr>
            <a:xfrm rot="-600000">
              <a:off x="10857701" y="3875894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Cloud 127"/>
            <p:cNvSpPr/>
            <p:nvPr/>
          </p:nvSpPr>
          <p:spPr>
            <a:xfrm rot="5400000">
              <a:off x="9984519" y="3113830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Cloud 128"/>
            <p:cNvSpPr/>
            <p:nvPr/>
          </p:nvSpPr>
          <p:spPr>
            <a:xfrm>
              <a:off x="8970022" y="2621650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Cloud 129"/>
            <p:cNvSpPr/>
            <p:nvPr/>
          </p:nvSpPr>
          <p:spPr>
            <a:xfrm rot="2700000">
              <a:off x="9780101" y="2696584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Cloud 130"/>
            <p:cNvSpPr/>
            <p:nvPr/>
          </p:nvSpPr>
          <p:spPr>
            <a:xfrm rot="-1200000">
              <a:off x="8063520" y="3896125"/>
              <a:ext cx="45719" cy="369534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Cloud 131"/>
            <p:cNvSpPr/>
            <p:nvPr/>
          </p:nvSpPr>
          <p:spPr>
            <a:xfrm rot="600000" flipH="1">
              <a:off x="9811395" y="3724734"/>
              <a:ext cx="52164" cy="359259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Cloud 132"/>
            <p:cNvSpPr/>
            <p:nvPr/>
          </p:nvSpPr>
          <p:spPr>
            <a:xfrm>
              <a:off x="10159893" y="2696584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Cloud 133"/>
            <p:cNvSpPr/>
            <p:nvPr/>
          </p:nvSpPr>
          <p:spPr>
            <a:xfrm>
              <a:off x="10568390" y="3406360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Cloud 134"/>
            <p:cNvSpPr/>
            <p:nvPr/>
          </p:nvSpPr>
          <p:spPr>
            <a:xfrm rot="-5400000">
              <a:off x="9009014" y="3439992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Cloud 135"/>
            <p:cNvSpPr/>
            <p:nvPr/>
          </p:nvSpPr>
          <p:spPr>
            <a:xfrm rot="600000">
              <a:off x="9460173" y="3633018"/>
              <a:ext cx="45719" cy="186269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Cloud 136"/>
            <p:cNvSpPr/>
            <p:nvPr/>
          </p:nvSpPr>
          <p:spPr>
            <a:xfrm>
              <a:off x="9253597" y="3380408"/>
              <a:ext cx="45719" cy="198991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Cloud 137"/>
            <p:cNvSpPr/>
            <p:nvPr/>
          </p:nvSpPr>
          <p:spPr>
            <a:xfrm>
              <a:off x="9345162" y="4092110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Cloud 138"/>
            <p:cNvSpPr/>
            <p:nvPr/>
          </p:nvSpPr>
          <p:spPr>
            <a:xfrm>
              <a:off x="10985097" y="2544982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Cloud 139"/>
            <p:cNvSpPr/>
            <p:nvPr/>
          </p:nvSpPr>
          <p:spPr>
            <a:xfrm>
              <a:off x="10604413" y="2544982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Cloud 140"/>
            <p:cNvSpPr/>
            <p:nvPr/>
          </p:nvSpPr>
          <p:spPr>
            <a:xfrm>
              <a:off x="10880560" y="2918222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Cloud 141"/>
            <p:cNvSpPr/>
            <p:nvPr/>
          </p:nvSpPr>
          <p:spPr>
            <a:xfrm rot="1800000">
              <a:off x="10885940" y="3352975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Cloud 142"/>
            <p:cNvSpPr/>
            <p:nvPr/>
          </p:nvSpPr>
          <p:spPr>
            <a:xfrm>
              <a:off x="10377879" y="3607205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Cloud 143"/>
            <p:cNvSpPr/>
            <p:nvPr/>
          </p:nvSpPr>
          <p:spPr>
            <a:xfrm>
              <a:off x="10627272" y="3926050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Cloud 144"/>
            <p:cNvSpPr/>
            <p:nvPr/>
          </p:nvSpPr>
          <p:spPr>
            <a:xfrm rot="780000">
              <a:off x="8312380" y="2489890"/>
              <a:ext cx="36576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Cloud 145"/>
            <p:cNvSpPr/>
            <p:nvPr/>
          </p:nvSpPr>
          <p:spPr>
            <a:xfrm rot="780000">
              <a:off x="8082529" y="3616650"/>
              <a:ext cx="36576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Cloud 146"/>
            <p:cNvSpPr/>
            <p:nvPr/>
          </p:nvSpPr>
          <p:spPr>
            <a:xfrm rot="5400000">
              <a:off x="8677975" y="3972648"/>
              <a:ext cx="45719" cy="54864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Cloud 147"/>
            <p:cNvSpPr/>
            <p:nvPr/>
          </p:nvSpPr>
          <p:spPr>
            <a:xfrm rot="5400000">
              <a:off x="9947143" y="2925835"/>
              <a:ext cx="45719" cy="54864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-137319" y="1711274"/>
            <a:ext cx="6181297" cy="3237875"/>
            <a:chOff x="79409" y="1731364"/>
            <a:chExt cx="6181297" cy="3237875"/>
          </a:xfrm>
        </p:grpSpPr>
        <p:cxnSp>
          <p:nvCxnSpPr>
            <p:cNvPr id="11" name="Straight Connector 10"/>
            <p:cNvCxnSpPr/>
            <p:nvPr/>
          </p:nvCxnSpPr>
          <p:spPr>
            <a:xfrm flipH="1">
              <a:off x="1289154" y="1731364"/>
              <a:ext cx="59961" cy="323787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/>
          </p:nvCxnSpPr>
          <p:spPr>
            <a:xfrm flipH="1">
              <a:off x="1918559" y="1731364"/>
              <a:ext cx="59961" cy="323787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/>
          </p:nvCxnSpPr>
          <p:spPr>
            <a:xfrm flipH="1">
              <a:off x="2547964" y="1731364"/>
              <a:ext cx="59961" cy="323787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flipH="1">
              <a:off x="3177369" y="1731364"/>
              <a:ext cx="59961" cy="323787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 flipH="1">
              <a:off x="3806774" y="1731364"/>
              <a:ext cx="59961" cy="323787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H="1">
              <a:off x="4436179" y="1731364"/>
              <a:ext cx="59961" cy="323787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flipH="1">
              <a:off x="5065581" y="1731364"/>
              <a:ext cx="59961" cy="323787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flipH="1">
              <a:off x="79409" y="2526423"/>
              <a:ext cx="6028897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flipH="1">
              <a:off x="231809" y="3313502"/>
              <a:ext cx="6028897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flipH="1">
              <a:off x="192900" y="4100580"/>
              <a:ext cx="6028897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81815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roup 136"/>
          <p:cNvGrpSpPr/>
          <p:nvPr/>
        </p:nvGrpSpPr>
        <p:grpSpPr>
          <a:xfrm>
            <a:off x="525727" y="1855675"/>
            <a:ext cx="4980843" cy="2891135"/>
            <a:chOff x="7494128" y="2268735"/>
            <a:chExt cx="3868913" cy="2173974"/>
          </a:xfrm>
        </p:grpSpPr>
        <p:sp>
          <p:nvSpPr>
            <p:cNvPr id="138" name="Rounded Rectangle 137"/>
            <p:cNvSpPr/>
            <p:nvPr/>
          </p:nvSpPr>
          <p:spPr>
            <a:xfrm>
              <a:off x="7494128" y="2268735"/>
              <a:ext cx="3868913" cy="217397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Cloud 138"/>
            <p:cNvSpPr/>
            <p:nvPr/>
          </p:nvSpPr>
          <p:spPr>
            <a:xfrm>
              <a:off x="7996686" y="2696588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Cloud 139"/>
            <p:cNvSpPr/>
            <p:nvPr/>
          </p:nvSpPr>
          <p:spPr>
            <a:xfrm>
              <a:off x="8213726" y="3093399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Cloud 140"/>
            <p:cNvSpPr/>
            <p:nvPr/>
          </p:nvSpPr>
          <p:spPr>
            <a:xfrm>
              <a:off x="7922347" y="3420300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Cloud 141"/>
            <p:cNvSpPr/>
            <p:nvPr/>
          </p:nvSpPr>
          <p:spPr>
            <a:xfrm>
              <a:off x="9334500" y="2918127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Cloud 142"/>
            <p:cNvSpPr/>
            <p:nvPr/>
          </p:nvSpPr>
          <p:spPr>
            <a:xfrm>
              <a:off x="7870839" y="4003520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Cloud 143"/>
            <p:cNvSpPr/>
            <p:nvPr/>
          </p:nvSpPr>
          <p:spPr>
            <a:xfrm rot="16800000">
              <a:off x="8955242" y="2991916"/>
              <a:ext cx="9144" cy="146304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Cloud 144"/>
            <p:cNvSpPr/>
            <p:nvPr/>
          </p:nvSpPr>
          <p:spPr>
            <a:xfrm>
              <a:off x="8735588" y="3482515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Cloud 145"/>
            <p:cNvSpPr/>
            <p:nvPr/>
          </p:nvSpPr>
          <p:spPr>
            <a:xfrm rot="20580000">
              <a:off x="8561235" y="2945878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Cloud 146"/>
            <p:cNvSpPr/>
            <p:nvPr/>
          </p:nvSpPr>
          <p:spPr>
            <a:xfrm rot="780000">
              <a:off x="8594715" y="3311854"/>
              <a:ext cx="36576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Cloud 147"/>
            <p:cNvSpPr/>
            <p:nvPr/>
          </p:nvSpPr>
          <p:spPr>
            <a:xfrm rot="19800000">
              <a:off x="9553742" y="3312181"/>
              <a:ext cx="9144" cy="133845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Cloud 148"/>
            <p:cNvSpPr/>
            <p:nvPr/>
          </p:nvSpPr>
          <p:spPr>
            <a:xfrm>
              <a:off x="10436258" y="2856033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Cloud 149"/>
            <p:cNvSpPr/>
            <p:nvPr/>
          </p:nvSpPr>
          <p:spPr>
            <a:xfrm>
              <a:off x="9184782" y="3750796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Cloud 150"/>
            <p:cNvSpPr/>
            <p:nvPr/>
          </p:nvSpPr>
          <p:spPr>
            <a:xfrm>
              <a:off x="8841131" y="4032452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Cloud 151"/>
            <p:cNvSpPr/>
            <p:nvPr/>
          </p:nvSpPr>
          <p:spPr>
            <a:xfrm>
              <a:off x="10231946" y="4032452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Cloud 152"/>
            <p:cNvSpPr/>
            <p:nvPr/>
          </p:nvSpPr>
          <p:spPr>
            <a:xfrm>
              <a:off x="10225509" y="3454810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Cloud 153"/>
            <p:cNvSpPr/>
            <p:nvPr/>
          </p:nvSpPr>
          <p:spPr>
            <a:xfrm>
              <a:off x="9710868" y="3454810"/>
              <a:ext cx="47009" cy="48445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Cloud 154"/>
            <p:cNvSpPr/>
            <p:nvPr/>
          </p:nvSpPr>
          <p:spPr>
            <a:xfrm>
              <a:off x="11170393" y="3563764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Cloud 155"/>
            <p:cNvSpPr/>
            <p:nvPr/>
          </p:nvSpPr>
          <p:spPr>
            <a:xfrm>
              <a:off x="7710314" y="3044953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Cloud 156"/>
            <p:cNvSpPr/>
            <p:nvPr/>
          </p:nvSpPr>
          <p:spPr>
            <a:xfrm rot="5400000">
              <a:off x="8525600" y="3820253"/>
              <a:ext cx="45719" cy="54864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Cloud 157"/>
            <p:cNvSpPr/>
            <p:nvPr/>
          </p:nvSpPr>
          <p:spPr>
            <a:xfrm>
              <a:off x="9357359" y="2448096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Cloud 158"/>
            <p:cNvSpPr/>
            <p:nvPr/>
          </p:nvSpPr>
          <p:spPr>
            <a:xfrm rot="21000000">
              <a:off x="10857733" y="3875900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Cloud 159"/>
            <p:cNvSpPr/>
            <p:nvPr/>
          </p:nvSpPr>
          <p:spPr>
            <a:xfrm rot="5400000">
              <a:off x="9984548" y="3113834"/>
              <a:ext cx="45719" cy="96891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Cloud 160"/>
            <p:cNvSpPr/>
            <p:nvPr/>
          </p:nvSpPr>
          <p:spPr>
            <a:xfrm>
              <a:off x="8970048" y="2621654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Cloud 161"/>
            <p:cNvSpPr/>
            <p:nvPr/>
          </p:nvSpPr>
          <p:spPr>
            <a:xfrm rot="2700000">
              <a:off x="9780129" y="2696588"/>
              <a:ext cx="45719" cy="96891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Cloud 162"/>
            <p:cNvSpPr/>
            <p:nvPr/>
          </p:nvSpPr>
          <p:spPr>
            <a:xfrm rot="20400000">
              <a:off x="8063543" y="3896131"/>
              <a:ext cx="45719" cy="369534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Cloud 163"/>
            <p:cNvSpPr/>
            <p:nvPr/>
          </p:nvSpPr>
          <p:spPr>
            <a:xfrm rot="600000" flipH="1">
              <a:off x="9811423" y="3724739"/>
              <a:ext cx="52164" cy="35926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Cloud 164"/>
            <p:cNvSpPr/>
            <p:nvPr/>
          </p:nvSpPr>
          <p:spPr>
            <a:xfrm>
              <a:off x="10159922" y="2696588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Cloud 165"/>
            <p:cNvSpPr/>
            <p:nvPr/>
          </p:nvSpPr>
          <p:spPr>
            <a:xfrm>
              <a:off x="10568420" y="3406365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Cloud 166"/>
            <p:cNvSpPr/>
            <p:nvPr/>
          </p:nvSpPr>
          <p:spPr>
            <a:xfrm rot="16200000">
              <a:off x="9009040" y="3439997"/>
              <a:ext cx="45719" cy="96891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Cloud 167"/>
            <p:cNvSpPr/>
            <p:nvPr/>
          </p:nvSpPr>
          <p:spPr>
            <a:xfrm rot="600000">
              <a:off x="9460200" y="3633023"/>
              <a:ext cx="45719" cy="18627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Cloud 168"/>
            <p:cNvSpPr/>
            <p:nvPr/>
          </p:nvSpPr>
          <p:spPr>
            <a:xfrm>
              <a:off x="9253623" y="3380413"/>
              <a:ext cx="45719" cy="198991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Cloud 169"/>
            <p:cNvSpPr/>
            <p:nvPr/>
          </p:nvSpPr>
          <p:spPr>
            <a:xfrm>
              <a:off x="9345189" y="4092115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Cloud 170"/>
            <p:cNvSpPr/>
            <p:nvPr/>
          </p:nvSpPr>
          <p:spPr>
            <a:xfrm>
              <a:off x="10985129" y="2544986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Cloud 171"/>
            <p:cNvSpPr/>
            <p:nvPr/>
          </p:nvSpPr>
          <p:spPr>
            <a:xfrm>
              <a:off x="10604443" y="2544986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Cloud 172"/>
            <p:cNvSpPr/>
            <p:nvPr/>
          </p:nvSpPr>
          <p:spPr>
            <a:xfrm>
              <a:off x="10880591" y="2918226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Cloud 173"/>
            <p:cNvSpPr/>
            <p:nvPr/>
          </p:nvSpPr>
          <p:spPr>
            <a:xfrm rot="1800000">
              <a:off x="10885972" y="3352980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Cloud 174"/>
            <p:cNvSpPr/>
            <p:nvPr/>
          </p:nvSpPr>
          <p:spPr>
            <a:xfrm>
              <a:off x="10377909" y="3607210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Cloud 175"/>
            <p:cNvSpPr/>
            <p:nvPr/>
          </p:nvSpPr>
          <p:spPr>
            <a:xfrm>
              <a:off x="10627302" y="3926054"/>
              <a:ext cx="45719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Cloud 176"/>
            <p:cNvSpPr/>
            <p:nvPr/>
          </p:nvSpPr>
          <p:spPr>
            <a:xfrm rot="780000">
              <a:off x="8312403" y="2489892"/>
              <a:ext cx="36576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Cloud 177"/>
            <p:cNvSpPr/>
            <p:nvPr/>
          </p:nvSpPr>
          <p:spPr>
            <a:xfrm rot="780000">
              <a:off x="8082551" y="3616654"/>
              <a:ext cx="36576" cy="96890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Cloud 178"/>
            <p:cNvSpPr/>
            <p:nvPr/>
          </p:nvSpPr>
          <p:spPr>
            <a:xfrm rot="5400000">
              <a:off x="8677998" y="3972652"/>
              <a:ext cx="45719" cy="54864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Cloud 179"/>
            <p:cNvSpPr/>
            <p:nvPr/>
          </p:nvSpPr>
          <p:spPr>
            <a:xfrm rot="5400000">
              <a:off x="9947143" y="2925835"/>
              <a:ext cx="45719" cy="54864"/>
            </a:xfrm>
            <a:prstGeom prst="clou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15"/>
              <p:cNvSpPr>
                <a:spLocks noGrp="1"/>
              </p:cNvSpPr>
              <p:nvPr>
                <p:ph sz="half" idx="2"/>
              </p:nvPr>
            </p:nvSpPr>
            <p:spPr>
              <a:xfrm>
                <a:off x="6168588" y="1823574"/>
                <a:ext cx="5181600" cy="485998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Approach:</a:t>
                </a:r>
              </a:p>
              <a:p>
                <a:pPr lvl="1"/>
                <a:r>
                  <a:rPr lang="en-US" dirty="0" smtClean="0"/>
                  <a:t>Partition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Sample uniformly from the partitions to pick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⊂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Solve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s.t.</a:t>
                </a:r>
                <a:r>
                  <a:rPr lang="en-US" dirty="0" smtClean="0"/>
                  <a:t/>
                </a:r>
                <a:br>
                  <a:rPr lang="en-US" dirty="0" smtClean="0"/>
                </a:br>
                <a:r>
                  <a:rPr lang="en-US" dirty="0" smtClean="0"/>
                  <a:t>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endParaRPr lang="en-US" dirty="0" smtClean="0"/>
              </a:p>
              <a:p>
                <a:r>
                  <a:rPr lang="en-US" dirty="0" smtClean="0"/>
                  <a:t>Tradeoff</a:t>
                </a:r>
              </a:p>
              <a:p>
                <a:pPr lvl="1"/>
                <a:r>
                  <a:rPr lang="en-US" dirty="0" smtClean="0"/>
                  <a:t>Coarse partition efficient but poor quality sampling</a:t>
                </a:r>
              </a:p>
              <a:p>
                <a:pPr lvl="1"/>
                <a:r>
                  <a:rPr lang="en-US" dirty="0" smtClean="0"/>
                  <a:t>Fine partition expensive but high quality sampling</a:t>
                </a:r>
              </a:p>
              <a:p>
                <a:pPr lvl="1"/>
                <a:r>
                  <a:rPr lang="en-US" dirty="0" smtClean="0"/>
                  <a:t>Approximates rejection sampling in the limit of very fine partition</a:t>
                </a:r>
                <a:endParaRPr lang="en-US" dirty="0"/>
              </a:p>
            </p:txBody>
          </p:sp>
        </mc:Choice>
        <mc:Fallback xmlns="">
          <p:sp>
            <p:nvSpPr>
              <p:cNvPr id="16" name="Content Placeholder 1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68588" y="1823574"/>
                <a:ext cx="5181600" cy="4859988"/>
              </a:xfrm>
              <a:blipFill>
                <a:blip r:embed="rId2"/>
                <a:stretch>
                  <a:fillRect l="-2118" t="-2760" r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Sampling with Constraints</a:t>
            </a:r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-60568" y="2081618"/>
            <a:ext cx="6028897" cy="2406484"/>
            <a:chOff x="-60568" y="2081618"/>
            <a:chExt cx="6028897" cy="2406484"/>
          </a:xfrm>
        </p:grpSpPr>
        <p:cxnSp>
          <p:nvCxnSpPr>
            <p:cNvPr id="102" name="Straight Connector 101"/>
            <p:cNvCxnSpPr/>
            <p:nvPr/>
          </p:nvCxnSpPr>
          <p:spPr>
            <a:xfrm flipH="1">
              <a:off x="-60568" y="2300389"/>
              <a:ext cx="6028897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flipH="1">
              <a:off x="-60568" y="3831786"/>
              <a:ext cx="6028897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flipH="1">
              <a:off x="-60568" y="4269328"/>
              <a:ext cx="6028897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/>
          </p:nvCxnSpPr>
          <p:spPr>
            <a:xfrm flipH="1">
              <a:off x="-60568" y="2519160"/>
              <a:ext cx="6028897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/>
            <p:nvPr/>
          </p:nvCxnSpPr>
          <p:spPr>
            <a:xfrm flipH="1">
              <a:off x="-60568" y="2956702"/>
              <a:ext cx="6028897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/>
          </p:nvCxnSpPr>
          <p:spPr>
            <a:xfrm flipH="1">
              <a:off x="-60568" y="3394244"/>
              <a:ext cx="6028897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/>
          </p:nvCxnSpPr>
          <p:spPr>
            <a:xfrm flipH="1">
              <a:off x="-60568" y="2081618"/>
              <a:ext cx="6028897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flipH="1">
              <a:off x="-60568" y="4488102"/>
              <a:ext cx="6028897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/>
            <p:nvPr/>
          </p:nvCxnSpPr>
          <p:spPr>
            <a:xfrm flipH="1">
              <a:off x="-60568" y="2737931"/>
              <a:ext cx="6028897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/>
          </p:nvCxnSpPr>
          <p:spPr>
            <a:xfrm flipH="1">
              <a:off x="-60568" y="3175473"/>
              <a:ext cx="6028897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/>
          </p:nvCxnSpPr>
          <p:spPr>
            <a:xfrm flipH="1">
              <a:off x="-60568" y="3613015"/>
              <a:ext cx="6028897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 flipH="1">
              <a:off x="-60568" y="4050557"/>
              <a:ext cx="6028897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/>
          <p:cNvGrpSpPr/>
          <p:nvPr/>
        </p:nvGrpSpPr>
        <p:grpSpPr>
          <a:xfrm>
            <a:off x="666895" y="1672573"/>
            <a:ext cx="4699648" cy="3237875"/>
            <a:chOff x="666895" y="1672573"/>
            <a:chExt cx="4699648" cy="3237875"/>
          </a:xfrm>
        </p:grpSpPr>
        <p:cxnSp>
          <p:nvCxnSpPr>
            <p:cNvPr id="11" name="Straight Connector 10"/>
            <p:cNvCxnSpPr/>
            <p:nvPr/>
          </p:nvCxnSpPr>
          <p:spPr>
            <a:xfrm flipH="1">
              <a:off x="666895" y="1672573"/>
              <a:ext cx="59961" cy="323787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/>
          </p:nvCxnSpPr>
          <p:spPr>
            <a:xfrm flipH="1">
              <a:off x="3539076" y="1672573"/>
              <a:ext cx="59961" cy="323787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/>
          </p:nvCxnSpPr>
          <p:spPr>
            <a:xfrm flipH="1">
              <a:off x="4201887" y="1672573"/>
              <a:ext cx="59961" cy="323787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flipH="1">
              <a:off x="4422824" y="1672573"/>
              <a:ext cx="59961" cy="323787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 flipH="1">
              <a:off x="4643761" y="1672573"/>
              <a:ext cx="59961" cy="323787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H="1">
              <a:off x="5085635" y="1672573"/>
              <a:ext cx="59961" cy="323787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flipH="1">
              <a:off x="5306582" y="1672573"/>
              <a:ext cx="59961" cy="323787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 flipH="1">
              <a:off x="1329706" y="1672573"/>
              <a:ext cx="59961" cy="323787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>
            <a:xfrm flipH="1">
              <a:off x="2213454" y="1672573"/>
              <a:ext cx="59961" cy="323787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>
            <a:xfrm flipH="1">
              <a:off x="2876265" y="1672573"/>
              <a:ext cx="59961" cy="323787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>
            <a:xfrm flipH="1">
              <a:off x="3097202" y="1672573"/>
              <a:ext cx="59961" cy="323787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flipH="1">
              <a:off x="3980950" y="1672573"/>
              <a:ext cx="59961" cy="323787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flipH="1">
              <a:off x="887832" y="1672573"/>
              <a:ext cx="59961" cy="323787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flipH="1">
              <a:off x="1108769" y="1672573"/>
              <a:ext cx="59961" cy="323787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/>
            <p:nvPr/>
          </p:nvCxnSpPr>
          <p:spPr>
            <a:xfrm flipH="1">
              <a:off x="1771580" y="1672573"/>
              <a:ext cx="59961" cy="323787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 flipH="1">
              <a:off x="4864698" y="1672573"/>
              <a:ext cx="59961" cy="323787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flipH="1">
              <a:off x="1550643" y="1672573"/>
              <a:ext cx="59961" cy="323787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/>
          </p:nvCxnSpPr>
          <p:spPr>
            <a:xfrm flipH="1">
              <a:off x="1992517" y="1672573"/>
              <a:ext cx="59961" cy="323787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 flipH="1">
              <a:off x="2434391" y="1672573"/>
              <a:ext cx="59961" cy="323787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/>
            <p:cNvCxnSpPr/>
            <p:nvPr/>
          </p:nvCxnSpPr>
          <p:spPr>
            <a:xfrm flipH="1">
              <a:off x="2655328" y="1672573"/>
              <a:ext cx="59961" cy="323787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/>
            <p:cNvCxnSpPr/>
            <p:nvPr/>
          </p:nvCxnSpPr>
          <p:spPr>
            <a:xfrm flipH="1">
              <a:off x="3760013" y="1672573"/>
              <a:ext cx="59961" cy="323787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/>
            <p:cNvCxnSpPr/>
            <p:nvPr/>
          </p:nvCxnSpPr>
          <p:spPr>
            <a:xfrm flipH="1">
              <a:off x="3318139" y="1672573"/>
              <a:ext cx="59961" cy="323787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55260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Experimental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75B73"/>
      </a:accent1>
      <a:accent2>
        <a:srgbClr val="CD0909"/>
      </a:accent2>
      <a:accent3>
        <a:srgbClr val="3F7830"/>
      </a:accent3>
      <a:accent4>
        <a:srgbClr val="08110B"/>
      </a:accent4>
      <a:accent5>
        <a:srgbClr val="DCA800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erlin Sans FB"/>
        <a:ea typeface=""/>
        <a:cs typeface=""/>
      </a:majorFont>
      <a:minorFont>
        <a:latin typeface="Calibr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80107</TotalTime>
  <Words>1096</Words>
  <Application>Microsoft Office PowerPoint</Application>
  <PresentationFormat>Widescreen</PresentationFormat>
  <Paragraphs>551</Paragraphs>
  <Slides>38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Berlin Sans FB</vt:lpstr>
      <vt:lpstr>Calibri</vt:lpstr>
      <vt:lpstr>Cambria Math</vt:lpstr>
      <vt:lpstr>office theme</vt:lpstr>
      <vt:lpstr>Lecture 21 Synthesizing under a distribution</vt:lpstr>
      <vt:lpstr>Programming by Example</vt:lpstr>
      <vt:lpstr>Key elements</vt:lpstr>
      <vt:lpstr>Length minimization</vt:lpstr>
      <vt:lpstr>Bottom Up Explicit Search</vt:lpstr>
      <vt:lpstr>Top Down Explicit Search</vt:lpstr>
      <vt:lpstr>Top Down Explicit Search</vt:lpstr>
      <vt:lpstr>Symbolic Search</vt:lpstr>
      <vt:lpstr>Symbolic Search</vt:lpstr>
      <vt:lpstr>Symbolic Search</vt:lpstr>
      <vt:lpstr>Extended CEGIS</vt:lpstr>
      <vt:lpstr>Extended CEGIS</vt:lpstr>
      <vt:lpstr>Extended CEGIS</vt:lpstr>
      <vt:lpstr>Extended CEGIS</vt:lpstr>
      <vt:lpstr>Extended CEGIS</vt:lpstr>
      <vt:lpstr>Extended CEGIS</vt:lpstr>
      <vt:lpstr>Probabilistic Grammars</vt:lpstr>
      <vt:lpstr>Probabilistic Grammars</vt:lpstr>
      <vt:lpstr>Probabilistic Grammars</vt:lpstr>
      <vt:lpstr>Search with P G</vt:lpstr>
      <vt:lpstr>Context sensitive Probabilities</vt:lpstr>
      <vt:lpstr>Context sensitive Probabilities</vt:lpstr>
      <vt:lpstr>Search</vt:lpstr>
      <vt:lpstr>Bottom-up search</vt:lpstr>
      <vt:lpstr>Bottom-up search</vt:lpstr>
      <vt:lpstr>Bottom-up search</vt:lpstr>
      <vt:lpstr>Bottom-up search</vt:lpstr>
      <vt:lpstr>Learning a pCFG</vt:lpstr>
      <vt:lpstr>Learning a pCFG</vt:lpstr>
      <vt:lpstr>Learning a pCFG</vt:lpstr>
      <vt:lpstr>Learning a pCFG</vt:lpstr>
      <vt:lpstr>Neural Networks</vt:lpstr>
      <vt:lpstr>DeepCoder</vt:lpstr>
      <vt:lpstr>Sampling</vt:lpstr>
      <vt:lpstr>Sampling with Constraints</vt:lpstr>
      <vt:lpstr>Sampling with Constraints</vt:lpstr>
      <vt:lpstr>Sampling with Constraints</vt:lpstr>
      <vt:lpstr>Sampling with Constraints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Armando Solar-Lezama</dc:creator>
  <cp:lastModifiedBy>Armando Solar-Lezama</cp:lastModifiedBy>
  <cp:revision>880</cp:revision>
  <cp:lastPrinted>2015-02-26T04:09:31Z</cp:lastPrinted>
  <dcterms:created xsi:type="dcterms:W3CDTF">2014-09-23T19:26:18Z</dcterms:created>
  <dcterms:modified xsi:type="dcterms:W3CDTF">2020-05-06T15:03:45Z</dcterms:modified>
</cp:coreProperties>
</file>