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5"/>
  </p:notesMasterIdLst>
  <p:sldIdLst>
    <p:sldId id="336" r:id="rId2"/>
    <p:sldId id="426" r:id="rId3"/>
    <p:sldId id="400" r:id="rId4"/>
    <p:sldId id="401" r:id="rId5"/>
    <p:sldId id="402" r:id="rId6"/>
    <p:sldId id="403" r:id="rId7"/>
    <p:sldId id="404" r:id="rId8"/>
    <p:sldId id="405" r:id="rId9"/>
    <p:sldId id="406" r:id="rId10"/>
    <p:sldId id="410" r:id="rId11"/>
    <p:sldId id="411" r:id="rId12"/>
    <p:sldId id="412" r:id="rId13"/>
    <p:sldId id="413" r:id="rId14"/>
    <p:sldId id="407" r:id="rId15"/>
    <p:sldId id="408" r:id="rId16"/>
    <p:sldId id="414" r:id="rId17"/>
    <p:sldId id="419" r:id="rId18"/>
    <p:sldId id="421" r:id="rId19"/>
    <p:sldId id="422" r:id="rId20"/>
    <p:sldId id="423" r:id="rId21"/>
    <p:sldId id="424" r:id="rId22"/>
    <p:sldId id="425" r:id="rId23"/>
    <p:sldId id="380" r:id="rId24"/>
    <p:sldId id="381" r:id="rId25"/>
    <p:sldId id="382" r:id="rId26"/>
    <p:sldId id="383" r:id="rId27"/>
    <p:sldId id="427" r:id="rId28"/>
    <p:sldId id="428" r:id="rId29"/>
    <p:sldId id="429" r:id="rId30"/>
    <p:sldId id="384" r:id="rId31"/>
    <p:sldId id="387" r:id="rId32"/>
    <p:sldId id="388" r:id="rId33"/>
    <p:sldId id="389" r:id="rId34"/>
    <p:sldId id="391" r:id="rId35"/>
    <p:sldId id="390" r:id="rId36"/>
    <p:sldId id="392" r:id="rId37"/>
    <p:sldId id="394" r:id="rId38"/>
    <p:sldId id="395" r:id="rId39"/>
    <p:sldId id="397" r:id="rId40"/>
    <p:sldId id="398" r:id="rId41"/>
    <p:sldId id="393" r:id="rId42"/>
    <p:sldId id="385" r:id="rId43"/>
    <p:sldId id="386" r:id="rId4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F0B"/>
    <a:srgbClr val="CA703B"/>
    <a:srgbClr val="CFE5C9"/>
    <a:srgbClr val="9AC890"/>
    <a:srgbClr val="C7CEFF"/>
    <a:srgbClr val="7F8AFF"/>
    <a:srgbClr val="FFFFFF"/>
    <a:srgbClr val="000000"/>
    <a:srgbClr val="FF77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3" autoAdjust="0"/>
    <p:restoredTop sz="84761" autoAdjust="0"/>
  </p:normalViewPr>
  <p:slideViewPr>
    <p:cSldViewPr snapToGrid="0">
      <p:cViewPr>
        <p:scale>
          <a:sx n="87" d="100"/>
          <a:sy n="87" d="100"/>
        </p:scale>
        <p:origin x="36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10/8/2018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2" Type="http://schemas.openxmlformats.org/officeDocument/2006/relationships/image" Target="../media/image9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18" Type="http://schemas.openxmlformats.org/officeDocument/2006/relationships/image" Target="../media/image42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17" Type="http://schemas.openxmlformats.org/officeDocument/2006/relationships/image" Target="../media/image41.png"/><Relationship Id="rId2" Type="http://schemas.openxmlformats.org/officeDocument/2006/relationships/image" Target="../media/image9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5.png"/><Relationship Id="rId18" Type="http://schemas.openxmlformats.org/officeDocument/2006/relationships/image" Target="../media/image4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17" Type="http://schemas.openxmlformats.org/officeDocument/2006/relationships/image" Target="../media/image41.png"/><Relationship Id="rId2" Type="http://schemas.openxmlformats.org/officeDocument/2006/relationships/image" Target="../media/image43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14</a:t>
            </a:r>
            <a:br>
              <a:rPr lang="en-US" dirty="0" smtClean="0"/>
            </a:br>
            <a:r>
              <a:rPr lang="en-US" dirty="0" smtClean="0"/>
              <a:t>SMT and Theorem Proving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1587826"/>
          </a:xfrm>
        </p:spPr>
        <p:txBody>
          <a:bodyPr>
            <a:normAutofit/>
          </a:bodyPr>
          <a:lstStyle/>
          <a:p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 partially based on slides by </a:t>
            </a:r>
            <a:b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Isil Dillig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http://www.cs.utexas.edu/~isil/cs780-02/lecture16.pdf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language of expressions and predicates over those expressions where we have a satisfiability procedure for conjunctions over predicates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88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Candidate Logic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Goals: 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Hypotheses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Literals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Expressions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>
            <a:off x="7879171" y="2945792"/>
            <a:ext cx="191641" cy="887022"/>
          </a:xfrm>
          <a:prstGeom prst="rightBrac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213172" y="2983258"/>
            <a:ext cx="31746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Background theory</a:t>
            </a:r>
            <a:br>
              <a:rPr lang="en-US" sz="2400" dirty="0" smtClean="0"/>
            </a:br>
            <a:r>
              <a:rPr lang="en-US" sz="2400" dirty="0" smtClean="0"/>
              <a:t>Gives meaning to these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19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Candidate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Goals: 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Hypotheses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Literals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Expressions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Note that our alternative VC gen procedure produces formulas in this form!</a:t>
                </a:r>
              </a:p>
              <a:p>
                <a:pPr lvl="1"/>
                <a:r>
                  <a:rPr lang="en-US" dirty="0" smtClean="0"/>
                  <a:t>Assuming invariants, preconditions and </a:t>
                </a:r>
                <a:r>
                  <a:rPr lang="en-US" dirty="0" err="1" smtClean="0"/>
                  <a:t>postcond</a:t>
                </a:r>
                <a:r>
                  <a:rPr lang="en-US" dirty="0" smtClean="0"/>
                  <a:t> are all from H.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69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Meaning of a formula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means that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holds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when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where D is the domain of x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whenever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endParaRPr lang="en-US" dirty="0" smtClean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>
                    <a:latin typeface="Cambria Math" panose="02040503050406030204" pitchFamily="18" charset="0"/>
                  </a:rPr>
                  <a:t> is true according to the theory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07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simple prove procedure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What we want: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iff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46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simple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 is fresh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8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 prover for literals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Reduces the problem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H is a conjunction of literals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∧…∧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∧…∧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𝑝𝑟𝑜𝑣𝑒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26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Linear Inequalities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5"/>
                <a:ext cx="9761306" cy="1454169"/>
              </a:xfrm>
            </p:spPr>
            <p:txBody>
              <a:bodyPr/>
              <a:lstStyle/>
              <a:p>
                <a:r>
                  <a:rPr lang="en-US" dirty="0" smtClean="0"/>
                  <a:t>Expressions: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Literals: 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5"/>
                <a:ext cx="9761306" cy="1454169"/>
              </a:xfrm>
              <a:blipFill>
                <a:blip r:embed="rId2"/>
                <a:stretch>
                  <a:fillRect t="-6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577" y="227225"/>
            <a:ext cx="4701162" cy="1282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8897" y="3927866"/>
                <a:ext cx="5810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⇒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7" y="3927866"/>
                <a:ext cx="5810629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51415" y="4800948"/>
                <a:ext cx="41048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  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415" y="4800948"/>
                <a:ext cx="4104842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1434" y="4357995"/>
                <a:ext cx="5470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434" y="4357995"/>
                <a:ext cx="547066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262089" y="3916881"/>
                <a:ext cx="1279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089" y="3916881"/>
                <a:ext cx="1279453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67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Inequalities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1258" y="1721260"/>
                <a:ext cx="10979352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⇒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58" y="1721260"/>
                <a:ext cx="10979352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376269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3762690"/>
                <a:ext cx="9968370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>
            <a:off x="5463587" y="3071820"/>
            <a:ext cx="257347" cy="542069"/>
          </a:xfrm>
          <a:prstGeom prst="downArrow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4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Inequalities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058" y="4757412"/>
                <a:ext cx="9079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757412"/>
                <a:ext cx="9079793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6057" y="5440931"/>
                <a:ext cx="7386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7" y="5440931"/>
                <a:ext cx="738695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>
            <a:off x="5463587" y="3071820"/>
            <a:ext cx="257347" cy="542069"/>
          </a:xfrm>
          <a:prstGeom prst="downArrow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5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Inequalities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128647"/>
                <a:ext cx="5127429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6058" y="4757412"/>
                <a:ext cx="89387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  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58" y="4757412"/>
                <a:ext cx="8938729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9171" y="5440931"/>
                <a:ext cx="7561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71" y="5440931"/>
                <a:ext cx="756168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Arrow 8"/>
          <p:cNvSpPr/>
          <p:nvPr/>
        </p:nvSpPr>
        <p:spPr>
          <a:xfrm>
            <a:off x="5463587" y="3071820"/>
            <a:ext cx="257347" cy="542069"/>
          </a:xfrm>
          <a:prstGeom prst="downArrow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Inequalities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+(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    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∧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dirty="0"/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11" y="1627280"/>
                <a:ext cx="9968370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583" y="4128647"/>
                <a:ext cx="54606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𝑈𝑛𝑠𝑎𝑡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83" y="4128647"/>
                <a:ext cx="5460662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9860" y="4757412"/>
                <a:ext cx="880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𝑈𝑛𝑠𝑎𝑡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60" y="4757412"/>
                <a:ext cx="880221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6285" y="5440931"/>
                <a:ext cx="72632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𝑈𝑛𝑠𝑎𝑡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≤0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85" y="5440931"/>
                <a:ext cx="726327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89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this enough to check VCs?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Given a definition of VC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2{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})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𝑒𝑙𝑠𝑒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𝑉𝐶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(¬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𝑉𝐶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𝑤h𝑖𝑙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𝑑𝑜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  <m:r>
                          <a:rPr lang="en-US" sz="2000" i="1">
                            <a:latin typeface="Cambria Math"/>
                          </a:rPr>
                          <m:t>, </m:t>
                        </m:r>
                        <m:r>
                          <a:rPr lang="en-US" sz="2000" i="1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∧  ∀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, 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𝑉𝐶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∧¬</m:t>
                          </m:r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2"/>
                <a:r>
                  <a:rPr lang="en-US" sz="1600" dirty="0" smtClean="0"/>
                  <a:t>Where </a:t>
                </a:r>
                <a:r>
                  <a:rPr lang="en-US" sz="1600" dirty="0" err="1"/>
                  <a:t>x_i</a:t>
                </a:r>
                <a:r>
                  <a:rPr lang="en-US" sz="1600" dirty="0"/>
                  <a:t> are variables modified in c</a:t>
                </a:r>
                <a:r>
                  <a:rPr lang="en-US" sz="160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𝑎𝑠𝑠𝑒𝑟𝑡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𝑎𝑠𝑠𝑢𝑚𝑒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3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enough to check VCs?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Given a definition of VC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2{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})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𝑒𝑙𝑠𝑒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𝑉𝐶</m:t>
                        </m:r>
                        <m:d>
                          <m:dPr>
                            <m:ctrlP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∧ (¬</m:t>
                    </m:r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⇒ </m:t>
                    </m:r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dirty="0" smtClean="0">
                  <a:solidFill>
                    <a:schemeClr val="accent2"/>
                  </a:solidFill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𝑉𝐶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𝑤h𝑖𝑙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𝑒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𝑑𝑜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  <m:r>
                          <a:rPr lang="en-US" sz="2000" i="1">
                            <a:latin typeface="Cambria Math"/>
                          </a:rPr>
                          <m:t>, </m:t>
                        </m:r>
                        <m:r>
                          <a:rPr lang="en-US" sz="2000" i="1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</m:oMath>
                </a14:m>
                <a:endParaRPr lang="en-US" sz="200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∧  ∀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, 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𝐼</m:t>
                      </m:r>
                      <m:r>
                        <a:rPr lang="en-US" sz="2000" i="1"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𝑉𝐶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∧¬</m:t>
                          </m:r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  <m:r>
                            <a:rPr lang="en-US" sz="2000" i="1">
                              <a:latin typeface="Cambria Math"/>
                            </a:rPr>
                            <m:t>⇒</m:t>
                          </m:r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2"/>
                <a:r>
                  <a:rPr lang="en-US" sz="1600" dirty="0" smtClean="0"/>
                  <a:t>Where </a:t>
                </a:r>
                <a:r>
                  <a:rPr lang="en-US" sz="1600" dirty="0" err="1"/>
                  <a:t>x_i</a:t>
                </a:r>
                <a:r>
                  <a:rPr lang="en-US" sz="1600" dirty="0"/>
                  <a:t> are variables modified in c</a:t>
                </a:r>
                <a:r>
                  <a:rPr lang="en-US" sz="160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𝑎𝑠𝑠𝑒𝑟𝑡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𝑎𝑠𝑠𝑢𝑚𝑒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05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with </a:t>
            </a:r>
            <a:r>
              <a:rPr lang="en-US" dirty="0" err="1" smtClean="0"/>
              <a:t>uninterpreted</a:t>
            </a:r>
            <a:r>
              <a:rPr lang="en-US" dirty="0" smtClean="0"/>
              <a:t>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Equality with </a:t>
                </a:r>
                <a:r>
                  <a:rPr lang="en-US" dirty="0" err="1" smtClean="0"/>
                  <a:t>uninterpreted</a:t>
                </a:r>
                <a:r>
                  <a:rPr lang="en-US" dirty="0" smtClean="0"/>
                  <a:t> functions</a:t>
                </a:r>
              </a:p>
              <a:p>
                <a:pPr lvl="1"/>
                <a:r>
                  <a:rPr lang="en-US" dirty="0" smtClean="0"/>
                  <a:t>Symbols: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=, 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Axioms: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/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 smtClean="0">
                    <a:latin typeface="Cambria Math" panose="020405030504060302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690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with UF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x=y</a:t>
            </a:r>
          </a:p>
          <a:p>
            <a:r>
              <a:rPr lang="en-US" sz="2400" dirty="0" smtClean="0"/>
              <a:t>y=z</a:t>
            </a:r>
          </a:p>
          <a:p>
            <a:r>
              <a:rPr lang="en-US" sz="2400" dirty="0" smtClean="0"/>
              <a:t>f(x)=f(z)</a:t>
            </a:r>
          </a:p>
          <a:p>
            <a:r>
              <a:rPr lang="en-US" sz="2400" dirty="0" smtClean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 smtClean="0"/>
              <a:t>f(x) != f(f(f(x)))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752666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89121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86586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93127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02596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f(x)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80345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f(z)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60399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g(t)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61237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f(g(t))</a:t>
            </a:r>
            <a:endParaRPr lang="en-US" dirty="0"/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2624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36718" y="1619237"/>
            <a:ext cx="6524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3363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f(y)</a:t>
            </a:r>
            <a:endParaRPr lang="en-US" dirty="0"/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77983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96797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f(f(x))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490998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f(f(f(x)))</a:t>
            </a:r>
            <a:endParaRPr lang="en-US" dirty="0"/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0998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894692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0420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0419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3552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24605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3452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3452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198245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19277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69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with UF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52666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89121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86586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93127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02596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f(x)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80345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f(z)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60399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g(t)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61237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f(g(t))</a:t>
            </a:r>
            <a:endParaRPr lang="en-US" dirty="0"/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2624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36718" y="1619237"/>
            <a:ext cx="6524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3363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f(y)</a:t>
            </a:r>
            <a:endParaRPr lang="en-US" dirty="0"/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77983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96797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f(f(x))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490998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f(f(f(x)))</a:t>
            </a:r>
            <a:endParaRPr lang="en-US" dirty="0"/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0998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894692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0420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0419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3552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24605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3452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3452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198245" y="2661850"/>
            <a:ext cx="1529925" cy="270823"/>
          </a:xfrm>
          <a:prstGeom prst="curvedConnector4">
            <a:avLst>
              <a:gd name="adj1" fmla="val 13985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19277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198245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x=y</a:t>
            </a:r>
          </a:p>
          <a:p>
            <a:r>
              <a:rPr lang="en-US" sz="2400" dirty="0" smtClean="0"/>
              <a:t>y=z</a:t>
            </a:r>
          </a:p>
          <a:p>
            <a:r>
              <a:rPr lang="en-US" sz="2400" dirty="0" smtClean="0"/>
              <a:t>f(x)=f(z)</a:t>
            </a:r>
          </a:p>
          <a:p>
            <a:r>
              <a:rPr lang="en-US" sz="2400" dirty="0" smtClean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 smtClean="0"/>
              <a:t>f(x) != f(f(f(x)))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006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with UF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69091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05546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03011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09552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19021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f(x)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96770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f(z)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6824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g(t)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77662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f(g(t))</a:t>
            </a:r>
            <a:endParaRPr lang="en-US" dirty="0"/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79049" y="1619237"/>
            <a:ext cx="497775" cy="113735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53143" y="1619237"/>
            <a:ext cx="6524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29788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f(y)</a:t>
            </a:r>
            <a:endParaRPr lang="en-US" dirty="0"/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94408" y="1619237"/>
            <a:ext cx="6086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13222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f(f(x))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507423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f(f(f(x)))</a:t>
            </a:r>
            <a:endParaRPr lang="en-US" dirty="0"/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507423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11117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66845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66844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49977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41030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39877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39877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14670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35702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14670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14670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x=y</a:t>
            </a:r>
          </a:p>
          <a:p>
            <a:r>
              <a:rPr lang="en-US" sz="2400" dirty="0" smtClean="0"/>
              <a:t>y=z</a:t>
            </a:r>
          </a:p>
          <a:p>
            <a:r>
              <a:rPr lang="en-US" sz="2400" dirty="0" smtClean="0"/>
              <a:t>f(x)=f(z)</a:t>
            </a:r>
          </a:p>
          <a:p>
            <a:r>
              <a:rPr lang="en-US" sz="2400" dirty="0" smtClean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 smtClean="0"/>
              <a:t>f(x) != f(f(f(x)))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859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with UF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58141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94596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92061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98602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08071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f(x)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85820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f(z)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65874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g(t)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66712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f(g(t))</a:t>
            </a:r>
            <a:endParaRPr lang="en-US" dirty="0"/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8099" y="1619237"/>
            <a:ext cx="497775" cy="113735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42193" y="1619237"/>
            <a:ext cx="6524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8838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f(y)</a:t>
            </a:r>
            <a:endParaRPr lang="en-US" dirty="0"/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83458" y="1619237"/>
            <a:ext cx="60860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02272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f(f(x))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496473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f(f(f(x)))</a:t>
            </a:r>
            <a:endParaRPr lang="en-US" dirty="0"/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6473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00167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5895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5894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9027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30080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8927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8927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03720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24752" y="2037079"/>
            <a:ext cx="48491" cy="1759860"/>
          </a:xfrm>
          <a:prstGeom prst="curvedConnector3">
            <a:avLst>
              <a:gd name="adj1" fmla="val 571428"/>
            </a:avLst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03720" y="2661850"/>
            <a:ext cx="415118" cy="46248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03720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9" idx="1"/>
            <a:endCxn id="34" idx="1"/>
          </p:cNvCxnSpPr>
          <p:nvPr/>
        </p:nvCxnSpPr>
        <p:spPr>
          <a:xfrm rot="10800000" flipV="1">
            <a:off x="4602273" y="2661849"/>
            <a:ext cx="105799" cy="1004805"/>
          </a:xfrm>
          <a:prstGeom prst="curvedConnector3">
            <a:avLst>
              <a:gd name="adj1" fmla="val 316070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x=y</a:t>
            </a:r>
          </a:p>
          <a:p>
            <a:r>
              <a:rPr lang="en-US" sz="2400" dirty="0" smtClean="0"/>
              <a:t>y=z</a:t>
            </a:r>
          </a:p>
          <a:p>
            <a:r>
              <a:rPr lang="en-US" sz="2400" dirty="0" smtClean="0"/>
              <a:t>f(x)=f(z)</a:t>
            </a:r>
          </a:p>
          <a:p>
            <a:r>
              <a:rPr lang="en-US" sz="2400" dirty="0" smtClean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 smtClean="0"/>
              <a:t>f(x) != f(f(f(x)))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281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with UF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63616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00071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97536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04077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13546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f(x)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91295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f(z)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1349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g(t)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72187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f(g(t))</a:t>
            </a:r>
            <a:endParaRPr lang="en-US" dirty="0"/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73574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47668" y="1619237"/>
            <a:ext cx="6524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24313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f(y)</a:t>
            </a:r>
            <a:endParaRPr lang="en-US" dirty="0"/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88933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07747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f(f(x))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501948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f(f(f(x)))</a:t>
            </a:r>
            <a:endParaRPr lang="en-US" dirty="0"/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501948" y="2661850"/>
            <a:ext cx="211598" cy="1975108"/>
          </a:xfrm>
          <a:prstGeom prst="curvedConnector3">
            <a:avLst>
              <a:gd name="adj1" fmla="val 451276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05642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61370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61369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44502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35555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34402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34402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09195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30227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09195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09195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9" idx="1"/>
            <a:endCxn id="34" idx="1"/>
          </p:cNvCxnSpPr>
          <p:nvPr/>
        </p:nvCxnSpPr>
        <p:spPr>
          <a:xfrm rot="10800000" flipV="1">
            <a:off x="4607748" y="2661849"/>
            <a:ext cx="105799" cy="1004805"/>
          </a:xfrm>
          <a:prstGeom prst="curvedConnector3">
            <a:avLst>
              <a:gd name="adj1" fmla="val 316070"/>
            </a:avLst>
          </a:prstGeom>
          <a:ln w="762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34" idx="3"/>
            <a:endCxn id="38" idx="3"/>
          </p:cNvCxnSpPr>
          <p:nvPr/>
        </p:nvCxnSpPr>
        <p:spPr>
          <a:xfrm>
            <a:off x="5314992" y="3666655"/>
            <a:ext cx="105797" cy="970303"/>
          </a:xfrm>
          <a:prstGeom prst="curvedConnector3">
            <a:avLst>
              <a:gd name="adj1" fmla="val 316074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x=y</a:t>
            </a:r>
          </a:p>
          <a:p>
            <a:r>
              <a:rPr lang="en-US" sz="2400" dirty="0" smtClean="0"/>
              <a:t>y=z</a:t>
            </a:r>
          </a:p>
          <a:p>
            <a:r>
              <a:rPr lang="en-US" sz="2400" dirty="0" smtClean="0"/>
              <a:t>f(x)=f(z)</a:t>
            </a:r>
          </a:p>
          <a:p>
            <a:r>
              <a:rPr lang="en-US" sz="2400" dirty="0" smtClean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 smtClean="0"/>
              <a:t>f(x) != f(f(f(x)))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27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with UF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58141" y="143457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94596" y="143457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592061" y="143457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98602" y="143457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08071" y="2477184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f(x)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85820" y="256334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f(z)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65874" y="2571923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g(t)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66712" y="3641197"/>
            <a:ext cx="72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f(g(t))</a:t>
            </a:r>
            <a:endParaRPr lang="en-US" dirty="0"/>
          </a:p>
        </p:txBody>
      </p:sp>
      <p:cxnSp>
        <p:nvCxnSpPr>
          <p:cNvPr id="22" name="Straight Connector 21"/>
          <p:cNvCxnSpPr>
            <a:stCxn id="11" idx="1"/>
            <a:endCxn id="7" idx="3"/>
          </p:cNvCxnSpPr>
          <p:nvPr/>
        </p:nvCxnSpPr>
        <p:spPr>
          <a:xfrm flipH="1" flipV="1">
            <a:off x="6868099" y="1619237"/>
            <a:ext cx="497775" cy="11373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1"/>
            <a:endCxn id="5" idx="3"/>
          </p:cNvCxnSpPr>
          <p:nvPr/>
        </p:nvCxnSpPr>
        <p:spPr>
          <a:xfrm flipH="1">
            <a:off x="5042193" y="1619237"/>
            <a:ext cx="6524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8838" y="252343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f(y)</a:t>
            </a:r>
            <a:endParaRPr lang="en-US" dirty="0"/>
          </a:p>
        </p:txBody>
      </p:sp>
      <p:cxnSp>
        <p:nvCxnSpPr>
          <p:cNvPr id="29" name="Straight Connector 28"/>
          <p:cNvCxnSpPr>
            <a:stCxn id="6" idx="3"/>
            <a:endCxn id="7" idx="1"/>
          </p:cNvCxnSpPr>
          <p:nvPr/>
        </p:nvCxnSpPr>
        <p:spPr>
          <a:xfrm>
            <a:off x="5983458" y="1619237"/>
            <a:ext cx="6086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02272" y="3481989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f(f(x))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496473" y="445229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f(f(f(x)))</a:t>
            </a:r>
            <a:endParaRPr lang="en-US" dirty="0"/>
          </a:p>
        </p:txBody>
      </p:sp>
      <p:cxnSp>
        <p:nvCxnSpPr>
          <p:cNvPr id="43" name="Curved Connector 42"/>
          <p:cNvCxnSpPr>
            <a:stCxn id="9" idx="1"/>
            <a:endCxn id="38" idx="1"/>
          </p:cNvCxnSpPr>
          <p:nvPr/>
        </p:nvCxnSpPr>
        <p:spPr>
          <a:xfrm rot="10800000" flipV="1">
            <a:off x="4496473" y="2661850"/>
            <a:ext cx="211598" cy="1975108"/>
          </a:xfrm>
          <a:prstGeom prst="curvedConnector3">
            <a:avLst>
              <a:gd name="adj1" fmla="val 451276"/>
            </a:avLst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2"/>
            <a:endCxn id="9" idx="0"/>
          </p:cNvCxnSpPr>
          <p:nvPr/>
        </p:nvCxnSpPr>
        <p:spPr>
          <a:xfrm>
            <a:off x="4900167" y="1803903"/>
            <a:ext cx="55729" cy="67328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2"/>
            <a:endCxn id="34" idx="0"/>
          </p:cNvCxnSpPr>
          <p:nvPr/>
        </p:nvCxnSpPr>
        <p:spPr>
          <a:xfrm flipH="1">
            <a:off x="4955895" y="2846516"/>
            <a:ext cx="1" cy="63547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4" idx="2"/>
            <a:endCxn id="38" idx="0"/>
          </p:cNvCxnSpPr>
          <p:nvPr/>
        </p:nvCxnSpPr>
        <p:spPr>
          <a:xfrm flipH="1">
            <a:off x="4955894" y="3851321"/>
            <a:ext cx="1" cy="60097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  <a:endCxn id="27" idx="0"/>
          </p:cNvCxnSpPr>
          <p:nvPr/>
        </p:nvCxnSpPr>
        <p:spPr>
          <a:xfrm>
            <a:off x="5839027" y="1803903"/>
            <a:ext cx="30040" cy="71952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2"/>
            <a:endCxn id="10" idx="0"/>
          </p:cNvCxnSpPr>
          <p:nvPr/>
        </p:nvCxnSpPr>
        <p:spPr>
          <a:xfrm>
            <a:off x="6730080" y="1803903"/>
            <a:ext cx="3565" cy="75943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2"/>
            <a:endCxn id="11" idx="0"/>
          </p:cNvCxnSpPr>
          <p:nvPr/>
        </p:nvCxnSpPr>
        <p:spPr>
          <a:xfrm flipH="1">
            <a:off x="7628927" y="1803903"/>
            <a:ext cx="480" cy="76802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7628927" y="2941255"/>
            <a:ext cx="0" cy="69994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9" idx="3"/>
            <a:endCxn id="10" idx="2"/>
          </p:cNvCxnSpPr>
          <p:nvPr/>
        </p:nvCxnSpPr>
        <p:spPr>
          <a:xfrm>
            <a:off x="5203720" y="2661850"/>
            <a:ext cx="1529925" cy="270823"/>
          </a:xfrm>
          <a:prstGeom prst="curvedConnector4">
            <a:avLst>
              <a:gd name="adj1" fmla="val 14701"/>
              <a:gd name="adj2" fmla="val 269324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27" idx="2"/>
            <a:endCxn id="11" idx="2"/>
          </p:cNvCxnSpPr>
          <p:nvPr/>
        </p:nvCxnSpPr>
        <p:spPr>
          <a:xfrm rot="16200000" flipH="1">
            <a:off x="6724752" y="2037079"/>
            <a:ext cx="48491" cy="1759860"/>
          </a:xfrm>
          <a:prstGeom prst="curvedConnector3">
            <a:avLst>
              <a:gd name="adj1" fmla="val 571428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9" idx="3"/>
            <a:endCxn id="27" idx="1"/>
          </p:cNvCxnSpPr>
          <p:nvPr/>
        </p:nvCxnSpPr>
        <p:spPr>
          <a:xfrm>
            <a:off x="5203720" y="2661850"/>
            <a:ext cx="415118" cy="4624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9" idx="3"/>
            <a:endCxn id="12" idx="1"/>
          </p:cNvCxnSpPr>
          <p:nvPr/>
        </p:nvCxnSpPr>
        <p:spPr>
          <a:xfrm>
            <a:off x="5203720" y="2661850"/>
            <a:ext cx="2062992" cy="1164013"/>
          </a:xfrm>
          <a:prstGeom prst="curvedConnector3">
            <a:avLst>
              <a:gd name="adj1" fmla="val 6738"/>
            </a:avLst>
          </a:prstGeom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9" idx="1"/>
            <a:endCxn id="34" idx="1"/>
          </p:cNvCxnSpPr>
          <p:nvPr/>
        </p:nvCxnSpPr>
        <p:spPr>
          <a:xfrm rot="10800000" flipV="1">
            <a:off x="4602273" y="2661849"/>
            <a:ext cx="105799" cy="1004805"/>
          </a:xfrm>
          <a:prstGeom prst="curvedConnector3">
            <a:avLst>
              <a:gd name="adj1" fmla="val 316070"/>
            </a:avLst>
          </a:prstGeom>
          <a:ln w="762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34" idx="3"/>
            <a:endCxn id="38" idx="3"/>
          </p:cNvCxnSpPr>
          <p:nvPr/>
        </p:nvCxnSpPr>
        <p:spPr>
          <a:xfrm>
            <a:off x="5309517" y="3666655"/>
            <a:ext cx="105797" cy="970303"/>
          </a:xfrm>
          <a:prstGeom prst="curvedConnector3">
            <a:avLst>
              <a:gd name="adj1" fmla="val 316074"/>
            </a:avLst>
          </a:prstGeom>
          <a:ln w="762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950250" y="5186274"/>
            <a:ext cx="2280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</a:rPr>
              <a:t>Contradiction!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91058" y="1976638"/>
            <a:ext cx="1965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x=y</a:t>
            </a:r>
          </a:p>
          <a:p>
            <a:r>
              <a:rPr lang="en-US" sz="2400" dirty="0" smtClean="0"/>
              <a:t>y=z</a:t>
            </a:r>
          </a:p>
          <a:p>
            <a:r>
              <a:rPr lang="en-US" sz="2400" dirty="0" smtClean="0"/>
              <a:t>f(x)=f(z)</a:t>
            </a:r>
          </a:p>
          <a:p>
            <a:r>
              <a:rPr lang="en-US" sz="2400" dirty="0" smtClean="0"/>
              <a:t>g(t)=z</a:t>
            </a:r>
          </a:p>
          <a:p>
            <a:r>
              <a:rPr lang="en-US" sz="2400" dirty="0"/>
              <a:t>f(y) = g(t)</a:t>
            </a:r>
          </a:p>
          <a:p>
            <a:r>
              <a:rPr lang="en-US" sz="2400" dirty="0" smtClean="0"/>
              <a:t>f(x) != f(f(f(x)))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922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Nelson-</a:t>
            </a:r>
            <a:r>
              <a:rPr lang="en-US" dirty="0" err="1" smtClean="0"/>
              <a:t>Oppen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834448"/>
          </a:xfrm>
        </p:spPr>
        <p:txBody>
          <a:bodyPr/>
          <a:lstStyle/>
          <a:p>
            <a:r>
              <a:rPr lang="en-US" dirty="0" smtClean="0"/>
              <a:t>Two step process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1868" y="3411930"/>
                <a:ext cx="16544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in mixed theory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68" y="3411930"/>
                <a:ext cx="1654492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3321" t="-5660" r="-258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2856588" y="3130946"/>
            <a:ext cx="1494596" cy="12082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Purification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51412" y="3273430"/>
                <a:ext cx="19929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Formulas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each 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12" y="3273430"/>
                <a:ext cx="1992981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2446" t="-3974" r="-21713" b="-58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8144621" y="3130946"/>
            <a:ext cx="1494596" cy="12082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Equality</a:t>
            </a:r>
            <a:br>
              <a:rPr lang="en-US" dirty="0" smtClean="0"/>
            </a:br>
            <a:r>
              <a:rPr lang="en-US" dirty="0" smtClean="0"/>
              <a:t>Propagation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539448" y="3550429"/>
            <a:ext cx="118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2248532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9931389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4643356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7536565" y="3423952"/>
            <a:ext cx="315884" cy="6222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7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Break up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 into a set of formulas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each </a:t>
                </a:r>
                <a:r>
                  <a:rPr lang="en-US" dirty="0"/>
                  <a:t>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such </a:t>
                </a:r>
                <a:r>
                  <a:rPr lang="en-US" dirty="0" smtClean="0"/>
                  <a:t>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 smtClean="0"/>
                  <a:t> are </a:t>
                </a:r>
                <a:r>
                  <a:rPr lang="en-US" dirty="0" err="1" smtClean="0">
                    <a:solidFill>
                      <a:schemeClr val="accent2"/>
                    </a:solidFill>
                  </a:rPr>
                  <a:t>equisatisfiable</a:t>
                </a:r>
                <a:endParaRPr lang="en-US" dirty="0">
                  <a:solidFill>
                    <a:schemeClr val="accent2"/>
                  </a:solidFill>
                </a:endParaRPr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Steps</a:t>
                </a:r>
              </a:p>
              <a:p>
                <a:pPr lvl="1"/>
                <a:r>
                  <a:rPr lang="en-US" dirty="0" smtClean="0"/>
                  <a:t>For every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 smtClean="0"/>
                  <a:t> belongs to some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belongs to a different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, replace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 and add a constraint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 smtClean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b="0" dirty="0" smtClean="0"/>
                  <a:t> is a fresh variable)</a:t>
                </a:r>
              </a:p>
              <a:p>
                <a:pPr lvl="1"/>
                <a:r>
                  <a:rPr lang="en-US" dirty="0"/>
                  <a:t>For every </a:t>
                </a:r>
                <a:r>
                  <a:rPr lang="en-US" dirty="0" smtClean="0"/>
                  <a:t>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belongs to some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belongs to a different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replace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/>
                  <a:t> and add a constraint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fresh variable)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 r="-1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63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i="1" dirty="0" smtClean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i="1" dirty="0" smtClean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 smtClean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dirty="0" smtClean="0">
                  <a:solidFill>
                    <a:schemeClr val="accent3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80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1) Run each UNSAT procedure independently</a:t>
            </a:r>
          </a:p>
          <a:p>
            <a:pPr lvl="1"/>
            <a:r>
              <a:rPr lang="en-US" sz="2000" dirty="0" smtClean="0"/>
              <a:t>If any returns UNSAT we are done</a:t>
            </a:r>
          </a:p>
          <a:p>
            <a:r>
              <a:rPr lang="en-US" sz="2400" dirty="0" smtClean="0"/>
              <a:t>2) Broadcast any equalities that were discovered</a:t>
            </a:r>
          </a:p>
          <a:p>
            <a:pPr lvl="1"/>
            <a:r>
              <a:rPr lang="en-US" sz="2000" dirty="0" smtClean="0"/>
              <a:t>If no new equalities were discovered, return SAT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498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49875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Uninterpreted</a:t>
            </a:r>
            <a:r>
              <a:rPr lang="en-US" dirty="0" smtClean="0"/>
              <a:t> Fun.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Linear Integer Arithmetic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6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1) Run each UNSAT procedure independently</a:t>
            </a:r>
          </a:p>
          <a:p>
            <a:pPr lvl="1"/>
            <a:r>
              <a:rPr lang="en-US" sz="2000" dirty="0" smtClean="0"/>
              <a:t>If any returns UNSAT we are done</a:t>
            </a:r>
          </a:p>
          <a:p>
            <a:r>
              <a:rPr lang="en-US" sz="2400" dirty="0" smtClean="0"/>
              <a:t>2) Broadcast any equalities that were discovered</a:t>
            </a:r>
          </a:p>
          <a:p>
            <a:pPr lvl="1"/>
            <a:r>
              <a:rPr lang="en-US" sz="2000" dirty="0" smtClean="0"/>
              <a:t>If no new equalities were discovered, return SAT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Uninterpreted</a:t>
            </a:r>
            <a:r>
              <a:rPr lang="en-US" dirty="0" smtClean="0"/>
              <a:t> Fun.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Linear Integer Arithmetic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768570" y="4388403"/>
            <a:ext cx="810367" cy="342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blipFill>
                <a:blip r:embed="rId15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solidFill>
                    <a:schemeClr val="accent4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blipFill>
                <a:blip r:embed="rId16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/>
          <p:cNvCxnSpPr>
            <a:endCxn id="59" idx="3"/>
          </p:cNvCxnSpPr>
          <p:nvPr/>
        </p:nvCxnSpPr>
        <p:spPr>
          <a:xfrm rot="5400000">
            <a:off x="1084872" y="4831945"/>
            <a:ext cx="1134492" cy="2329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14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1) Run each UNSAT procedure independently</a:t>
            </a:r>
          </a:p>
          <a:p>
            <a:pPr lvl="1"/>
            <a:r>
              <a:rPr lang="en-US" sz="2000" dirty="0" smtClean="0"/>
              <a:t>If any returns UNSAT we are done</a:t>
            </a:r>
          </a:p>
          <a:p>
            <a:r>
              <a:rPr lang="en-US" sz="2400" dirty="0" smtClean="0"/>
              <a:t>2) Broadcast any equalities that were discovered</a:t>
            </a:r>
          </a:p>
          <a:p>
            <a:pPr lvl="1"/>
            <a:r>
              <a:rPr lang="en-US" sz="2000" dirty="0" smtClean="0"/>
              <a:t>If no new equalities were discovered, return SAT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Uninterpreted</a:t>
            </a:r>
            <a:r>
              <a:rPr lang="en-US" dirty="0" smtClean="0"/>
              <a:t> Fun.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Linear Integer Arithmetic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14" idx="1"/>
            <a:endCxn id="60" idx="3"/>
          </p:cNvCxnSpPr>
          <p:nvPr/>
        </p:nvCxnSpPr>
        <p:spPr>
          <a:xfrm flipH="1">
            <a:off x="1600876" y="4057986"/>
            <a:ext cx="1030427" cy="1904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blipFill>
                <a:blip r:embed="rId15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solidFill>
                    <a:schemeClr val="accent4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blipFill>
                <a:blip r:embed="rId16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/>
          <p:cNvCxnSpPr>
            <a:stCxn id="14" idx="1"/>
            <a:endCxn id="58" idx="1"/>
          </p:cNvCxnSpPr>
          <p:nvPr/>
        </p:nvCxnSpPr>
        <p:spPr>
          <a:xfrm rot="10800000" flipV="1">
            <a:off x="2591409" y="4057985"/>
            <a:ext cx="39895" cy="1134491"/>
          </a:xfrm>
          <a:prstGeom prst="curvedConnector3">
            <a:avLst>
              <a:gd name="adj1" fmla="val 6730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/>
              <p:cNvSpPr txBox="1"/>
              <p:nvPr/>
            </p:nvSpPr>
            <p:spPr>
              <a:xfrm>
                <a:off x="528146" y="5778284"/>
                <a:ext cx="1072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46" y="5778284"/>
                <a:ext cx="107273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15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046" y="1391127"/>
            <a:ext cx="9761306" cy="165330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1) Run each UNSAT procedure independently</a:t>
            </a:r>
          </a:p>
          <a:p>
            <a:pPr lvl="1"/>
            <a:r>
              <a:rPr lang="en-US" sz="2000" dirty="0" smtClean="0"/>
              <a:t>If any returns UNSAT we are done</a:t>
            </a:r>
          </a:p>
          <a:p>
            <a:r>
              <a:rPr lang="en-US" sz="2400" dirty="0" smtClean="0"/>
              <a:t>2) Broadcast any equalities that were discovered</a:t>
            </a:r>
          </a:p>
          <a:p>
            <a:pPr lvl="1"/>
            <a:r>
              <a:rPr lang="en-US" sz="2000" dirty="0" smtClean="0"/>
              <a:t>If no new equalities were discovered, return SAT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>
                  <a:solidFill>
                    <a:schemeClr val="accent3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3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3715149"/>
                <a:ext cx="1956262" cy="1477328"/>
              </a:xfrm>
              <a:prstGeom prst="rect">
                <a:avLst/>
              </a:prstGeom>
              <a:blipFill>
                <a:blip r:embed="rId2"/>
                <a:stretch>
                  <a:fillRect b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865424" y="495412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31883" y="49541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52" y="4954120"/>
                <a:ext cx="5018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63" y="4954120"/>
                <a:ext cx="5071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97" y="4954120"/>
                <a:ext cx="5071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431" y="4954120"/>
                <a:ext cx="5018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642" y="4954120"/>
                <a:ext cx="3764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495" y="4954120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2"/>
              <p:cNvSpPr/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611" y="3906132"/>
                <a:ext cx="372869" cy="401658"/>
              </a:xfrm>
              <a:prstGeom prst="ellipse">
                <a:avLst/>
              </a:prstGeom>
              <a:blipFill>
                <a:blip r:embed="rId9"/>
                <a:stretch>
                  <a:fillRect r="-1562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7" idx="0"/>
            <a:endCxn id="13" idx="4"/>
          </p:cNvCxnSpPr>
          <p:nvPr/>
        </p:nvCxnSpPr>
        <p:spPr>
          <a:xfrm rot="16200000" flipV="1">
            <a:off x="6842385" y="4542451"/>
            <a:ext cx="646330" cy="177008"/>
          </a:xfrm>
          <a:prstGeom prst="curvedConnector3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517404" y="3240624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46" y="3964882"/>
                <a:ext cx="319952" cy="249382"/>
              </a:xfrm>
              <a:prstGeom prst="rect">
                <a:avLst/>
              </a:prstGeom>
              <a:blipFill>
                <a:blip r:embed="rId10"/>
                <a:stretch>
                  <a:fillRect l="-555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/>
              <p:cNvSpPr/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916" y="3906131"/>
                <a:ext cx="372869" cy="401658"/>
              </a:xfrm>
              <a:prstGeom prst="ellipse">
                <a:avLst/>
              </a:prstGeom>
              <a:blipFill>
                <a:blip r:embed="rId11"/>
                <a:stretch>
                  <a:fillRect l="-1587" r="-1587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0"/>
            <a:endCxn id="19" idx="4"/>
          </p:cNvCxnSpPr>
          <p:nvPr/>
        </p:nvCxnSpPr>
        <p:spPr>
          <a:xfrm rot="5400000" flipH="1" flipV="1">
            <a:off x="7797474" y="4551243"/>
            <a:ext cx="646331" cy="15942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9" idx="2"/>
            <a:endCxn id="17" idx="3"/>
          </p:cNvCxnSpPr>
          <p:nvPr/>
        </p:nvCxnSpPr>
        <p:spPr>
          <a:xfrm rot="10800000">
            <a:off x="7834798" y="4089574"/>
            <a:ext cx="179118" cy="17387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3" idx="6"/>
            <a:endCxn id="17" idx="1"/>
          </p:cNvCxnSpPr>
          <p:nvPr/>
        </p:nvCxnSpPr>
        <p:spPr>
          <a:xfrm flipV="1">
            <a:off x="7263480" y="4089573"/>
            <a:ext cx="251366" cy="1738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/>
              <p:cNvSpPr/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194" y="3627128"/>
                <a:ext cx="372869" cy="401658"/>
              </a:xfrm>
              <a:prstGeom prst="ellipse">
                <a:avLst/>
              </a:prstGeom>
              <a:blipFill>
                <a:blip r:embed="rId12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1" idx="0"/>
            <a:endCxn id="30" idx="4"/>
          </p:cNvCxnSpPr>
          <p:nvPr/>
        </p:nvCxnSpPr>
        <p:spPr>
          <a:xfrm rot="16200000" flipV="1">
            <a:off x="9875581" y="4490834"/>
            <a:ext cx="925334" cy="1238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" idx="0"/>
            <a:endCxn id="16" idx="1"/>
          </p:cNvCxnSpPr>
          <p:nvPr/>
        </p:nvCxnSpPr>
        <p:spPr>
          <a:xfrm rot="5400000" flipH="1" flipV="1">
            <a:off x="6252457" y="3689173"/>
            <a:ext cx="1588805" cy="94109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30" idx="1"/>
            <a:endCxn id="16" idx="3"/>
          </p:cNvCxnSpPr>
          <p:nvPr/>
        </p:nvCxnSpPr>
        <p:spPr>
          <a:xfrm rot="16200000" flipV="1">
            <a:off x="8861261" y="2341410"/>
            <a:ext cx="320634" cy="2368443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82384" y="295611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val 41"/>
              <p:cNvSpPr/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286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030" y="3638853"/>
                <a:ext cx="372869" cy="401658"/>
              </a:xfrm>
              <a:prstGeom prst="ellipse">
                <a:avLst/>
              </a:prstGeom>
              <a:blipFill>
                <a:blip r:embed="rId13"/>
                <a:stretch>
                  <a:fillRect r="-12698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urved Connector 42"/>
          <p:cNvCxnSpPr>
            <a:stCxn id="12" idx="0"/>
            <a:endCxn id="42" idx="4"/>
          </p:cNvCxnSpPr>
          <p:nvPr/>
        </p:nvCxnSpPr>
        <p:spPr>
          <a:xfrm rot="5400000" flipH="1" flipV="1">
            <a:off x="10538509" y="4496164"/>
            <a:ext cx="913609" cy="2304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5" idx="0"/>
            <a:endCxn id="41" idx="1"/>
          </p:cNvCxnSpPr>
          <p:nvPr/>
        </p:nvCxnSpPr>
        <p:spPr>
          <a:xfrm rot="5400000" flipH="1" flipV="1">
            <a:off x="5808259" y="3279995"/>
            <a:ext cx="1873317" cy="1474934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42" idx="1"/>
            <a:endCxn id="41" idx="3"/>
          </p:cNvCxnSpPr>
          <p:nvPr/>
        </p:nvCxnSpPr>
        <p:spPr>
          <a:xfrm rot="16200000" flipV="1">
            <a:off x="9025051" y="1858089"/>
            <a:ext cx="616871" cy="3062299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500167" y="4139021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2" name="Curved Connector 51"/>
          <p:cNvCxnSpPr>
            <a:stCxn id="10" idx="0"/>
            <a:endCxn id="51" idx="1"/>
          </p:cNvCxnSpPr>
          <p:nvPr/>
        </p:nvCxnSpPr>
        <p:spPr>
          <a:xfrm rot="16200000" flipV="1">
            <a:off x="9213546" y="4550333"/>
            <a:ext cx="690408" cy="117166"/>
          </a:xfrm>
          <a:prstGeom prst="curvedConnector4">
            <a:avLst>
              <a:gd name="adj1" fmla="val 40970"/>
              <a:gd name="adj2" fmla="val 40925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2" idx="3"/>
            <a:endCxn id="51" idx="3"/>
          </p:cNvCxnSpPr>
          <p:nvPr/>
        </p:nvCxnSpPr>
        <p:spPr>
          <a:xfrm rot="5400000">
            <a:off x="10201366" y="3600443"/>
            <a:ext cx="282022" cy="104451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124171" y="370084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55" name="Curved Connector 54"/>
          <p:cNvCxnSpPr>
            <a:stCxn id="9" idx="0"/>
            <a:endCxn id="54" idx="1"/>
          </p:cNvCxnSpPr>
          <p:nvPr/>
        </p:nvCxnSpPr>
        <p:spPr>
          <a:xfrm rot="5400000" flipH="1" flipV="1">
            <a:off x="8413024" y="4242973"/>
            <a:ext cx="1128584" cy="293710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0" idx="2"/>
            <a:endCxn id="54" idx="3"/>
          </p:cNvCxnSpPr>
          <p:nvPr/>
        </p:nvCxnSpPr>
        <p:spPr>
          <a:xfrm rot="10800000">
            <a:off x="9444124" y="3825537"/>
            <a:ext cx="707071" cy="2421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917069" y="6233115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6189172" y="5868279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0" name="Curved Connector 69"/>
          <p:cNvCxnSpPr>
            <a:stCxn id="5" idx="2"/>
            <a:endCxn id="67" idx="1"/>
          </p:cNvCxnSpPr>
          <p:nvPr/>
        </p:nvCxnSpPr>
        <p:spPr>
          <a:xfrm rot="16200000" flipH="1">
            <a:off x="5763552" y="5567350"/>
            <a:ext cx="669518" cy="18172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" idx="2"/>
            <a:endCxn id="67" idx="0"/>
          </p:cNvCxnSpPr>
          <p:nvPr/>
        </p:nvCxnSpPr>
        <p:spPr>
          <a:xfrm rot="5400000">
            <a:off x="6190318" y="5482282"/>
            <a:ext cx="544827" cy="227166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8924047" y="6085740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79" name="Curved Connector 78"/>
          <p:cNvCxnSpPr>
            <a:stCxn id="9" idx="2"/>
            <a:endCxn id="78" idx="1"/>
          </p:cNvCxnSpPr>
          <p:nvPr/>
        </p:nvCxnSpPr>
        <p:spPr>
          <a:xfrm rot="16200000" flipH="1">
            <a:off x="8433765" y="5720148"/>
            <a:ext cx="886979" cy="93586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>
            <a:stCxn id="10" idx="2"/>
            <a:endCxn id="78" idx="0"/>
          </p:cNvCxnSpPr>
          <p:nvPr/>
        </p:nvCxnSpPr>
        <p:spPr>
          <a:xfrm rot="5400000">
            <a:off x="8969534" y="5437941"/>
            <a:ext cx="762288" cy="5333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8120639" y="6335122"/>
            <a:ext cx="319952" cy="24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cxnSp>
        <p:nvCxnSpPr>
          <p:cNvPr id="87" name="Curved Connector 86"/>
          <p:cNvCxnSpPr>
            <a:stCxn id="78" idx="2"/>
            <a:endCxn id="86" idx="3"/>
          </p:cNvCxnSpPr>
          <p:nvPr/>
        </p:nvCxnSpPr>
        <p:spPr>
          <a:xfrm rot="5400000">
            <a:off x="8699962" y="6075751"/>
            <a:ext cx="124691" cy="64343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67" idx="2"/>
            <a:endCxn id="66" idx="1"/>
          </p:cNvCxnSpPr>
          <p:nvPr/>
        </p:nvCxnSpPr>
        <p:spPr>
          <a:xfrm rot="16200000" flipH="1">
            <a:off x="6513036" y="5953772"/>
            <a:ext cx="240145" cy="567921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endCxn id="66" idx="0"/>
          </p:cNvCxnSpPr>
          <p:nvPr/>
        </p:nvCxnSpPr>
        <p:spPr>
          <a:xfrm rot="5400000">
            <a:off x="6710720" y="5689779"/>
            <a:ext cx="909661" cy="177010"/>
          </a:xfrm>
          <a:prstGeom prst="curvedConnector3">
            <a:avLst>
              <a:gd name="adj1" fmla="val 50000"/>
            </a:avLst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urved Connector 89"/>
          <p:cNvCxnSpPr>
            <a:stCxn id="8" idx="2"/>
            <a:endCxn id="86" idx="1"/>
          </p:cNvCxnSpPr>
          <p:nvPr/>
        </p:nvCxnSpPr>
        <p:spPr>
          <a:xfrm rot="16200000" flipH="1">
            <a:off x="7512603" y="5851776"/>
            <a:ext cx="1136361" cy="79712"/>
          </a:xfrm>
          <a:prstGeom prst="curvedConnector2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3734820"/>
                <a:ext cx="161634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75214" y="3318762"/>
            <a:ext cx="198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Uninterpreted</a:t>
            </a:r>
            <a:r>
              <a:rPr lang="en-US" dirty="0" smtClean="0"/>
              <a:t> Fun.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483468" y="3318762"/>
            <a:ext cx="2530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Linear Integer Arithmetic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03" y="4367648"/>
                <a:ext cx="942309" cy="646331"/>
              </a:xfrm>
              <a:prstGeom prst="rect">
                <a:avLst/>
              </a:prstGeom>
              <a:blipFill>
                <a:blip r:embed="rId15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i="1" dirty="0" smtClean="0">
                  <a:solidFill>
                    <a:schemeClr val="accent4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57" y="5192477"/>
                <a:ext cx="942309" cy="646331"/>
              </a:xfrm>
              <a:prstGeom prst="rect">
                <a:avLst/>
              </a:prstGeom>
              <a:blipFill>
                <a:blip r:embed="rId16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408" y="5007811"/>
                <a:ext cx="107273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/>
              <p:cNvSpPr txBox="1"/>
              <p:nvPr/>
            </p:nvSpPr>
            <p:spPr>
              <a:xfrm>
                <a:off x="528146" y="5778284"/>
                <a:ext cx="1122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46" y="5778284"/>
                <a:ext cx="112229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64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Soundness and Completeness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Soundness (when it says </a:t>
            </a:r>
            <a:r>
              <a:rPr lang="en-US" dirty="0" err="1" smtClean="0"/>
              <a:t>unsat</a:t>
            </a:r>
            <a:r>
              <a:rPr lang="en-US" dirty="0" smtClean="0"/>
              <a:t>, it is true)</a:t>
            </a:r>
          </a:p>
          <a:p>
            <a:pPr lvl="1"/>
            <a:r>
              <a:rPr lang="en-US" dirty="0" smtClean="0"/>
              <a:t>Yes assuming theory solvers don’t lie</a:t>
            </a:r>
          </a:p>
          <a:p>
            <a:endParaRPr lang="en-US" dirty="0"/>
          </a:p>
          <a:p>
            <a:r>
              <a:rPr lang="en-US" dirty="0" smtClean="0"/>
              <a:t>Completeness (will it always say </a:t>
            </a:r>
            <a:r>
              <a:rPr lang="en-US" dirty="0" err="1" smtClean="0"/>
              <a:t>unsat</a:t>
            </a:r>
            <a:r>
              <a:rPr lang="en-US" dirty="0"/>
              <a:t> </a:t>
            </a:r>
            <a:r>
              <a:rPr lang="en-US" dirty="0" smtClean="0"/>
              <a:t>when required?)</a:t>
            </a:r>
          </a:p>
          <a:p>
            <a:pPr lvl="1"/>
            <a:r>
              <a:rPr lang="en-US" dirty="0"/>
              <a:t>Yes under certain conditions</a:t>
            </a:r>
          </a:p>
          <a:p>
            <a:pPr lvl="1"/>
            <a:r>
              <a:rPr lang="en-US" dirty="0" smtClean="0"/>
              <a:t>Argument not as obvious</a:t>
            </a:r>
          </a:p>
        </p:txBody>
      </p:sp>
    </p:spTree>
    <p:extLst>
      <p:ext uri="{BB962C8B-B14F-4D97-AF65-F5344CB8AC3E}">
        <p14:creationId xmlns:p14="http://schemas.microsoft.com/office/powerpoint/2010/main" val="73775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Convex theories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Consider the formula:</a:t>
                </a:r>
                <a:r>
                  <a:rPr lang="en-US" b="0" dirty="0" smtClean="0"/>
                  <a:t/>
                </a:r>
                <a:br>
                  <a:rPr lang="en-US" b="0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lvl="1"/>
                <a:r>
                  <a:rPr lang="en-US" dirty="0" smtClean="0"/>
                  <a:t>No equalities to propagate</a:t>
                </a:r>
              </a:p>
              <a:p>
                <a:pPr lvl="1"/>
                <a:r>
                  <a:rPr lang="en-US" dirty="0" smtClean="0"/>
                  <a:t>The two </a:t>
                </a:r>
                <a:r>
                  <a:rPr lang="en-US" dirty="0" err="1" smtClean="0"/>
                  <a:t>subformulas</a:t>
                </a:r>
                <a:r>
                  <a:rPr lang="en-US" dirty="0" smtClean="0"/>
                  <a:t> are satisfiable</a:t>
                </a:r>
              </a:p>
              <a:p>
                <a:pPr lvl="1"/>
                <a:r>
                  <a:rPr lang="en-US" dirty="0" smtClean="0"/>
                  <a:t>Yet, the problem is clearly </a:t>
                </a:r>
                <a:r>
                  <a:rPr lang="en-US" dirty="0" err="1" smtClean="0"/>
                  <a:t>unsat</a:t>
                </a:r>
                <a:r>
                  <a:rPr lang="en-US" dirty="0" smtClean="0"/>
                  <a:t>!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  <a:blipFill rotWithShape="0">
                <a:blip r:embed="rId2"/>
                <a:stretch>
                  <a:fillRect t="-2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53767" y="3682946"/>
                <a:ext cx="107176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 smtClean="0"/>
                  <a:t>Theory E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67" y="3682946"/>
                <a:ext cx="1071768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5143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14654" y="3682946"/>
                <a:ext cx="17224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 smtClean="0"/>
                  <a:t>Theory R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4" y="3682946"/>
                <a:ext cx="1722459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3191" t="-3289"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17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Convex theories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 theory is convex if for every conjunctive formula F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⋁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𝑖𝑚𝑝𝑙𝑖𝑒𝑠</m:t>
                    </m:r>
                  </m:oMath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In the previous 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≤2⇒(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=1)∨(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>  </a:t>
                </a:r>
              </a:p>
              <a:p>
                <a:pPr lvl="1"/>
                <a:r>
                  <a:rPr lang="en-US" dirty="0" smtClean="0"/>
                  <a:t>It does not imply either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/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dirty="0"/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18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Nelson-</a:t>
            </a:r>
            <a:r>
              <a:rPr lang="en-US" dirty="0" err="1" smtClean="0"/>
              <a:t>Oppen</a:t>
            </a:r>
            <a:r>
              <a:rPr lang="en-US" dirty="0" smtClean="0"/>
              <a:t> is complete for Convex theories</a:t>
            </a:r>
          </a:p>
          <a:p>
            <a:r>
              <a:rPr lang="en-US" dirty="0" smtClean="0"/>
              <a:t>What to do for non-convex ones?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9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/>
                  <a:t>Consider the formula:</a:t>
                </a:r>
                <a:r>
                  <a:rPr lang="en-US" sz="2400" b="0" dirty="0" smtClean="0"/>
                  <a:t/>
                </a:r>
                <a:br>
                  <a:rPr lang="en-US" sz="2400" b="0" dirty="0" smtClean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dirty="0" smtClean="0"/>
                  <a:t/>
                </a:r>
                <a:br>
                  <a:rPr lang="en-US" sz="2400" b="0" dirty="0" smtClean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400" b="0" dirty="0" smtClean="0"/>
                  <a:t/>
                </a:r>
                <a:br>
                  <a:rPr lang="en-US" sz="2400" b="0" dirty="0" smtClean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b="0" dirty="0" smtClean="0"/>
                  <a:t/>
                </a:r>
                <a:br>
                  <a:rPr lang="en-US" sz="2400" b="0" dirty="0" smtClean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2400" dirty="0" smtClean="0"/>
              </a:p>
              <a:p>
                <a:endParaRPr lang="en-US" sz="2400" dirty="0" smtClean="0"/>
              </a:p>
              <a:p>
                <a:endParaRPr lang="en-US" sz="2400" dirty="0" smtClean="0"/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lvl="1"/>
                <a:r>
                  <a:rPr lang="en-US" sz="2000" dirty="0" smtClean="0"/>
                  <a:t>Formula from theory E implies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)∨(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 lvl="1"/>
                <a:r>
                  <a:rPr lang="en-US" sz="2000" dirty="0" smtClean="0"/>
                  <a:t>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 smtClean="0"/>
              </a:p>
              <a:p>
                <a:pPr lvl="1"/>
                <a:r>
                  <a:rPr lang="en-US" sz="2000" dirty="0"/>
                  <a:t>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 smtClean="0"/>
                  <a:t>Since both are </a:t>
                </a:r>
                <a:r>
                  <a:rPr lang="en-US" sz="2000" dirty="0" err="1" smtClean="0"/>
                  <a:t>unsat</a:t>
                </a:r>
                <a:r>
                  <a:rPr lang="en-US" sz="2000" dirty="0" smtClean="0"/>
                  <a:t>, we can say UNSAT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4"/>
                <a:ext cx="9761306" cy="5032375"/>
              </a:xfrm>
              <a:blipFill rotWithShape="0">
                <a:blip r:embed="rId2"/>
                <a:stretch>
                  <a:fillRect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53767" y="3682946"/>
                <a:ext cx="153240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 smtClean="0"/>
                  <a:t> in theory E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67" y="3682946"/>
                <a:ext cx="1532407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1195" t="-2058" r="-2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14654" y="3682946"/>
                <a:ext cx="174393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 smtClean="0"/>
                  <a:t> in theory R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4" y="3682946"/>
                <a:ext cx="1743939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1049" t="-3289"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54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issues</a:t>
            </a:r>
          </a:p>
          <a:p>
            <a:pPr lvl="1"/>
            <a:r>
              <a:rPr lang="en-US" dirty="0" smtClean="0"/>
              <a:t>How do we decide which disjunctive equalities to branch on?</a:t>
            </a:r>
          </a:p>
          <a:p>
            <a:pPr lvl="1"/>
            <a:r>
              <a:rPr lang="en-US" dirty="0" smtClean="0"/>
              <a:t>How to perform backtracking efficiently?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1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we have so far:</a:t>
            </a:r>
          </a:p>
          <a:p>
            <a:pPr lvl="1"/>
            <a:r>
              <a:rPr lang="en-US" dirty="0" smtClean="0"/>
              <a:t>Simple boolean structure + 1 theory </a:t>
            </a:r>
            <a:r>
              <a:rPr lang="en-US" sz="3200" dirty="0" smtClean="0"/>
              <a:t>✔</a:t>
            </a:r>
          </a:p>
          <a:p>
            <a:pPr lvl="1"/>
            <a:r>
              <a:rPr lang="en-US" dirty="0" smtClean="0"/>
              <a:t>Simple boolean structure + multiple theories </a:t>
            </a:r>
            <a:r>
              <a:rPr lang="en-US" sz="3200" dirty="0" smtClean="0">
                <a:solidFill>
                  <a:schemeClr val="accent3"/>
                </a:solidFill>
              </a:rPr>
              <a:t>✔</a:t>
            </a:r>
          </a:p>
          <a:p>
            <a:r>
              <a:rPr lang="en-US" dirty="0"/>
              <a:t>Today:</a:t>
            </a:r>
          </a:p>
          <a:p>
            <a:pPr lvl="1"/>
            <a:r>
              <a:rPr lang="en-US" dirty="0" smtClean="0"/>
              <a:t>Deal </a:t>
            </a:r>
            <a:r>
              <a:rPr lang="en-US" dirty="0"/>
              <a:t>with complex boolean structure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22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DPLL(T) Key idea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124222" y="2926080"/>
            <a:ext cx="2391508" cy="19413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SAT Solver Handles Boolean Structure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370320" y="2307102"/>
            <a:ext cx="3589606" cy="31792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/>
              <a:t>Theory Solver Handles Theories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005711" y="3108960"/>
            <a:ext cx="2307101" cy="70338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Theory Solver 1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005710" y="4391901"/>
            <a:ext cx="2307101" cy="70338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Theory Solver 2</a:t>
            </a:r>
            <a:endParaRPr lang="en-US" dirty="0"/>
          </a:p>
        </p:txBody>
      </p:sp>
      <p:cxnSp>
        <p:nvCxnSpPr>
          <p:cNvPr id="10" name="Curved Connector 9"/>
          <p:cNvCxnSpPr>
            <a:stCxn id="5" idx="3"/>
          </p:cNvCxnSpPr>
          <p:nvPr/>
        </p:nvCxnSpPr>
        <p:spPr>
          <a:xfrm flipV="1">
            <a:off x="4515730" y="3108960"/>
            <a:ext cx="1854590" cy="787791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1"/>
          </p:cNvCxnSpPr>
          <p:nvPr/>
        </p:nvCxnSpPr>
        <p:spPr>
          <a:xfrm rot="10800000" flipV="1">
            <a:off x="4515730" y="3896750"/>
            <a:ext cx="1854590" cy="675249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7" idx="2"/>
          </p:cNvCxnSpPr>
          <p:nvPr/>
        </p:nvCxnSpPr>
        <p:spPr>
          <a:xfrm rot="16200000" flipH="1">
            <a:off x="8113433" y="3858173"/>
            <a:ext cx="499621" cy="407963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16200000" flipV="1">
            <a:off x="7705947" y="3872937"/>
            <a:ext cx="550249" cy="487679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17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Abstraction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Given a formula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, a boolean abstraction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 smtClean="0"/>
                  <a:t> has the following property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𝑢𝑛𝑠𝑎𝑡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𝑢𝑛𝑠𝑎𝑡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9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Eager approach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Simple, sometimes efficient</a:t>
                </a:r>
              </a:p>
              <a:p>
                <a:pPr lvl="1"/>
                <a:r>
                  <a:rPr lang="en-US" dirty="0"/>
                  <a:t>Find a boolean abstraction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𝑢𝑛𝑠𝑎𝑡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𝑢𝑛𝑠𝑎𝑡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to a sat solver</a:t>
                </a:r>
              </a:p>
              <a:p>
                <a:pPr lvl="1"/>
                <a:r>
                  <a:rPr lang="en-US" dirty="0"/>
                  <a:t>DONE!</a:t>
                </a:r>
              </a:p>
              <a:p>
                <a:r>
                  <a:rPr lang="en-US" dirty="0" smtClean="0"/>
                  <a:t>Can’t really pull it off if you have an infinite theory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33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Lazy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 with a simple boolean abstraction</a:t>
            </a:r>
          </a:p>
          <a:p>
            <a:r>
              <a:rPr lang="en-US" dirty="0" smtClean="0"/>
              <a:t>Check solutions against theory solver</a:t>
            </a:r>
          </a:p>
          <a:p>
            <a:r>
              <a:rPr lang="en-US" dirty="0" smtClean="0"/>
              <a:t>If theory solver determines </a:t>
            </a:r>
            <a:r>
              <a:rPr lang="en-US" dirty="0" err="1" smtClean="0"/>
              <a:t>unsat</a:t>
            </a:r>
            <a:r>
              <a:rPr lang="en-US" dirty="0" smtClean="0"/>
              <a:t> improve your boolean abstraction</a:t>
            </a:r>
          </a:p>
          <a:p>
            <a:r>
              <a:rPr lang="en-US" dirty="0" smtClean="0"/>
              <a:t>Repeat until either theory solver agrees or boolean abstraction becomes </a:t>
            </a:r>
            <a:r>
              <a:rPr lang="en-US" dirty="0" err="1" smtClean="0"/>
              <a:t>unsat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288258" y="4889375"/>
            <a:ext cx="5514534" cy="1758461"/>
            <a:chOff x="2124222" y="2307102"/>
            <a:chExt cx="7835704" cy="3179298"/>
          </a:xfrm>
        </p:grpSpPr>
        <p:sp>
          <p:nvSpPr>
            <p:cNvPr id="4" name="Rounded Rectangle 3"/>
            <p:cNvSpPr/>
            <p:nvPr/>
          </p:nvSpPr>
          <p:spPr>
            <a:xfrm>
              <a:off x="2124222" y="2926080"/>
              <a:ext cx="2391508" cy="19413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SAT Solver Handles Boolean Structure</a:t>
              </a:r>
              <a:endParaRPr lang="en-US" sz="1200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370320" y="2307102"/>
              <a:ext cx="3589606" cy="317929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 smtClean="0"/>
                <a:t>Theory Solver Handles Theories</a:t>
              </a:r>
              <a:endParaRPr lang="en-US" sz="1200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005711" y="3108960"/>
              <a:ext cx="2307101" cy="703385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Theory Solver 1</a:t>
              </a:r>
              <a:endParaRPr lang="en-US" sz="1200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005710" y="4391901"/>
              <a:ext cx="2307101" cy="703385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Theory Solver 2</a:t>
              </a:r>
              <a:endParaRPr lang="en-US" sz="1200" dirty="0"/>
            </a:p>
          </p:txBody>
        </p:sp>
        <p:cxnSp>
          <p:nvCxnSpPr>
            <p:cNvPr id="8" name="Curved Connector 7"/>
            <p:cNvCxnSpPr>
              <a:stCxn id="4" idx="3"/>
            </p:cNvCxnSpPr>
            <p:nvPr/>
          </p:nvCxnSpPr>
          <p:spPr>
            <a:xfrm flipV="1">
              <a:off x="4515730" y="3108960"/>
              <a:ext cx="1854590" cy="787791"/>
            </a:xfrm>
            <a:prstGeom prst="curvedConnector3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urved Connector 8"/>
            <p:cNvCxnSpPr>
              <a:stCxn id="5" idx="1"/>
            </p:cNvCxnSpPr>
            <p:nvPr/>
          </p:nvCxnSpPr>
          <p:spPr>
            <a:xfrm rot="10800000" flipV="1">
              <a:off x="4515730" y="3896750"/>
              <a:ext cx="1854590" cy="675249"/>
            </a:xfrm>
            <a:prstGeom prst="curvedConnector3">
              <a:avLst>
                <a:gd name="adj1" fmla="val 50000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urved Connector 9"/>
            <p:cNvCxnSpPr>
              <a:stCxn id="6" idx="2"/>
            </p:cNvCxnSpPr>
            <p:nvPr/>
          </p:nvCxnSpPr>
          <p:spPr>
            <a:xfrm rot="16200000" flipH="1">
              <a:off x="8113433" y="3858173"/>
              <a:ext cx="499621" cy="407963"/>
            </a:xfrm>
            <a:prstGeom prst="curved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Curved Connector 10"/>
            <p:cNvCxnSpPr/>
            <p:nvPr/>
          </p:nvCxnSpPr>
          <p:spPr>
            <a:xfrm rot="16200000" flipV="1">
              <a:off x="7705947" y="3872937"/>
              <a:ext cx="550249" cy="487679"/>
            </a:xfrm>
            <a:prstGeom prst="curved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294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 boolean structure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Example: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Equivalent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𝑢𝑛𝑠𝑎𝑡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(¬(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≤0) )</m:t>
                    </m:r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39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Completeness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be a formula 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(defined by axioms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 a formula in theory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(defined by axioms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r>
                  <a:rPr lang="en-US" dirty="0" smtClean="0"/>
                  <a:t>Suppose that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is satisfiable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satisfiable 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𝑖𝑓𝑓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This means that they have shared all the equalities they could share</a:t>
                </a:r>
              </a:p>
              <a:p>
                <a:r>
                  <a:rPr lang="en-US" dirty="0" smtClean="0"/>
                  <a:t>Can we show that this implies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is sat?</a:t>
                </a: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99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Argument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be the universe of 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(</a:t>
                </a:r>
                <a:r>
                  <a:rPr lang="en-US" dirty="0" err="1" smtClean="0"/>
                  <a:t>resp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be a satisfying assignment to </a:t>
                </a:r>
                <a:r>
                  <a:rPr lang="en-US" dirty="0" err="1" smtClean="0"/>
                  <a:t>vars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wrt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(</a:t>
                </a:r>
                <a:r>
                  <a:rPr lang="en-US" dirty="0" err="1" smtClean="0"/>
                  <a:t>resp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 smtClean="0"/>
              </a:p>
              <a:p>
                <a:r>
                  <a:rPr lang="en-US" dirty="0" smtClean="0"/>
                  <a:t>If both theories return sat, we know we can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Can we find some that satisfy 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508" y="190894"/>
            <a:ext cx="4054716" cy="18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48753</TotalTime>
  <Words>1068</Words>
  <Application>Microsoft Office PowerPoint</Application>
  <PresentationFormat>Widescreen</PresentationFormat>
  <Paragraphs>476</Paragraphs>
  <Slides>43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Berlin Sans FB</vt:lpstr>
      <vt:lpstr>Calibri</vt:lpstr>
      <vt:lpstr>Cambria Math</vt:lpstr>
      <vt:lpstr>office theme</vt:lpstr>
      <vt:lpstr>Lecture 14 SMT and Theorem Proving</vt:lpstr>
      <vt:lpstr>What is a theory</vt:lpstr>
      <vt:lpstr>Candidate Logic</vt:lpstr>
      <vt:lpstr>Candidate Logic</vt:lpstr>
      <vt:lpstr>Meaning of a formula</vt:lpstr>
      <vt:lpstr>A simple prove procedure</vt:lpstr>
      <vt:lpstr>A simple algorithm</vt:lpstr>
      <vt:lpstr>Theorem prover for literals</vt:lpstr>
      <vt:lpstr>Example: Linear Inequalities</vt:lpstr>
      <vt:lpstr>Linear Inequalities</vt:lpstr>
      <vt:lpstr>Linear Inequalities</vt:lpstr>
      <vt:lpstr>Linear Inequalities</vt:lpstr>
      <vt:lpstr>Linear Inequalities</vt:lpstr>
      <vt:lpstr>Is this enough to check VCs?</vt:lpstr>
      <vt:lpstr>Is this enough to check VCs?</vt:lpstr>
      <vt:lpstr>Equality with uninterpreted functions</vt:lpstr>
      <vt:lpstr>Equality with UF</vt:lpstr>
      <vt:lpstr>Equality with UF</vt:lpstr>
      <vt:lpstr>Equality with UF</vt:lpstr>
      <vt:lpstr>Equality with UF</vt:lpstr>
      <vt:lpstr>Equality with UF</vt:lpstr>
      <vt:lpstr>Equality with UF</vt:lpstr>
      <vt:lpstr>Nelson-Oppen</vt:lpstr>
      <vt:lpstr>Purification</vt:lpstr>
      <vt:lpstr>Example</vt:lpstr>
      <vt:lpstr>Equality Propagation</vt:lpstr>
      <vt:lpstr>Equality Propagation</vt:lpstr>
      <vt:lpstr>Equality Propagation</vt:lpstr>
      <vt:lpstr>Equality Propagation</vt:lpstr>
      <vt:lpstr>Soundness and Completeness</vt:lpstr>
      <vt:lpstr>Convex theories</vt:lpstr>
      <vt:lpstr>Convex theories</vt:lpstr>
      <vt:lpstr>Completeness</vt:lpstr>
      <vt:lpstr>Backtracking</vt:lpstr>
      <vt:lpstr>Backtracking</vt:lpstr>
      <vt:lpstr>Recap</vt:lpstr>
      <vt:lpstr>DPLL(T) Key idea</vt:lpstr>
      <vt:lpstr>Boolean Abstraction</vt:lpstr>
      <vt:lpstr>Eager approach</vt:lpstr>
      <vt:lpstr>Lazy approach</vt:lpstr>
      <vt:lpstr>Complex boolean structure</vt:lpstr>
      <vt:lpstr>Completeness</vt:lpstr>
      <vt:lpstr>Argument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793</cp:revision>
  <cp:lastPrinted>2015-02-26T04:09:31Z</cp:lastPrinted>
  <dcterms:created xsi:type="dcterms:W3CDTF">2014-09-23T19:26:18Z</dcterms:created>
  <dcterms:modified xsi:type="dcterms:W3CDTF">2018-10-10T22:57:38Z</dcterms:modified>
</cp:coreProperties>
</file>