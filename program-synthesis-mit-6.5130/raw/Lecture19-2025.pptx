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336" r:id="rId2"/>
    <p:sldId id="378" r:id="rId3"/>
    <p:sldId id="395" r:id="rId4"/>
    <p:sldId id="396" r:id="rId5"/>
    <p:sldId id="394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389" r:id="rId17"/>
    <p:sldId id="390" r:id="rId18"/>
    <p:sldId id="391" r:id="rId19"/>
    <p:sldId id="392" r:id="rId20"/>
    <p:sldId id="393" r:id="rId2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F0B"/>
    <a:srgbClr val="CA703B"/>
    <a:srgbClr val="CFE5C9"/>
    <a:srgbClr val="9AC890"/>
    <a:srgbClr val="C7CEFF"/>
    <a:srgbClr val="7F8AFF"/>
    <a:srgbClr val="FFFFFF"/>
    <a:srgbClr val="000000"/>
    <a:srgbClr val="FF77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106E63-811B-4CF6-8E5D-339BCBDE29F3}" v="79" dt="2026-03-10T00:14:54.1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3" autoAdjust="0"/>
    <p:restoredTop sz="84761" autoAdjust="0"/>
  </p:normalViewPr>
  <p:slideViewPr>
    <p:cSldViewPr snapToGrid="0">
      <p:cViewPr varScale="1">
        <p:scale>
          <a:sx n="78" d="100"/>
          <a:sy n="78" d="100"/>
        </p:scale>
        <p:origin x="729" y="2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do Solar-Lezama" userId="e82942028eae7d90" providerId="LiveId" clId="{7045F0CB-D5AF-40A1-87D3-1AA82FA5AFA3}"/>
    <pc:docChg chg="custSel addSld delSld modSld sldOrd">
      <pc:chgData name="Armando Solar-Lezama" userId="e82942028eae7d90" providerId="LiveId" clId="{7045F0CB-D5AF-40A1-87D3-1AA82FA5AFA3}" dt="2026-03-10T00:14:54.102" v="426" actId="20577"/>
      <pc:docMkLst>
        <pc:docMk/>
      </pc:docMkLst>
      <pc:sldChg chg="addSp delSp modSp new mod">
        <pc:chgData name="Armando Solar-Lezama" userId="e82942028eae7d90" providerId="LiveId" clId="{7045F0CB-D5AF-40A1-87D3-1AA82FA5AFA3}" dt="2026-03-10T00:10:47.758" v="229" actId="20577"/>
        <pc:sldMkLst>
          <pc:docMk/>
          <pc:sldMk cId="1452711778" sldId="394"/>
        </pc:sldMkLst>
        <pc:spChg chg="mod">
          <ac:chgData name="Armando Solar-Lezama" userId="e82942028eae7d90" providerId="LiveId" clId="{7045F0CB-D5AF-40A1-87D3-1AA82FA5AFA3}" dt="2026-03-09T23:52:35.714" v="67" actId="20577"/>
          <ac:spMkLst>
            <pc:docMk/>
            <pc:sldMk cId="1452711778" sldId="394"/>
            <ac:spMk id="2" creationId="{60969D50-EC8B-C925-870B-3886C40F834B}"/>
          </ac:spMkLst>
        </pc:spChg>
        <pc:spChg chg="del">
          <ac:chgData name="Armando Solar-Lezama" userId="e82942028eae7d90" providerId="LiveId" clId="{7045F0CB-D5AF-40A1-87D3-1AA82FA5AFA3}" dt="2026-03-09T23:52:38.328" v="68" actId="478"/>
          <ac:spMkLst>
            <pc:docMk/>
            <pc:sldMk cId="1452711778" sldId="394"/>
            <ac:spMk id="3" creationId="{9851030F-74D1-1DC5-BD88-42227229698E}"/>
          </ac:spMkLst>
        </pc:spChg>
        <pc:spChg chg="add mod">
          <ac:chgData name="Armando Solar-Lezama" userId="e82942028eae7d90" providerId="LiveId" clId="{7045F0CB-D5AF-40A1-87D3-1AA82FA5AFA3}" dt="2026-03-09T23:52:38.874" v="69"/>
          <ac:spMkLst>
            <pc:docMk/>
            <pc:sldMk cId="1452711778" sldId="394"/>
            <ac:spMk id="4" creationId="{23861ADC-3DAE-E22A-5E11-3804ED7641A9}"/>
          </ac:spMkLst>
        </pc:spChg>
        <pc:spChg chg="add mod">
          <ac:chgData name="Armando Solar-Lezama" userId="e82942028eae7d90" providerId="LiveId" clId="{7045F0CB-D5AF-40A1-87D3-1AA82FA5AFA3}" dt="2026-03-10T00:10:47.758" v="229" actId="20577"/>
          <ac:spMkLst>
            <pc:docMk/>
            <pc:sldMk cId="1452711778" sldId="394"/>
            <ac:spMk id="7" creationId="{B789A5B1-BC29-D061-373E-D7C953742812}"/>
          </ac:spMkLst>
        </pc:spChg>
        <pc:spChg chg="add mod ord">
          <ac:chgData name="Armando Solar-Lezama" userId="e82942028eae7d90" providerId="LiveId" clId="{7045F0CB-D5AF-40A1-87D3-1AA82FA5AFA3}" dt="2026-03-09T23:59:34.283" v="177" actId="14100"/>
          <ac:spMkLst>
            <pc:docMk/>
            <pc:sldMk cId="1452711778" sldId="394"/>
            <ac:spMk id="8" creationId="{34ACD9CC-B6D0-5A89-E3C5-91351302DBCE}"/>
          </ac:spMkLst>
        </pc:spChg>
        <pc:picChg chg="add mod">
          <ac:chgData name="Armando Solar-Lezama" userId="e82942028eae7d90" providerId="LiveId" clId="{7045F0CB-D5AF-40A1-87D3-1AA82FA5AFA3}" dt="2026-03-09T23:59:27.711" v="176" actId="1036"/>
          <ac:picMkLst>
            <pc:docMk/>
            <pc:sldMk cId="1452711778" sldId="394"/>
            <ac:picMk id="5" creationId="{1C066428-DF21-C62A-F4F5-B5DE30E8786E}"/>
          </ac:picMkLst>
        </pc:picChg>
      </pc:sldChg>
      <pc:sldChg chg="modSp add mod ord">
        <pc:chgData name="Armando Solar-Lezama" userId="e82942028eae7d90" providerId="LiveId" clId="{7045F0CB-D5AF-40A1-87D3-1AA82FA5AFA3}" dt="2026-03-10T00:14:54.102" v="426" actId="20577"/>
        <pc:sldMkLst>
          <pc:docMk/>
          <pc:sldMk cId="3729950660" sldId="395"/>
        </pc:sldMkLst>
        <pc:spChg chg="mod">
          <ac:chgData name="Armando Solar-Lezama" userId="e82942028eae7d90" providerId="LiveId" clId="{7045F0CB-D5AF-40A1-87D3-1AA82FA5AFA3}" dt="2026-03-10T00:14:54.102" v="426" actId="20577"/>
          <ac:spMkLst>
            <pc:docMk/>
            <pc:sldMk cId="3729950660" sldId="395"/>
            <ac:spMk id="7" creationId="{3AE2CA95-7578-5375-0C46-8F1DB1112105}"/>
          </ac:spMkLst>
        </pc:spChg>
      </pc:sldChg>
      <pc:sldChg chg="add">
        <pc:chgData name="Armando Solar-Lezama" userId="e82942028eae7d90" providerId="LiveId" clId="{7045F0CB-D5AF-40A1-87D3-1AA82FA5AFA3}" dt="2026-03-10T00:14:24.473" v="391" actId="2890"/>
        <pc:sldMkLst>
          <pc:docMk/>
          <pc:sldMk cId="2467599955" sldId="3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0CA21C-B112-4BD8-B9E9-462888A5211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A80BC8A-3D2D-4399-A152-F8F7638B0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4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out the verification condition in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3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/*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sketch is designed to find an invariant for the following problem:</a:t>
            </a:r>
          </a:p>
          <a:p>
            <a:endParaRPr lang="en-US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{y=y_0, k=k_0, t=y_0-k_0}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while(t&gt;0){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y = y-1;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t = t-1;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 y &lt;= k_0;</a:t>
            </a:r>
          </a:p>
          <a:p>
            <a:endParaRPr lang="en-US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*/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 "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generators.skh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";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pragma options "--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bnd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-inline-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amnt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3";</a:t>
            </a:r>
          </a:p>
          <a:p>
            <a:endParaRPr lang="en-US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bit </a:t>
            </a:r>
            <a:r>
              <a:rPr lang="fr-F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</a:t>
            </a:r>
            <a:r>
              <a:rPr lang="fr-F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fr-F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y, </a:t>
            </a:r>
            <a:r>
              <a:rPr lang="fr-F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fr-F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y_0, </a:t>
            </a:r>
            <a:r>
              <a:rPr lang="fr-F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fr-F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k, </a:t>
            </a:r>
            <a:r>
              <a:rPr lang="fr-F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fr-F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k_0, </a:t>
            </a:r>
            <a:r>
              <a:rPr lang="fr-F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fr-F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t){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 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exprBool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({y, y_0, k, k_0, t}, {PLUS}); 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en-US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harness void main(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y, 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y_0, 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k, 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k_0, 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t,</a:t>
            </a:r>
          </a:p>
          <a:p>
            <a:r>
              <a:rPr lang="sv-S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      int yp, int tp, int ypp, int tpp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){</a:t>
            </a:r>
          </a:p>
          <a:p>
            <a:r>
              <a:rPr lang="es-E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r>
              <a:rPr lang="es-E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</a:t>
            </a:r>
            <a:r>
              <a:rPr lang="es-E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(y==y_0 &amp;&amp; k==k_0 &amp;&amp; t==y_0-k_0){</a:t>
            </a:r>
          </a:p>
          <a:p>
            <a:r>
              <a:rPr lang="fr-F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fr-F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assert</a:t>
            </a:r>
            <a:r>
              <a:rPr lang="fr-F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</a:t>
            </a:r>
            <a:r>
              <a:rPr lang="fr-FR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(y, y_0, k, k_0, t);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if(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yp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y_0, k, k_0, 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tp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&amp;&amp; 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tp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&gt;0){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assert 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(yp-1, y_0, k, k_0, tp-1);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}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if(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ypp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y_0, k, k_0, 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tpp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&amp;&amp; 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tpp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&lt;=0){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assert </a:t>
            </a:r>
            <a:r>
              <a:rPr lang="en-US" sz="1200" b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ypp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&lt;= k_0;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}</a:t>
            </a: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}</a:t>
            </a:r>
          </a:p>
          <a:p>
            <a:endParaRPr lang="en-US" sz="1200" b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2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week we’ll have a lecture on how SMT solvers work.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38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4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8604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6869903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4351338"/>
          </a:xfrm>
        </p:spPr>
        <p:txBody>
          <a:bodyPr/>
          <a:lstStyle>
            <a:lvl1pPr>
              <a:buClr>
                <a:schemeClr val="bg1"/>
              </a:buClr>
              <a:buSzPct val="25000"/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7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0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B1FC-33B3-4A41-B046-2D6AAAB3391B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410.png"/><Relationship Id="rId4" Type="http://schemas.openxmlformats.org/officeDocument/2006/relationships/image" Target="../media/image3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 19</a:t>
            </a:r>
            <a:br>
              <a:rPr lang="en-US" dirty="0"/>
            </a:br>
            <a:r>
              <a:rPr lang="en-US" dirty="0"/>
              <a:t>Constraint based verification meets synthesis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1587826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Armando Solar-Lezama</a:t>
            </a:r>
            <a:b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1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51874" y="1454046"/>
                <a:ext cx="11047751" cy="5036695"/>
              </a:xfrm>
            </p:spPr>
            <p:txBody>
              <a:bodyPr>
                <a:noAutofit/>
              </a:bodyPr>
              <a:lstStyle/>
              <a:p>
                <a:r>
                  <a:rPr lang="en-US" sz="3200" dirty="0"/>
                  <a:t>Given a definition of VC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𝑠𝑘𝑖𝑝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𝑖𝑓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𝑡h𝑒𝑛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𝑒𝑙𝑠𝑒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2, 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𝑉𝐶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(¬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2 ,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𝑉𝐶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𝑤h𝑖𝑙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𝐼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𝑒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𝑑𝑜</m:t>
                        </m:r>
                        <m:r>
                          <a:rPr lang="en-US" i="1"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𝑐</m:t>
                        </m:r>
                        <m:r>
                          <a:rPr lang="en-US" i="1">
                            <a:latin typeface="Cambria Math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𝐼</m:t>
                      </m:r>
                      <m:r>
                        <a:rPr lang="en-US" i="1">
                          <a:latin typeface="Cambria Math"/>
                        </a:rPr>
                        <m:t>∧  ∀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, …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𝐼</m:t>
                      </m:r>
                      <m:r>
                        <a:rPr lang="en-US" i="1">
                          <a:latin typeface="Cambria Math"/>
                        </a:rPr>
                        <m:t>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  <m:r>
                            <a:rPr lang="en-US" i="1">
                              <a:latin typeface="Cambria Math"/>
                            </a:rPr>
                            <m:t>⇒</m:t>
                          </m:r>
                          <m:r>
                            <a:rPr lang="en-US" i="1">
                              <a:latin typeface="Cambria Math"/>
                            </a:rPr>
                            <m:t>𝑉𝐶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𝐼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∧¬</m:t>
                          </m:r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  <m:r>
                            <a:rPr lang="en-US" i="1">
                              <a:latin typeface="Cambria Math"/>
                            </a:rPr>
                            <m:t>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2"/>
                <a:r>
                  <a:rPr lang="en-US" sz="1800" dirty="0"/>
                  <a:t>Where </a:t>
                </a:r>
                <a:r>
                  <a:rPr lang="en-US" sz="1800" dirty="0" err="1"/>
                  <a:t>x_i</a:t>
                </a:r>
                <a:r>
                  <a:rPr lang="en-US" sz="1800" dirty="0"/>
                  <a:t> are variables modified in c.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𝑎𝑠𝑠𝑒𝑟𝑡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𝑎𝑠𝑠𝑢𝑚𝑒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𝑉𝐶</m:t>
                        </m:r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{"/>
                        <m:endChr m:val="}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320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𝑉𝐶</m:t>
                        </m:r>
                        <m:d>
                          <m:d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/>
                  <a:t> is equivalent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𝑉𝐶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𝑎𝑠𝑠𝑢𝑚𝑒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𝑎𝑠𝑠𝑒𝑟𝑡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51874" y="1454046"/>
                <a:ext cx="11047751" cy="5036695"/>
              </a:xfrm>
              <a:blipFill>
                <a:blip r:embed="rId2"/>
                <a:stretch>
                  <a:fillRect t="-2542" b="-4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193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050A6-70D5-F407-D66E-0807F7BA3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A28B011-708B-B0D1-AF4E-63FF952125A0}"/>
              </a:ext>
            </a:extLst>
          </p:cNvPr>
          <p:cNvSpPr/>
          <p:nvPr/>
        </p:nvSpPr>
        <p:spPr>
          <a:xfrm>
            <a:off x="5854615" y="29189"/>
            <a:ext cx="6282685" cy="31804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806014-2B5C-3C5B-BEB0-8B5681AF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 Generation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94544D-9FC0-5962-2AE5-99DD6A309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792" y="39470"/>
            <a:ext cx="6241130" cy="30344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E2CA95-7578-5375-0C46-8F1DB1112105}"/>
                  </a:ext>
                </a:extLst>
              </p:cNvPr>
              <p:cNvSpPr txBox="1"/>
              <p:nvPr/>
            </p:nvSpPr>
            <p:spPr>
              <a:xfrm>
                <a:off x="83359" y="1466570"/>
                <a:ext cx="6012641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If(a &gt;= b)</a:t>
                </a:r>
              </a:p>
              <a:p>
                <a:r>
                  <a:rPr lang="en-US" sz="2000" dirty="0"/>
                  <a:t>    m = a</a:t>
                </a:r>
              </a:p>
              <a:p>
                <a:r>
                  <a:rPr lang="en-US" sz="2000" dirty="0"/>
                  <a:t>else</a:t>
                </a:r>
              </a:p>
              <a:p>
                <a:r>
                  <a:rPr lang="en-US" sz="2000" dirty="0"/>
                  <a:t>     m = b</a:t>
                </a:r>
              </a:p>
              <a:p>
                <a:r>
                  <a:rPr lang="en-US" sz="2000" dirty="0"/>
                  <a:t>assert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E2CA95-7578-5375-0C46-8F1DB11121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9" y="1466570"/>
                <a:ext cx="6012641" cy="1631216"/>
              </a:xfrm>
              <a:prstGeom prst="rect">
                <a:avLst/>
              </a:prstGeom>
              <a:blipFill>
                <a:blip r:embed="rId3"/>
                <a:stretch>
                  <a:fillRect l="-1116" t="-2247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9950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5D8C8-6E32-9900-5908-8777C0958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0346CCF-967C-4B65-38C1-F72E7C20399E}"/>
              </a:ext>
            </a:extLst>
          </p:cNvPr>
          <p:cNvSpPr/>
          <p:nvPr/>
        </p:nvSpPr>
        <p:spPr>
          <a:xfrm>
            <a:off x="5854615" y="29189"/>
            <a:ext cx="6282685" cy="31804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15935-0945-3AED-4034-A7BBE739B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 Generation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18B64-0572-A060-E027-9179CDC04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792" y="39470"/>
            <a:ext cx="6241130" cy="30344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F39DA3-F33B-B858-09D5-4442083C10E6}"/>
              </a:ext>
            </a:extLst>
          </p:cNvPr>
          <p:cNvSpPr txBox="1"/>
          <p:nvPr/>
        </p:nvSpPr>
        <p:spPr>
          <a:xfrm>
            <a:off x="83359" y="1466570"/>
            <a:ext cx="60126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If(a &gt;= b)</a:t>
            </a:r>
          </a:p>
          <a:p>
            <a:r>
              <a:rPr lang="en-US" sz="2000" dirty="0"/>
              <a:t>    m = a</a:t>
            </a:r>
          </a:p>
          <a:p>
            <a:r>
              <a:rPr lang="en-US" sz="2000" dirty="0"/>
              <a:t>else</a:t>
            </a:r>
          </a:p>
          <a:p>
            <a:r>
              <a:rPr lang="en-US" sz="2000" dirty="0"/>
              <a:t>     m = b</a:t>
            </a:r>
          </a:p>
          <a:p>
            <a:r>
              <a:rPr lang="en-US" sz="2000" dirty="0"/>
              <a:t>x = 2*m – a;</a:t>
            </a:r>
          </a:p>
          <a:p>
            <a:r>
              <a:rPr lang="en-US" sz="2000" dirty="0"/>
              <a:t>x = x – b;</a:t>
            </a:r>
          </a:p>
          <a:p>
            <a:r>
              <a:rPr lang="en-US" sz="2000" dirty="0"/>
              <a:t>assert x &gt; 0</a:t>
            </a:r>
          </a:p>
        </p:txBody>
      </p:sp>
    </p:spTree>
    <p:extLst>
      <p:ext uri="{BB962C8B-B14F-4D97-AF65-F5344CB8AC3E}">
        <p14:creationId xmlns:p14="http://schemas.microsoft.com/office/powerpoint/2010/main" val="2467599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ACD9CC-B6D0-5A89-E3C5-91351302DBCE}"/>
              </a:ext>
            </a:extLst>
          </p:cNvPr>
          <p:cNvSpPr/>
          <p:nvPr/>
        </p:nvSpPr>
        <p:spPr>
          <a:xfrm>
            <a:off x="5854615" y="29189"/>
            <a:ext cx="6282685" cy="31804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969D50-EC8B-C925-870B-3886C40F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 Generation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066428-DF21-C62A-F4F5-B5DE30E87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792" y="39470"/>
            <a:ext cx="6241130" cy="30344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89A5B1-BC29-D061-373E-D7C953742812}"/>
                  </a:ext>
                </a:extLst>
              </p:cNvPr>
              <p:cNvSpPr txBox="1"/>
              <p:nvPr/>
            </p:nvSpPr>
            <p:spPr>
              <a:xfrm>
                <a:off x="54700" y="1245467"/>
                <a:ext cx="6012641" cy="2695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assume n &gt; 0</a:t>
                </a:r>
              </a:p>
              <a:p>
                <a:r>
                  <a:rPr lang="en-US" sz="2000" dirty="0" err="1"/>
                  <a:t>i</a:t>
                </a:r>
                <a:r>
                  <a:rPr lang="en-US" sz="2000" dirty="0"/>
                  <a:t> := 0;</a:t>
                </a:r>
              </a:p>
              <a:p>
                <a:r>
                  <a:rPr lang="en-US" sz="2000" dirty="0"/>
                  <a:t>s := 0;</a:t>
                </a:r>
              </a:p>
              <a:p>
                <a:r>
                  <a:rPr lang="en-US" sz="2000" dirty="0"/>
                  <a:t>while 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&lt; n do (Inv: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∗(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∧0≤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) </a:t>
                </a:r>
              </a:p>
              <a:p>
                <a:r>
                  <a:rPr lang="en-US" sz="2000" dirty="0"/>
                  <a:t>    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:= 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+ 1;</a:t>
                </a:r>
              </a:p>
              <a:p>
                <a:r>
                  <a:rPr lang="en-US" sz="2000" dirty="0"/>
                  <a:t>    s := s + </a:t>
                </a:r>
                <a:r>
                  <a:rPr lang="en-US" sz="2000" dirty="0" err="1"/>
                  <a:t>i</a:t>
                </a:r>
                <a:r>
                  <a:rPr lang="en-US" sz="2000" dirty="0"/>
                  <a:t>;</a:t>
                </a:r>
              </a:p>
              <a:p>
                <a:r>
                  <a:rPr lang="en-US" sz="2000" dirty="0"/>
                  <a:t>end</a:t>
                </a:r>
              </a:p>
              <a:p>
                <a:r>
                  <a:rPr lang="en-US" sz="2000" dirty="0"/>
                  <a:t>assert s = n*(n-1)/2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89A5B1-BC29-D061-373E-D7C953742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00" y="1245467"/>
                <a:ext cx="6012641" cy="2695738"/>
              </a:xfrm>
              <a:prstGeom prst="rect">
                <a:avLst/>
              </a:prstGeom>
              <a:blipFill>
                <a:blip r:embed="rId3"/>
                <a:stretch>
                  <a:fillRect l="-1116" t="-1129" b="-2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2711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Synthesizing invariants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program with pre/post conditions, the only obstacle to making verification automatic is finding the invariants</a:t>
            </a:r>
          </a:p>
          <a:p>
            <a:pPr lvl="1"/>
            <a:r>
              <a:rPr lang="en-US" dirty="0"/>
              <a:t>(and checking the resulting formula if it happens </a:t>
            </a:r>
            <a:br>
              <a:rPr lang="en-US" dirty="0"/>
            </a:br>
            <a:r>
              <a:rPr lang="en-US" dirty="0"/>
              <a:t>to be in a complicated logic)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783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33700" y="2159001"/>
            <a:ext cx="6223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{y=y_0, k=k_0, t=y_0-k_0}</a:t>
            </a:r>
          </a:p>
          <a:p>
            <a:r>
              <a:rPr lang="en-US" dirty="0"/>
              <a:t>while(t&gt;0){</a:t>
            </a:r>
          </a:p>
          <a:p>
            <a:r>
              <a:rPr lang="en-US" dirty="0"/>
              <a:t>           y = y-1;</a:t>
            </a:r>
          </a:p>
          <a:p>
            <a:r>
              <a:rPr lang="en-US" dirty="0"/>
              <a:t>           t = t-1;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Assert y &lt;= k_0;</a:t>
            </a:r>
          </a:p>
        </p:txBody>
      </p:sp>
    </p:spTree>
    <p:extLst>
      <p:ext uri="{BB962C8B-B14F-4D97-AF65-F5344CB8AC3E}">
        <p14:creationId xmlns:p14="http://schemas.microsoft.com/office/powerpoint/2010/main" val="1413741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 as a sketch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9531" y="2951449"/>
            <a:ext cx="954058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harness void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y,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y_0,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k,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k_0, </a:t>
            </a:r>
            <a:r>
              <a:rPr lang="en-US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t,</a:t>
            </a:r>
          </a:p>
          <a:p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</a:t>
            </a:r>
            <a:r>
              <a:rPr lang="sv-SE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yp, </a:t>
            </a:r>
            <a:r>
              <a:rPr lang="sv-SE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tp, </a:t>
            </a:r>
            <a:r>
              <a:rPr lang="sv-SE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ypp, </a:t>
            </a:r>
            <a:r>
              <a:rPr lang="sv-SE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tpp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){</a:t>
            </a:r>
          </a:p>
          <a:p>
            <a:r>
              <a:rPr lang="es-E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s-ES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(y==y_0 &amp;&amp; k==k_0 &amp;&amp; t==y_0-k_0){</a:t>
            </a:r>
          </a:p>
          <a:p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(y, y_0, k, k_0, t);</a:t>
            </a:r>
          </a:p>
          <a:p>
            <a:pPr lvl="1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y_0, k, k_0,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&amp;&amp;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&gt;0){</a:t>
            </a:r>
          </a:p>
          <a:p>
            <a:pPr lvl="1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assert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(yp-1, y_0, k, k_0, tp-1);</a:t>
            </a:r>
          </a:p>
          <a:p>
            <a:pPr lvl="1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lvl="1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y_0, k, k_0,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tpp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&amp;&amp;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tpp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&lt;=0){</a:t>
            </a:r>
          </a:p>
          <a:p>
            <a:pPr lvl="1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&lt;= k_0;</a:t>
            </a:r>
          </a:p>
          <a:p>
            <a:pPr lvl="1"/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 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-13828" y="1365356"/>
                <a:ext cx="59853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828" y="1365356"/>
                <a:ext cx="5985356" cy="369332"/>
              </a:xfrm>
              <a:prstGeom prst="rect">
                <a:avLst/>
              </a:prstGeom>
              <a:blipFill rotWithShape="1">
                <a:blip r:embed="rId3"/>
                <a:stretch>
                  <a:fillRect r="-6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967708" y="2238438"/>
                <a:ext cx="46699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708" y="2238438"/>
                <a:ext cx="4669933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8197" r="-13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967727" y="1795485"/>
                <a:ext cx="61215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𝑖𝑛𝑣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𝑖𝑛𝑣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727" y="1795485"/>
                <a:ext cx="6121548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967727" y="1354371"/>
                <a:ext cx="19423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𝑖𝑛𝑣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727" y="1354371"/>
                <a:ext cx="1942327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90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VC as a sketch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10939" y="2493818"/>
            <a:ext cx="818685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accent4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 err="1">
                <a:solidFill>
                  <a:schemeClr val="accent4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generators.skh</a:t>
            </a:r>
            <a:r>
              <a:rPr lang="en-US" sz="2000" b="1" dirty="0">
                <a:solidFill>
                  <a:schemeClr val="accent4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pragma options </a:t>
            </a:r>
            <a:r>
              <a:rPr lang="en-US" sz="2000" b="1" dirty="0">
                <a:solidFill>
                  <a:schemeClr val="accent4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"--</a:t>
            </a:r>
            <a:r>
              <a:rPr lang="en-US" sz="2000" b="1" dirty="0" err="1">
                <a:solidFill>
                  <a:schemeClr val="accent4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bnd</a:t>
            </a:r>
            <a:r>
              <a:rPr lang="en-US" sz="2000" b="1" dirty="0">
                <a:solidFill>
                  <a:schemeClr val="accent4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-inline-</a:t>
            </a:r>
            <a:r>
              <a:rPr lang="en-US" sz="2000" b="1" dirty="0" err="1">
                <a:solidFill>
                  <a:schemeClr val="accent4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amnt</a:t>
            </a:r>
            <a:r>
              <a:rPr lang="en-US" sz="2000" b="1" dirty="0">
                <a:solidFill>
                  <a:schemeClr val="accent4">
                    <a:lumMod val="75000"/>
                    <a:lumOff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3"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inv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y,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y_0,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k,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k_0, </a:t>
            </a:r>
            <a:r>
              <a:rPr lang="fr-FR" sz="2000" b="1" dirty="0" err="1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t){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exprBool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({y, y_0, k, k_0, t}, {PLUS});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1049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find a solution that works for all inputs, we know the program verifies</a:t>
            </a:r>
          </a:p>
          <a:p>
            <a:endParaRPr lang="en-US" dirty="0"/>
          </a:p>
          <a:p>
            <a:r>
              <a:rPr lang="en-US" dirty="0"/>
              <a:t>Sketch has no loops so bounded execution is not a problem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Sketch is only considering small inputs</a:t>
            </a:r>
          </a:p>
          <a:p>
            <a:pPr lvl="1"/>
            <a:r>
              <a:rPr lang="en-US" dirty="0"/>
              <a:t>To get full guarantees we need to check that the resulting invariant works for *all* inputs</a:t>
            </a:r>
          </a:p>
          <a:p>
            <a:pPr lvl="1"/>
            <a:r>
              <a:rPr lang="en-US" dirty="0"/>
              <a:t>We can check that with an SMT solver</a:t>
            </a:r>
          </a:p>
        </p:txBody>
      </p:sp>
    </p:spTree>
    <p:extLst>
      <p:ext uri="{BB962C8B-B14F-4D97-AF65-F5344CB8AC3E}">
        <p14:creationId xmlns:p14="http://schemas.microsoft.com/office/powerpoint/2010/main" val="81022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program verification to program synthesis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Srivastava, Gulwani, Foster</a:t>
            </a:r>
          </a:p>
        </p:txBody>
      </p:sp>
    </p:spTree>
    <p:extLst>
      <p:ext uri="{BB962C8B-B14F-4D97-AF65-F5344CB8AC3E}">
        <p14:creationId xmlns:p14="http://schemas.microsoft.com/office/powerpoint/2010/main" val="13301279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Structured program statements to reduce symmetries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526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860091" cy="1325563"/>
          </a:xfrm>
        </p:spPr>
        <p:txBody>
          <a:bodyPr/>
          <a:lstStyle/>
          <a:p>
            <a:r>
              <a:rPr lang="en-US" dirty="0"/>
              <a:t>Stylized program fragments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1778925"/>
                <a:ext cx="9761306" cy="4398038"/>
              </a:xfrm>
            </p:spPr>
            <p:txBody>
              <a:bodyPr/>
              <a:lstStyle/>
              <a:p>
                <a:r>
                  <a:rPr lang="en-US" dirty="0"/>
                  <a:t>Language supports only the following simple grammar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𝑤h𝑖𝑙𝑒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corresponds to a guarded assignment of the form: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{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Parallel assignment avoids the symmetries that arise from having to compute all possible permutations of assignments.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1778925"/>
                <a:ext cx="9761306" cy="4398038"/>
              </a:xfrm>
              <a:blipFill rotWithShape="0">
                <a:blip r:embed="rId2"/>
                <a:stretch>
                  <a:fillRect t="-2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6784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Proof-Theoretic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4"/>
            <a:ext cx="10599506" cy="5032375"/>
          </a:xfrm>
        </p:spPr>
        <p:txBody>
          <a:bodyPr>
            <a:normAutofit/>
          </a:bodyPr>
          <a:lstStyle/>
          <a:p>
            <a:r>
              <a:rPr lang="en-US" dirty="0"/>
              <a:t>Input: Program Scaffold</a:t>
            </a:r>
          </a:p>
          <a:p>
            <a:pPr lvl="1"/>
            <a:r>
              <a:rPr lang="en-US" dirty="0" err="1"/>
              <a:t>Flowgraph</a:t>
            </a:r>
            <a:r>
              <a:rPr lang="en-US" dirty="0"/>
              <a:t> template (a nested loop structure)</a:t>
            </a:r>
          </a:p>
          <a:p>
            <a:pPr lvl="1"/>
            <a:r>
              <a:rPr lang="en-US" dirty="0"/>
              <a:t>Function spec (pre-/post-conditions)</a:t>
            </a:r>
          </a:p>
          <a:p>
            <a:pPr lvl="1"/>
            <a:r>
              <a:rPr lang="en-US" dirty="0"/>
              <a:t>Other constraints (temp variables, size limit, etc. )</a:t>
            </a:r>
          </a:p>
          <a:p>
            <a:r>
              <a:rPr lang="en-US" dirty="0"/>
              <a:t>Output:</a:t>
            </a:r>
          </a:p>
          <a:p>
            <a:pPr lvl="1"/>
            <a:r>
              <a:rPr lang="en-US" dirty="0"/>
              <a:t>Synthesized code fragments</a:t>
            </a:r>
          </a:p>
          <a:p>
            <a:pPr lvl="1"/>
            <a:r>
              <a:rPr lang="en-US" dirty="0"/>
              <a:t>Associated loop invariants and ranking functions</a:t>
            </a:r>
          </a:p>
          <a:p>
            <a:endParaRPr lang="en-US" dirty="0"/>
          </a:p>
          <a:p>
            <a:r>
              <a:rPr lang="en-US" dirty="0"/>
              <a:t>Synthesis Condition:</a:t>
            </a:r>
          </a:p>
          <a:p>
            <a:pPr lvl="1"/>
            <a:r>
              <a:rPr lang="en-US" dirty="0"/>
              <a:t>Generalization of verification conditions</a:t>
            </a:r>
          </a:p>
          <a:p>
            <a:pPr lvl="1"/>
            <a:r>
              <a:rPr lang="en-US" dirty="0"/>
              <a:t>A valid program exists </a:t>
            </a:r>
            <a:r>
              <a:rPr lang="en-US" dirty="0" err="1"/>
              <a:t>iff</a:t>
            </a:r>
            <a:r>
              <a:rPr lang="en-US" dirty="0"/>
              <a:t>. the SC has a satisfying solution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757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Square Root</a:t>
            </a:r>
          </a:p>
        </p:txBody>
      </p:sp>
      <p:pic>
        <p:nvPicPr>
          <p:cNvPr id="4" name="Content Placeholder 3" descr="Screen Shot 2015-03-11 at 1.31.28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1506" b="-4150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70774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Scaffold</a:t>
            </a:r>
          </a:p>
        </p:txBody>
      </p:sp>
      <p:pic>
        <p:nvPicPr>
          <p:cNvPr id="4" name="Content Placeholder 3" descr="Screen Shot 2015-03-11 at 1.36.39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947" r="-5947"/>
          <a:stretch>
            <a:fillRect/>
          </a:stretch>
        </p:blipFill>
        <p:spPr>
          <a:xfrm>
            <a:off x="2715290" y="2267334"/>
            <a:ext cx="4739339" cy="2112675"/>
          </a:xfrm>
        </p:spPr>
      </p:pic>
      <p:sp>
        <p:nvSpPr>
          <p:cNvPr id="5" name="TextBox 4"/>
          <p:cNvSpPr txBox="1"/>
          <p:nvPr/>
        </p:nvSpPr>
        <p:spPr>
          <a:xfrm>
            <a:off x="2613721" y="5797437"/>
            <a:ext cx="5631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(Assume only one branch in each fragment)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4876" y="1674816"/>
            <a:ext cx="686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Pre:</a:t>
            </a:r>
          </a:p>
        </p:txBody>
      </p:sp>
      <p:pic>
        <p:nvPicPr>
          <p:cNvPr id="7" name="Picture 6" descr="Screen Shot 2015-03-11 at 1.33.07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2763" y="1671531"/>
            <a:ext cx="1117600" cy="520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90024" y="4606304"/>
            <a:ext cx="8117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Post:</a:t>
            </a:r>
          </a:p>
        </p:txBody>
      </p:sp>
      <p:pic>
        <p:nvPicPr>
          <p:cNvPr id="9" name="Picture 8" descr="Screen Shot 2015-03-11 at 1.34.26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404" y="4572457"/>
            <a:ext cx="34036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829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Condition</a:t>
            </a:r>
          </a:p>
        </p:txBody>
      </p:sp>
      <p:pic>
        <p:nvPicPr>
          <p:cNvPr id="4" name="Content Placeholder 3" descr="Screen Shot 2015-03-11 at 1.41.01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5097" b="-85097"/>
          <a:stretch>
            <a:fillRect/>
          </a:stretch>
        </p:blipFill>
        <p:spPr>
          <a:xfrm>
            <a:off x="0" y="2348165"/>
            <a:ext cx="8052508" cy="3589600"/>
          </a:xfrm>
        </p:spPr>
      </p:pic>
      <p:pic>
        <p:nvPicPr>
          <p:cNvPr id="5" name="Content Placeholder 3" descr="Screen Shot 2015-03-11 at 1.36.39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947" r="-5947"/>
          <a:stretch>
            <a:fillRect/>
          </a:stretch>
        </p:blipFill>
        <p:spPr>
          <a:xfrm>
            <a:off x="7452661" y="496928"/>
            <a:ext cx="4739339" cy="211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168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215864" cy="1325563"/>
          </a:xfrm>
        </p:spPr>
        <p:txBody>
          <a:bodyPr/>
          <a:lstStyle/>
          <a:p>
            <a:r>
              <a:rPr lang="en-US" dirty="0"/>
              <a:t>Well-</a:t>
            </a:r>
            <a:r>
              <a:rPr lang="en-US" dirty="0" err="1"/>
              <a:t>formedness</a:t>
            </a:r>
            <a:r>
              <a:rPr lang="en-US" dirty="0"/>
              <a:t> Condition</a:t>
            </a:r>
          </a:p>
        </p:txBody>
      </p:sp>
      <p:pic>
        <p:nvPicPr>
          <p:cNvPr id="5" name="Content Placeholder 3" descr="Screen Shot 2015-03-11 at 1.36.3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947" r="-5947"/>
          <a:stretch>
            <a:fillRect/>
          </a:stretch>
        </p:blipFill>
        <p:spPr>
          <a:xfrm>
            <a:off x="7452661" y="496928"/>
            <a:ext cx="4739339" cy="2112675"/>
          </a:xfrm>
          <a:prstGeom prst="rect">
            <a:avLst/>
          </a:prstGeom>
        </p:spPr>
      </p:pic>
      <p:pic>
        <p:nvPicPr>
          <p:cNvPr id="6" name="Content Placeholder 5" descr="Screen Shot 2015-03-11 at 1.43.38 AM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0735" b="-340735"/>
          <a:stretch>
            <a:fillRect/>
          </a:stretch>
        </p:blipFill>
        <p:spPr>
          <a:xfrm>
            <a:off x="228598" y="2186662"/>
            <a:ext cx="9761306" cy="4351338"/>
          </a:xfrm>
        </p:spPr>
      </p:pic>
    </p:spTree>
    <p:extLst>
      <p:ext uri="{BB962C8B-B14F-4D97-AF65-F5344CB8AC3E}">
        <p14:creationId xmlns:p14="http://schemas.microsoft.com/office/powerpoint/2010/main" val="1433675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215864" cy="1325563"/>
          </a:xfrm>
        </p:spPr>
        <p:txBody>
          <a:bodyPr/>
          <a:lstStyle/>
          <a:p>
            <a:r>
              <a:rPr lang="en-US" dirty="0"/>
              <a:t>Ranking Function</a:t>
            </a:r>
          </a:p>
        </p:txBody>
      </p:sp>
      <p:pic>
        <p:nvPicPr>
          <p:cNvPr id="5" name="Content Placeholder 3" descr="Screen Shot 2015-03-11 at 1.36.3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947" r="-5947"/>
          <a:stretch>
            <a:fillRect/>
          </a:stretch>
        </p:blipFill>
        <p:spPr>
          <a:xfrm>
            <a:off x="7452661" y="496928"/>
            <a:ext cx="4739339" cy="2112675"/>
          </a:xfrm>
          <a:prstGeom prst="rect">
            <a:avLst/>
          </a:prstGeom>
        </p:spPr>
      </p:pic>
      <p:pic>
        <p:nvPicPr>
          <p:cNvPr id="4" name="Content Placeholder 3" descr="Screen Shot 2015-03-11 at 1.44.55 AM.png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7460" b="-307460"/>
          <a:stretch>
            <a:fillRect/>
          </a:stretch>
        </p:blipFill>
        <p:spPr>
          <a:xfrm>
            <a:off x="0" y="1696795"/>
            <a:ext cx="9092807" cy="4053339"/>
          </a:xfrm>
        </p:spPr>
      </p:pic>
    </p:spTree>
    <p:extLst>
      <p:ext uri="{BB962C8B-B14F-4D97-AF65-F5344CB8AC3E}">
        <p14:creationId xmlns:p14="http://schemas.microsoft.com/office/powerpoint/2010/main" val="3035799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7215864" cy="1325563"/>
          </a:xfrm>
        </p:spPr>
        <p:txBody>
          <a:bodyPr/>
          <a:lstStyle/>
          <a:p>
            <a:r>
              <a:rPr lang="en-US" dirty="0"/>
              <a:t>Synthesis Conditions</a:t>
            </a:r>
          </a:p>
        </p:txBody>
      </p:sp>
      <p:pic>
        <p:nvPicPr>
          <p:cNvPr id="6" name="Content Placeholder 5" descr="Screen Shot 2015-03-11 at 1.46.32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99869" b="-399869"/>
          <a:stretch>
            <a:fillRect/>
          </a:stretch>
        </p:blipFill>
        <p:spPr>
          <a:xfrm>
            <a:off x="248820" y="40353"/>
            <a:ext cx="9761306" cy="4351338"/>
          </a:xfrm>
        </p:spPr>
      </p:pic>
      <p:pic>
        <p:nvPicPr>
          <p:cNvPr id="7" name="Picture 6" descr="Screen Shot 2015-03-11 at 1.47.09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35" y="2584110"/>
            <a:ext cx="7994342" cy="21481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6097" y="5024446"/>
            <a:ext cx="101971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Theorem (soundness and completeness)</a:t>
            </a:r>
          </a:p>
          <a:p>
            <a:pPr lvl="1"/>
            <a:r>
              <a:rPr lang="en-US" sz="2800" dirty="0"/>
              <a:t>The synthesis conditions are </a:t>
            </a:r>
            <a:r>
              <a:rPr lang="en-US" sz="2800" dirty="0" err="1"/>
              <a:t>satisfiable</a:t>
            </a:r>
            <a:r>
              <a:rPr lang="en-US" sz="2800" dirty="0"/>
              <a:t> </a:t>
            </a:r>
            <a:r>
              <a:rPr lang="en-US" sz="2800" dirty="0" err="1"/>
              <a:t>iff</a:t>
            </a:r>
            <a:r>
              <a:rPr lang="en-US" sz="2800" dirty="0"/>
              <a:t>. there exists a program that is valid </a:t>
            </a:r>
            <a:r>
              <a:rPr lang="en-US" sz="2800" dirty="0" err="1"/>
              <a:t>w.r.t</a:t>
            </a:r>
            <a:r>
              <a:rPr lang="en-US" sz="2800" dirty="0"/>
              <a:t>. the scaffold.</a:t>
            </a:r>
          </a:p>
        </p:txBody>
      </p:sp>
    </p:spTree>
    <p:extLst>
      <p:ext uri="{BB962C8B-B14F-4D97-AF65-F5344CB8AC3E}">
        <p14:creationId xmlns:p14="http://schemas.microsoft.com/office/powerpoint/2010/main" val="283440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Experimental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5B73"/>
      </a:accent1>
      <a:accent2>
        <a:srgbClr val="CD0909"/>
      </a:accent2>
      <a:accent3>
        <a:srgbClr val="3F7830"/>
      </a:accent3>
      <a:accent4>
        <a:srgbClr val="08110B"/>
      </a:accent4>
      <a:accent5>
        <a:srgbClr val="DCA8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48792</TotalTime>
  <Words>1146</Words>
  <Application>Microsoft Office PowerPoint</Application>
  <PresentationFormat>Widescreen</PresentationFormat>
  <Paragraphs>156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Berlin Sans FB</vt:lpstr>
      <vt:lpstr>Calibri</vt:lpstr>
      <vt:lpstr>Cambria Math</vt:lpstr>
      <vt:lpstr>Courier New</vt:lpstr>
      <vt:lpstr>office theme</vt:lpstr>
      <vt:lpstr>Lecture 19 Constraint based verification meets synthesis</vt:lpstr>
      <vt:lpstr>Recap</vt:lpstr>
      <vt:lpstr>VC Generation</vt:lpstr>
      <vt:lpstr>VC Generation</vt:lpstr>
      <vt:lpstr>VC Generation</vt:lpstr>
      <vt:lpstr>Synthesizing invariants</vt:lpstr>
      <vt:lpstr>Example</vt:lpstr>
      <vt:lpstr>VC as a sketch harness</vt:lpstr>
      <vt:lpstr>VC as a sketch invariant</vt:lpstr>
      <vt:lpstr>Summary</vt:lpstr>
      <vt:lpstr>From program verification to program synthesis</vt:lpstr>
      <vt:lpstr>Key ideas</vt:lpstr>
      <vt:lpstr>Stylized program fragments</vt:lpstr>
      <vt:lpstr>Proof-Theoretic Synthesis</vt:lpstr>
      <vt:lpstr>Example: Square Root</vt:lpstr>
      <vt:lpstr>Program Scaffold</vt:lpstr>
      <vt:lpstr>Verification Condition</vt:lpstr>
      <vt:lpstr>Well-formedness Condition</vt:lpstr>
      <vt:lpstr>Ranking Function</vt:lpstr>
      <vt:lpstr>Synthesis Conditions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Armando Solar-Lezama</dc:creator>
  <cp:lastModifiedBy>Armando Solar-Lezama</cp:lastModifiedBy>
  <cp:revision>793</cp:revision>
  <cp:lastPrinted>2015-02-26T04:09:31Z</cp:lastPrinted>
  <dcterms:created xsi:type="dcterms:W3CDTF">2014-09-23T19:26:18Z</dcterms:created>
  <dcterms:modified xsi:type="dcterms:W3CDTF">2026-03-10T00:15:01Z</dcterms:modified>
</cp:coreProperties>
</file>