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7"/>
  </p:notesMasterIdLst>
  <p:sldIdLst>
    <p:sldId id="336" r:id="rId2"/>
    <p:sldId id="338" r:id="rId3"/>
    <p:sldId id="339" r:id="rId4"/>
    <p:sldId id="340" r:id="rId5"/>
    <p:sldId id="341" r:id="rId6"/>
    <p:sldId id="342" r:id="rId7"/>
    <p:sldId id="343" r:id="rId8"/>
    <p:sldId id="344" r:id="rId9"/>
    <p:sldId id="345" r:id="rId10"/>
    <p:sldId id="346" r:id="rId11"/>
    <p:sldId id="347" r:id="rId12"/>
    <p:sldId id="349" r:id="rId13"/>
    <p:sldId id="348" r:id="rId14"/>
    <p:sldId id="350" r:id="rId15"/>
    <p:sldId id="351" r:id="rId16"/>
    <p:sldId id="352" r:id="rId17"/>
    <p:sldId id="353" r:id="rId18"/>
    <p:sldId id="354" r:id="rId19"/>
    <p:sldId id="360" r:id="rId20"/>
    <p:sldId id="355" r:id="rId21"/>
    <p:sldId id="356" r:id="rId22"/>
    <p:sldId id="357" r:id="rId23"/>
    <p:sldId id="358" r:id="rId24"/>
    <p:sldId id="359" r:id="rId25"/>
    <p:sldId id="361" r:id="rId26"/>
    <p:sldId id="362" r:id="rId27"/>
    <p:sldId id="363" r:id="rId28"/>
    <p:sldId id="364" r:id="rId29"/>
    <p:sldId id="365" r:id="rId30"/>
    <p:sldId id="366" r:id="rId31"/>
    <p:sldId id="367" r:id="rId32"/>
    <p:sldId id="369" r:id="rId33"/>
    <p:sldId id="368" r:id="rId34"/>
    <p:sldId id="370" r:id="rId35"/>
    <p:sldId id="371" r:id="rId36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BFDE254-FA52-4010-BD44-2C33A1E0291C}">
          <p14:sldIdLst>
            <p14:sldId id="336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9"/>
            <p14:sldId id="348"/>
            <p14:sldId id="350"/>
            <p14:sldId id="351"/>
            <p14:sldId id="352"/>
            <p14:sldId id="353"/>
            <p14:sldId id="354"/>
            <p14:sldId id="360"/>
            <p14:sldId id="355"/>
            <p14:sldId id="356"/>
            <p14:sldId id="357"/>
            <p14:sldId id="358"/>
            <p14:sldId id="359"/>
            <p14:sldId id="361"/>
            <p14:sldId id="362"/>
            <p14:sldId id="363"/>
            <p14:sldId id="364"/>
            <p14:sldId id="365"/>
            <p14:sldId id="366"/>
            <p14:sldId id="367"/>
            <p14:sldId id="369"/>
            <p14:sldId id="368"/>
            <p14:sldId id="370"/>
            <p14:sldId id="3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F0B"/>
    <a:srgbClr val="CA703B"/>
    <a:srgbClr val="CFE5C9"/>
    <a:srgbClr val="9AC890"/>
    <a:srgbClr val="C7CEFF"/>
    <a:srgbClr val="7F8AFF"/>
    <a:srgbClr val="FFFFFF"/>
    <a:srgbClr val="000000"/>
    <a:srgbClr val="FF77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25" autoAdjust="0"/>
    <p:restoredTop sz="83871" autoAdjust="0"/>
  </p:normalViewPr>
  <p:slideViewPr>
    <p:cSldViewPr snapToGrid="0">
      <p:cViewPr>
        <p:scale>
          <a:sx n="74" d="100"/>
          <a:sy n="74" d="100"/>
        </p:scale>
        <p:origin x="819" y="2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mando Solar-Lezama" userId="e82942028eae7d90" providerId="LiveId" clId="{7045F0CB-D5AF-40A1-87D3-1AA82FA5AFA3}"/>
    <pc:docChg chg="undo custSel modSld">
      <pc:chgData name="Armando Solar-Lezama" userId="e82942028eae7d90" providerId="LiveId" clId="{7045F0CB-D5AF-40A1-87D3-1AA82FA5AFA3}" dt="2025-09-12T20:57:47.315" v="3" actId="20577"/>
      <pc:docMkLst>
        <pc:docMk/>
      </pc:docMkLst>
      <pc:sldChg chg="modSp mod">
        <pc:chgData name="Armando Solar-Lezama" userId="e82942028eae7d90" providerId="LiveId" clId="{7045F0CB-D5AF-40A1-87D3-1AA82FA5AFA3}" dt="2025-09-12T19:23:35.177" v="1" actId="1076"/>
        <pc:sldMkLst>
          <pc:docMk/>
          <pc:sldMk cId="2661868432" sldId="349"/>
        </pc:sldMkLst>
        <pc:picChg chg="mod">
          <ac:chgData name="Armando Solar-Lezama" userId="e82942028eae7d90" providerId="LiveId" clId="{7045F0CB-D5AF-40A1-87D3-1AA82FA5AFA3}" dt="2025-09-12T19:23:35.177" v="1" actId="1076"/>
          <ac:picMkLst>
            <pc:docMk/>
            <pc:sldMk cId="2661868432" sldId="349"/>
            <ac:picMk id="11" creationId="{00000000-0000-0000-0000-000000000000}"/>
          </ac:picMkLst>
        </pc:picChg>
      </pc:sldChg>
      <pc:sldChg chg="modSp mod">
        <pc:chgData name="Armando Solar-Lezama" userId="e82942028eae7d90" providerId="LiveId" clId="{7045F0CB-D5AF-40A1-87D3-1AA82FA5AFA3}" dt="2025-09-12T20:57:47.315" v="3" actId="20577"/>
        <pc:sldMkLst>
          <pc:docMk/>
          <pc:sldMk cId="844766261" sldId="350"/>
        </pc:sldMkLst>
        <pc:spChg chg="mod">
          <ac:chgData name="Armando Solar-Lezama" userId="e82942028eae7d90" providerId="LiveId" clId="{7045F0CB-D5AF-40A1-87D3-1AA82FA5AFA3}" dt="2025-09-12T20:57:47.315" v="3" actId="20577"/>
          <ac:spMkLst>
            <pc:docMk/>
            <pc:sldMk cId="844766261" sldId="350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4B0CA21C-B112-4BD8-B9E9-462888A52112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A80BC8A-3D2D-4399-A152-F8F7638B0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99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0BC8A-3D2D-4399-A152-F8F7638B02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534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57284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97338"/>
            <a:ext cx="9144000" cy="86046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29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6869903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494" y="1825625"/>
            <a:ext cx="9761306" cy="4351338"/>
          </a:xfrm>
        </p:spPr>
        <p:txBody>
          <a:bodyPr/>
          <a:lstStyle>
            <a:lvl1pPr>
              <a:buClr>
                <a:schemeClr val="bg1"/>
              </a:buClr>
              <a:buSzPct val="25000"/>
              <a:defRPr>
                <a:solidFill>
                  <a:schemeClr val="accent4"/>
                </a:solidFill>
              </a:defRPr>
            </a:lvl1pPr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871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310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05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505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259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4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538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388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06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48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6B1FC-33B3-4A41-B046-2D6AAAB3391B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432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8" r:id="rId3"/>
    <p:sldLayoutId id="2147483675" r:id="rId4"/>
    <p:sldLayoutId id="2147483676" r:id="rId5"/>
    <p:sldLayoutId id="2147483677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1"/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Lecture 4</a:t>
            </a:r>
            <a:br>
              <a:rPr lang="en-US" dirty="0"/>
            </a:br>
            <a:r>
              <a:rPr lang="en-US" dirty="0"/>
              <a:t>Top-Down Explicit 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Armando Solar-Lezama</a:t>
            </a:r>
            <a:b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with content from Jack Feser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210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7703845" cy="1325563"/>
          </a:xfrm>
        </p:spPr>
        <p:txBody>
          <a:bodyPr/>
          <a:lstStyle/>
          <a:p>
            <a:r>
              <a:rPr lang="en-US" dirty="0"/>
              <a:t>Quick Intro to Functional Idioms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map </a:t>
            </a:r>
            <a:r>
              <a:rPr lang="en-US" i="1" dirty="0"/>
              <a:t>f </a:t>
            </a:r>
            <a:r>
              <a:rPr lang="en-US" i="1" dirty="0" err="1"/>
              <a:t>lst</a:t>
            </a:r>
            <a:r>
              <a:rPr lang="en-US" i="1" dirty="0"/>
              <a:t> = </a:t>
            </a:r>
            <a:r>
              <a:rPr lang="en-US" dirty="0"/>
              <a:t>case </a:t>
            </a:r>
            <a:r>
              <a:rPr lang="en-US" i="1" dirty="0" err="1"/>
              <a:t>lst</a:t>
            </a:r>
            <a:r>
              <a:rPr lang="en-US" dirty="0"/>
              <a:t> of</a:t>
            </a:r>
            <a:br>
              <a:rPr lang="en-US" dirty="0"/>
            </a:br>
            <a:r>
              <a:rPr lang="en-US" dirty="0"/>
              <a:t>                     []               -&gt; []</a:t>
            </a:r>
            <a:br>
              <a:rPr lang="en-US" dirty="0"/>
            </a:br>
            <a:r>
              <a:rPr lang="en-US" dirty="0"/>
              <a:t>                     </a:t>
            </a:r>
            <a:r>
              <a:rPr lang="en-US" i="1" dirty="0" err="1"/>
              <a:t>head</a:t>
            </a:r>
            <a:r>
              <a:rPr lang="en-US" dirty="0" err="1"/>
              <a:t>:</a:t>
            </a:r>
            <a:r>
              <a:rPr lang="en-US" i="1" dirty="0" err="1"/>
              <a:t>rest</a:t>
            </a:r>
            <a:r>
              <a:rPr lang="en-US" dirty="0"/>
              <a:t> -&gt;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head</a:t>
            </a:r>
            <a:r>
              <a:rPr lang="en-US" dirty="0"/>
              <a:t>) : (map </a:t>
            </a:r>
            <a:r>
              <a:rPr lang="en-US" i="1" dirty="0"/>
              <a:t>f rest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Applies </a:t>
            </a:r>
            <a:r>
              <a:rPr lang="en-US" i="1" dirty="0"/>
              <a:t>f </a:t>
            </a:r>
            <a:r>
              <a:rPr lang="en-US" dirty="0"/>
              <a:t>to every element in the list</a:t>
            </a:r>
          </a:p>
          <a:p>
            <a:pPr lvl="1"/>
            <a:endParaRPr lang="en-US" dirty="0"/>
          </a:p>
          <a:p>
            <a:r>
              <a:rPr lang="en-US" dirty="0"/>
              <a:t>filter </a:t>
            </a:r>
            <a:r>
              <a:rPr lang="en-US" i="1" dirty="0"/>
              <a:t>p </a:t>
            </a:r>
            <a:r>
              <a:rPr lang="en-US" i="1" dirty="0" err="1"/>
              <a:t>lst</a:t>
            </a:r>
            <a:r>
              <a:rPr lang="en-US" i="1" dirty="0"/>
              <a:t> </a:t>
            </a:r>
            <a:r>
              <a:rPr lang="en-US" dirty="0"/>
              <a:t>= case </a:t>
            </a:r>
            <a:r>
              <a:rPr lang="en-US" i="1" dirty="0" err="1"/>
              <a:t>lst</a:t>
            </a:r>
            <a:r>
              <a:rPr lang="en-US" dirty="0"/>
              <a:t> of </a:t>
            </a:r>
            <a:br>
              <a:rPr lang="en-US" dirty="0"/>
            </a:br>
            <a:r>
              <a:rPr lang="en-US" dirty="0"/>
              <a:t>                      []  -&gt; []</a:t>
            </a:r>
            <a:br>
              <a:rPr lang="en-US" dirty="0"/>
            </a:br>
            <a:r>
              <a:rPr lang="en-US" dirty="0"/>
              <a:t>                      </a:t>
            </a:r>
            <a:r>
              <a:rPr lang="en-US" i="1" dirty="0" err="1"/>
              <a:t>head</a:t>
            </a:r>
            <a:r>
              <a:rPr lang="en-US" dirty="0" err="1"/>
              <a:t>:</a:t>
            </a:r>
            <a:r>
              <a:rPr lang="en-US" i="1" dirty="0" err="1"/>
              <a:t>rest</a:t>
            </a:r>
            <a:r>
              <a:rPr lang="en-US" dirty="0"/>
              <a:t> -&gt; if p(</a:t>
            </a:r>
            <a:r>
              <a:rPr lang="en-US" i="1" dirty="0"/>
              <a:t>head</a:t>
            </a:r>
            <a:r>
              <a:rPr lang="en-US" dirty="0"/>
              <a:t>) then </a:t>
            </a:r>
            <a:r>
              <a:rPr lang="en-US" i="1" dirty="0"/>
              <a:t>head</a:t>
            </a:r>
            <a:r>
              <a:rPr lang="en-US" dirty="0">
                <a:sym typeface="Wingdings" panose="05000000000000000000" pitchFamily="2" charset="2"/>
              </a:rPr>
              <a:t>: (filter </a:t>
            </a:r>
            <a:r>
              <a:rPr lang="en-US" i="1" dirty="0">
                <a:sym typeface="Wingdings" panose="05000000000000000000" pitchFamily="2" charset="2"/>
              </a:rPr>
              <a:t>p rest</a:t>
            </a:r>
            <a:r>
              <a:rPr lang="en-US" dirty="0">
                <a:sym typeface="Wingdings" panose="05000000000000000000" pitchFamily="2" charset="2"/>
              </a:rPr>
              <a:t>)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                                                               else (filter </a:t>
            </a:r>
            <a:r>
              <a:rPr lang="en-US" i="1" dirty="0">
                <a:sym typeface="Wingdings" panose="05000000000000000000" pitchFamily="2" charset="2"/>
              </a:rPr>
              <a:t>p rest</a:t>
            </a:r>
            <a:r>
              <a:rPr lang="en-US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Removes any element x for which p(x) is false</a:t>
            </a:r>
            <a:endParaRPr lang="en-US" dirty="0"/>
          </a:p>
          <a:p>
            <a:r>
              <a:rPr lang="en-US" dirty="0"/>
              <a:t>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120246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7703845" cy="1325563"/>
          </a:xfrm>
        </p:spPr>
        <p:txBody>
          <a:bodyPr/>
          <a:lstStyle/>
          <a:p>
            <a:r>
              <a:rPr lang="en-US" dirty="0" err="1"/>
              <a:t>foldl</a:t>
            </a:r>
            <a:r>
              <a:rPr lang="en-US" dirty="0"/>
              <a:t>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494" y="1825625"/>
            <a:ext cx="9761306" cy="1532717"/>
          </a:xfrm>
        </p:spPr>
        <p:txBody>
          <a:bodyPr>
            <a:normAutofit lnSpcReduction="10000"/>
          </a:bodyPr>
          <a:lstStyle/>
          <a:p>
            <a:r>
              <a:rPr lang="en-US" dirty="0" err="1">
                <a:sym typeface="Wingdings" panose="05000000000000000000" pitchFamily="2" charset="2"/>
              </a:rPr>
              <a:t>foldl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binop</a:t>
            </a:r>
            <a:r>
              <a:rPr lang="en-US" dirty="0">
                <a:sym typeface="Wingdings" panose="05000000000000000000" pitchFamily="2" charset="2"/>
              </a:rPr>
              <a:t> start </a:t>
            </a:r>
            <a:r>
              <a:rPr lang="en-US" dirty="0" err="1">
                <a:sym typeface="Wingdings" panose="05000000000000000000" pitchFamily="2" charset="2"/>
              </a:rPr>
              <a:t>lst</a:t>
            </a:r>
            <a:r>
              <a:rPr lang="en-US" dirty="0">
                <a:sym typeface="Wingdings" panose="05000000000000000000" pitchFamily="2" charset="2"/>
              </a:rPr>
              <a:t> = case </a:t>
            </a:r>
            <a:r>
              <a:rPr lang="en-US" dirty="0" err="1">
                <a:sym typeface="Wingdings" panose="05000000000000000000" pitchFamily="2" charset="2"/>
              </a:rPr>
              <a:t>lst</a:t>
            </a:r>
            <a:r>
              <a:rPr lang="en-US" dirty="0">
                <a:sym typeface="Wingdings" panose="05000000000000000000" pitchFamily="2" charset="2"/>
              </a:rPr>
              <a:t> of 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                       []  -&gt; start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                        </a:t>
            </a:r>
            <a:r>
              <a:rPr lang="en-US" dirty="0" err="1">
                <a:sym typeface="Wingdings" panose="05000000000000000000" pitchFamily="2" charset="2"/>
              </a:rPr>
              <a:t>head:rest</a:t>
            </a:r>
            <a:r>
              <a:rPr lang="en-US" dirty="0">
                <a:sym typeface="Wingdings" panose="05000000000000000000" pitchFamily="2" charset="2"/>
              </a:rPr>
              <a:t> -&gt; (</a:t>
            </a:r>
            <a:r>
              <a:rPr lang="en-US" dirty="0" err="1">
                <a:sym typeface="Wingdings" panose="05000000000000000000" pitchFamily="2" charset="2"/>
              </a:rPr>
              <a:t>foldl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binop</a:t>
            </a:r>
            <a:r>
              <a:rPr lang="en-US" dirty="0">
                <a:sym typeface="Wingdings" panose="05000000000000000000" pitchFamily="2" charset="2"/>
              </a:rPr>
              <a:t> (</a:t>
            </a:r>
            <a:r>
              <a:rPr lang="en-US" dirty="0" err="1">
                <a:sym typeface="Wingdings" panose="05000000000000000000" pitchFamily="2" charset="2"/>
              </a:rPr>
              <a:t>binop</a:t>
            </a:r>
            <a:r>
              <a:rPr lang="en-US" dirty="0">
                <a:sym typeface="Wingdings" panose="05000000000000000000" pitchFamily="2" charset="2"/>
              </a:rPr>
              <a:t> start head) rest)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Apply the binary operation </a:t>
            </a:r>
            <a:r>
              <a:rPr lang="en-US" dirty="0" err="1">
                <a:sym typeface="Wingdings" panose="05000000000000000000" pitchFamily="2" charset="2"/>
              </a:rPr>
              <a:t>binop</a:t>
            </a:r>
            <a:r>
              <a:rPr lang="en-US" dirty="0">
                <a:sym typeface="Wingdings" panose="05000000000000000000" pitchFamily="2" charset="2"/>
              </a:rPr>
              <a:t> from left to right to the list</a:t>
            </a:r>
            <a:r>
              <a:rPr lang="en-US" dirty="0"/>
              <a:t>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519261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7703845" cy="1325563"/>
          </a:xfrm>
        </p:spPr>
        <p:txBody>
          <a:bodyPr/>
          <a:lstStyle/>
          <a:p>
            <a:r>
              <a:rPr lang="en-US" dirty="0" err="1"/>
              <a:t>foldl</a:t>
            </a:r>
            <a:r>
              <a:rPr lang="en-US" dirty="0"/>
              <a:t>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494" y="1825625"/>
            <a:ext cx="9761306" cy="1532717"/>
          </a:xfrm>
        </p:spPr>
        <p:txBody>
          <a:bodyPr>
            <a:normAutofit lnSpcReduction="10000"/>
          </a:bodyPr>
          <a:lstStyle/>
          <a:p>
            <a:r>
              <a:rPr lang="en-US" dirty="0" err="1">
                <a:sym typeface="Wingdings" panose="05000000000000000000" pitchFamily="2" charset="2"/>
              </a:rPr>
              <a:t>foldl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binop</a:t>
            </a:r>
            <a:r>
              <a:rPr lang="en-US" dirty="0">
                <a:sym typeface="Wingdings" panose="05000000000000000000" pitchFamily="2" charset="2"/>
              </a:rPr>
              <a:t> start </a:t>
            </a:r>
            <a:r>
              <a:rPr lang="en-US" dirty="0" err="1">
                <a:sym typeface="Wingdings" panose="05000000000000000000" pitchFamily="2" charset="2"/>
              </a:rPr>
              <a:t>lst</a:t>
            </a:r>
            <a:r>
              <a:rPr lang="en-US" dirty="0">
                <a:sym typeface="Wingdings" panose="05000000000000000000" pitchFamily="2" charset="2"/>
              </a:rPr>
              <a:t> = case </a:t>
            </a:r>
            <a:r>
              <a:rPr lang="en-US" dirty="0" err="1">
                <a:sym typeface="Wingdings" panose="05000000000000000000" pitchFamily="2" charset="2"/>
              </a:rPr>
              <a:t>lst</a:t>
            </a:r>
            <a:r>
              <a:rPr lang="en-US" dirty="0">
                <a:sym typeface="Wingdings" panose="05000000000000000000" pitchFamily="2" charset="2"/>
              </a:rPr>
              <a:t> of 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                       []  -&gt; start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                        </a:t>
            </a:r>
            <a:r>
              <a:rPr lang="en-US" dirty="0" err="1">
                <a:sym typeface="Wingdings" panose="05000000000000000000" pitchFamily="2" charset="2"/>
              </a:rPr>
              <a:t>head:rest</a:t>
            </a:r>
            <a:r>
              <a:rPr lang="en-US" dirty="0">
                <a:sym typeface="Wingdings" panose="05000000000000000000" pitchFamily="2" charset="2"/>
              </a:rPr>
              <a:t> -&gt; (</a:t>
            </a:r>
            <a:r>
              <a:rPr lang="en-US" dirty="0" err="1">
                <a:sym typeface="Wingdings" panose="05000000000000000000" pitchFamily="2" charset="2"/>
              </a:rPr>
              <a:t>foldl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binop</a:t>
            </a:r>
            <a:r>
              <a:rPr lang="en-US" dirty="0">
                <a:sym typeface="Wingdings" panose="05000000000000000000" pitchFamily="2" charset="2"/>
              </a:rPr>
              <a:t> (</a:t>
            </a:r>
            <a:r>
              <a:rPr lang="en-US" dirty="0" err="1">
                <a:sym typeface="Wingdings" panose="05000000000000000000" pitchFamily="2" charset="2"/>
              </a:rPr>
              <a:t>binop</a:t>
            </a:r>
            <a:r>
              <a:rPr lang="en-US" dirty="0">
                <a:sym typeface="Wingdings" panose="05000000000000000000" pitchFamily="2" charset="2"/>
              </a:rPr>
              <a:t> start head) rest)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Apply the binary operation </a:t>
            </a:r>
            <a:r>
              <a:rPr lang="en-US" dirty="0" err="1">
                <a:sym typeface="Wingdings" panose="05000000000000000000" pitchFamily="2" charset="2"/>
              </a:rPr>
              <a:t>binop</a:t>
            </a:r>
            <a:r>
              <a:rPr lang="en-US" dirty="0">
                <a:sym typeface="Wingdings" panose="05000000000000000000" pitchFamily="2" charset="2"/>
              </a:rPr>
              <a:t> from left to right to the list</a:t>
            </a:r>
            <a:r>
              <a:rPr lang="en-US" dirty="0"/>
              <a:t>                    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12768" y="3797411"/>
            <a:ext cx="28359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foldl</a:t>
            </a:r>
            <a:r>
              <a:rPr lang="en-US" sz="2400" dirty="0"/>
              <a:t> (+)        1:2:3:4:[]</a:t>
            </a:r>
          </a:p>
        </p:txBody>
      </p:sp>
      <p:sp>
        <p:nvSpPr>
          <p:cNvPr id="8" name="Rectangle 7"/>
          <p:cNvSpPr/>
          <p:nvPr/>
        </p:nvSpPr>
        <p:spPr>
          <a:xfrm>
            <a:off x="5104017" y="3877120"/>
            <a:ext cx="277091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4267783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912768" y="3797411"/>
            <a:ext cx="25987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foldl</a:t>
            </a:r>
            <a:r>
              <a:rPr lang="en-US" sz="2400" dirty="0"/>
              <a:t> (+)        2:3:4:[]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7703845" cy="1325563"/>
          </a:xfrm>
        </p:spPr>
        <p:txBody>
          <a:bodyPr/>
          <a:lstStyle/>
          <a:p>
            <a:r>
              <a:rPr lang="en-US" dirty="0" err="1"/>
              <a:t>foldl</a:t>
            </a:r>
            <a:r>
              <a:rPr lang="en-US" dirty="0"/>
              <a:t>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494" y="1825625"/>
            <a:ext cx="9761306" cy="1532717"/>
          </a:xfrm>
        </p:spPr>
        <p:txBody>
          <a:bodyPr>
            <a:normAutofit lnSpcReduction="10000"/>
          </a:bodyPr>
          <a:lstStyle/>
          <a:p>
            <a:r>
              <a:rPr lang="en-US" dirty="0" err="1">
                <a:sym typeface="Wingdings" panose="05000000000000000000" pitchFamily="2" charset="2"/>
              </a:rPr>
              <a:t>foldl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binop</a:t>
            </a:r>
            <a:r>
              <a:rPr lang="en-US" dirty="0">
                <a:sym typeface="Wingdings" panose="05000000000000000000" pitchFamily="2" charset="2"/>
              </a:rPr>
              <a:t> start </a:t>
            </a:r>
            <a:r>
              <a:rPr lang="en-US" dirty="0" err="1">
                <a:sym typeface="Wingdings" panose="05000000000000000000" pitchFamily="2" charset="2"/>
              </a:rPr>
              <a:t>lst</a:t>
            </a:r>
            <a:r>
              <a:rPr lang="en-US" dirty="0">
                <a:sym typeface="Wingdings" panose="05000000000000000000" pitchFamily="2" charset="2"/>
              </a:rPr>
              <a:t> = case </a:t>
            </a:r>
            <a:r>
              <a:rPr lang="en-US" dirty="0" err="1">
                <a:sym typeface="Wingdings" panose="05000000000000000000" pitchFamily="2" charset="2"/>
              </a:rPr>
              <a:t>lst</a:t>
            </a:r>
            <a:r>
              <a:rPr lang="en-US" dirty="0">
                <a:sym typeface="Wingdings" panose="05000000000000000000" pitchFamily="2" charset="2"/>
              </a:rPr>
              <a:t> of 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                       []  -&gt; start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                        </a:t>
            </a:r>
            <a:r>
              <a:rPr lang="en-US" dirty="0" err="1">
                <a:sym typeface="Wingdings" panose="05000000000000000000" pitchFamily="2" charset="2"/>
              </a:rPr>
              <a:t>head:rest</a:t>
            </a:r>
            <a:r>
              <a:rPr lang="en-US" dirty="0">
                <a:sym typeface="Wingdings" panose="05000000000000000000" pitchFamily="2" charset="2"/>
              </a:rPr>
              <a:t> -&gt; (</a:t>
            </a:r>
            <a:r>
              <a:rPr lang="en-US" dirty="0" err="1">
                <a:sym typeface="Wingdings" panose="05000000000000000000" pitchFamily="2" charset="2"/>
              </a:rPr>
              <a:t>foldl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binop</a:t>
            </a:r>
            <a:r>
              <a:rPr lang="en-US" dirty="0">
                <a:sym typeface="Wingdings" panose="05000000000000000000" pitchFamily="2" charset="2"/>
              </a:rPr>
              <a:t> (</a:t>
            </a:r>
            <a:r>
              <a:rPr lang="en-US" dirty="0" err="1">
                <a:sym typeface="Wingdings" panose="05000000000000000000" pitchFamily="2" charset="2"/>
              </a:rPr>
              <a:t>binop</a:t>
            </a:r>
            <a:r>
              <a:rPr lang="en-US" dirty="0">
                <a:sym typeface="Wingdings" panose="05000000000000000000" pitchFamily="2" charset="2"/>
              </a:rPr>
              <a:t> start head) rest)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Apply the binary operation </a:t>
            </a:r>
            <a:r>
              <a:rPr lang="en-US" dirty="0" err="1">
                <a:sym typeface="Wingdings" panose="05000000000000000000" pitchFamily="2" charset="2"/>
              </a:rPr>
              <a:t>binop</a:t>
            </a:r>
            <a:r>
              <a:rPr lang="en-US" dirty="0">
                <a:sym typeface="Wingdings" panose="05000000000000000000" pitchFamily="2" charset="2"/>
              </a:rPr>
              <a:t> from left to right to the list</a:t>
            </a:r>
            <a:r>
              <a:rPr lang="en-US" dirty="0"/>
              <a:t>                       </a:t>
            </a:r>
          </a:p>
        </p:txBody>
      </p:sp>
      <p:sp>
        <p:nvSpPr>
          <p:cNvPr id="5" name="Rectangle 4"/>
          <p:cNvSpPr/>
          <p:nvPr/>
        </p:nvSpPr>
        <p:spPr>
          <a:xfrm>
            <a:off x="4918124" y="4289367"/>
            <a:ext cx="277091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5104017" y="3877120"/>
            <a:ext cx="277091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7" name="Rectangle 6"/>
          <p:cNvSpPr/>
          <p:nvPr/>
        </p:nvSpPr>
        <p:spPr>
          <a:xfrm>
            <a:off x="5314364" y="4289367"/>
            <a:ext cx="277091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9" name="Straight Arrow Connector 8"/>
          <p:cNvCxnSpPr>
            <a:stCxn id="6" idx="2"/>
            <a:endCxn id="5" idx="0"/>
          </p:cNvCxnSpPr>
          <p:nvPr/>
        </p:nvCxnSpPr>
        <p:spPr>
          <a:xfrm flipH="1">
            <a:off x="5056670" y="4159753"/>
            <a:ext cx="185893" cy="129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2"/>
            <a:endCxn id="7" idx="0"/>
          </p:cNvCxnSpPr>
          <p:nvPr/>
        </p:nvCxnSpPr>
        <p:spPr>
          <a:xfrm>
            <a:off x="5242563" y="4159753"/>
            <a:ext cx="210347" cy="129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6700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7703845" cy="1325563"/>
          </a:xfrm>
        </p:spPr>
        <p:txBody>
          <a:bodyPr/>
          <a:lstStyle/>
          <a:p>
            <a:r>
              <a:rPr lang="en-US" dirty="0" err="1"/>
              <a:t>foldl</a:t>
            </a:r>
            <a:r>
              <a:rPr lang="en-US" dirty="0"/>
              <a:t>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494" y="1825625"/>
            <a:ext cx="9761306" cy="1532717"/>
          </a:xfrm>
        </p:spPr>
        <p:txBody>
          <a:bodyPr>
            <a:normAutofit lnSpcReduction="10000"/>
          </a:bodyPr>
          <a:lstStyle/>
          <a:p>
            <a:r>
              <a:rPr lang="en-US" dirty="0" err="1">
                <a:sym typeface="Wingdings" panose="05000000000000000000" pitchFamily="2" charset="2"/>
              </a:rPr>
              <a:t>foldl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binop</a:t>
            </a:r>
            <a:r>
              <a:rPr lang="en-US" dirty="0">
                <a:sym typeface="Wingdings" panose="05000000000000000000" pitchFamily="2" charset="2"/>
              </a:rPr>
              <a:t> start </a:t>
            </a:r>
            <a:r>
              <a:rPr lang="en-US" dirty="0" err="1">
                <a:sym typeface="Wingdings" panose="05000000000000000000" pitchFamily="2" charset="2"/>
              </a:rPr>
              <a:t>lst</a:t>
            </a:r>
            <a:r>
              <a:rPr lang="en-US" dirty="0">
                <a:sym typeface="Wingdings" panose="05000000000000000000" pitchFamily="2" charset="2"/>
              </a:rPr>
              <a:t> = case </a:t>
            </a:r>
            <a:r>
              <a:rPr lang="en-US" dirty="0" err="1">
                <a:sym typeface="Wingdings" panose="05000000000000000000" pitchFamily="2" charset="2"/>
              </a:rPr>
              <a:t>lst</a:t>
            </a:r>
            <a:r>
              <a:rPr lang="en-US" dirty="0">
                <a:sym typeface="Wingdings" panose="05000000000000000000" pitchFamily="2" charset="2"/>
              </a:rPr>
              <a:t> of 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                       []  -&gt; start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                        </a:t>
            </a:r>
            <a:r>
              <a:rPr lang="en-US" dirty="0" err="1">
                <a:sym typeface="Wingdings" panose="05000000000000000000" pitchFamily="2" charset="2"/>
              </a:rPr>
              <a:t>head:rest</a:t>
            </a:r>
            <a:r>
              <a:rPr lang="en-US" dirty="0">
                <a:sym typeface="Wingdings" panose="05000000000000000000" pitchFamily="2" charset="2"/>
              </a:rPr>
              <a:t> -&gt; (</a:t>
            </a:r>
            <a:r>
              <a:rPr lang="en-US" dirty="0" err="1">
                <a:sym typeface="Wingdings" panose="05000000000000000000" pitchFamily="2" charset="2"/>
              </a:rPr>
              <a:t>foldl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binop</a:t>
            </a:r>
            <a:r>
              <a:rPr lang="en-US" dirty="0">
                <a:sym typeface="Wingdings" panose="05000000000000000000" pitchFamily="2" charset="2"/>
              </a:rPr>
              <a:t> (</a:t>
            </a:r>
            <a:r>
              <a:rPr lang="en-US" dirty="0" err="1">
                <a:sym typeface="Wingdings" panose="05000000000000000000" pitchFamily="2" charset="2"/>
              </a:rPr>
              <a:t>binop</a:t>
            </a:r>
            <a:r>
              <a:rPr lang="en-US" dirty="0">
                <a:sym typeface="Wingdings" panose="05000000000000000000" pitchFamily="2" charset="2"/>
              </a:rPr>
              <a:t> start head) rest)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Apply the binary operation </a:t>
            </a:r>
            <a:r>
              <a:rPr lang="en-US" dirty="0" err="1">
                <a:sym typeface="Wingdings" panose="05000000000000000000" pitchFamily="2" charset="2"/>
              </a:rPr>
              <a:t>binop</a:t>
            </a:r>
            <a:r>
              <a:rPr lang="en-US" dirty="0">
                <a:sym typeface="Wingdings" panose="05000000000000000000" pitchFamily="2" charset="2"/>
              </a:rPr>
              <a:t> from left to right to the list</a:t>
            </a:r>
            <a:r>
              <a:rPr lang="en-US" dirty="0"/>
              <a:t>                       </a:t>
            </a:r>
          </a:p>
        </p:txBody>
      </p:sp>
      <p:sp>
        <p:nvSpPr>
          <p:cNvPr id="5" name="Rectangle 4"/>
          <p:cNvSpPr/>
          <p:nvPr/>
        </p:nvSpPr>
        <p:spPr>
          <a:xfrm>
            <a:off x="4918124" y="4289367"/>
            <a:ext cx="277091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6" name="Rectangle 5"/>
          <p:cNvSpPr/>
          <p:nvPr/>
        </p:nvSpPr>
        <p:spPr>
          <a:xfrm>
            <a:off x="5104017" y="3877120"/>
            <a:ext cx="277091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7" name="Rectangle 6"/>
          <p:cNvSpPr/>
          <p:nvPr/>
        </p:nvSpPr>
        <p:spPr>
          <a:xfrm>
            <a:off x="5314364" y="4289367"/>
            <a:ext cx="277091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9" name="Straight Arrow Connector 8"/>
          <p:cNvCxnSpPr>
            <a:stCxn id="6" idx="2"/>
            <a:endCxn id="5" idx="0"/>
          </p:cNvCxnSpPr>
          <p:nvPr/>
        </p:nvCxnSpPr>
        <p:spPr>
          <a:xfrm flipH="1">
            <a:off x="5056670" y="4159753"/>
            <a:ext cx="185893" cy="129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2"/>
            <a:endCxn id="7" idx="0"/>
          </p:cNvCxnSpPr>
          <p:nvPr/>
        </p:nvCxnSpPr>
        <p:spPr>
          <a:xfrm>
            <a:off x="5242563" y="4159753"/>
            <a:ext cx="210347" cy="129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735403" y="4701614"/>
            <a:ext cx="277091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31643" y="4701614"/>
            <a:ext cx="277091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3" name="Straight Arrow Connector 12"/>
          <p:cNvCxnSpPr>
            <a:endCxn id="10" idx="0"/>
          </p:cNvCxnSpPr>
          <p:nvPr/>
        </p:nvCxnSpPr>
        <p:spPr>
          <a:xfrm flipH="1">
            <a:off x="4873949" y="4572000"/>
            <a:ext cx="185893" cy="129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12" idx="0"/>
          </p:cNvCxnSpPr>
          <p:nvPr/>
        </p:nvCxnSpPr>
        <p:spPr>
          <a:xfrm>
            <a:off x="5059842" y="4572000"/>
            <a:ext cx="210347" cy="129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912768" y="3797411"/>
            <a:ext cx="23614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foldl</a:t>
            </a:r>
            <a:r>
              <a:rPr lang="en-US" sz="2400" dirty="0"/>
              <a:t> (+)        3:4:[]</a:t>
            </a:r>
          </a:p>
        </p:txBody>
      </p:sp>
    </p:spTree>
    <p:extLst>
      <p:ext uri="{BB962C8B-B14F-4D97-AF65-F5344CB8AC3E}">
        <p14:creationId xmlns:p14="http://schemas.microsoft.com/office/powerpoint/2010/main" val="908452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7703845" cy="1325563"/>
          </a:xfrm>
        </p:spPr>
        <p:txBody>
          <a:bodyPr/>
          <a:lstStyle/>
          <a:p>
            <a:r>
              <a:rPr lang="en-US" dirty="0" err="1"/>
              <a:t>foldl</a:t>
            </a:r>
            <a:r>
              <a:rPr lang="en-US" dirty="0"/>
              <a:t>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494" y="1825625"/>
            <a:ext cx="9761306" cy="1532717"/>
          </a:xfrm>
        </p:spPr>
        <p:txBody>
          <a:bodyPr>
            <a:normAutofit lnSpcReduction="10000"/>
          </a:bodyPr>
          <a:lstStyle/>
          <a:p>
            <a:r>
              <a:rPr lang="en-US" dirty="0" err="1">
                <a:sym typeface="Wingdings" panose="05000000000000000000" pitchFamily="2" charset="2"/>
              </a:rPr>
              <a:t>foldl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binop</a:t>
            </a:r>
            <a:r>
              <a:rPr lang="en-US" dirty="0">
                <a:sym typeface="Wingdings" panose="05000000000000000000" pitchFamily="2" charset="2"/>
              </a:rPr>
              <a:t> start </a:t>
            </a:r>
            <a:r>
              <a:rPr lang="en-US" dirty="0" err="1">
                <a:sym typeface="Wingdings" panose="05000000000000000000" pitchFamily="2" charset="2"/>
              </a:rPr>
              <a:t>lst</a:t>
            </a:r>
            <a:r>
              <a:rPr lang="en-US" dirty="0">
                <a:sym typeface="Wingdings" panose="05000000000000000000" pitchFamily="2" charset="2"/>
              </a:rPr>
              <a:t> = case </a:t>
            </a:r>
            <a:r>
              <a:rPr lang="en-US" dirty="0" err="1">
                <a:sym typeface="Wingdings" panose="05000000000000000000" pitchFamily="2" charset="2"/>
              </a:rPr>
              <a:t>lst</a:t>
            </a:r>
            <a:r>
              <a:rPr lang="en-US" dirty="0">
                <a:sym typeface="Wingdings" panose="05000000000000000000" pitchFamily="2" charset="2"/>
              </a:rPr>
              <a:t> of 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                       []  -&gt; start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                        </a:t>
            </a:r>
            <a:r>
              <a:rPr lang="en-US" dirty="0" err="1">
                <a:sym typeface="Wingdings" panose="05000000000000000000" pitchFamily="2" charset="2"/>
              </a:rPr>
              <a:t>head:rest</a:t>
            </a:r>
            <a:r>
              <a:rPr lang="en-US" dirty="0">
                <a:sym typeface="Wingdings" panose="05000000000000000000" pitchFamily="2" charset="2"/>
              </a:rPr>
              <a:t> -&gt; (</a:t>
            </a:r>
            <a:r>
              <a:rPr lang="en-US" dirty="0" err="1">
                <a:sym typeface="Wingdings" panose="05000000000000000000" pitchFamily="2" charset="2"/>
              </a:rPr>
              <a:t>foldl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binop</a:t>
            </a:r>
            <a:r>
              <a:rPr lang="en-US" dirty="0">
                <a:sym typeface="Wingdings" panose="05000000000000000000" pitchFamily="2" charset="2"/>
              </a:rPr>
              <a:t> (</a:t>
            </a:r>
            <a:r>
              <a:rPr lang="en-US" dirty="0" err="1">
                <a:sym typeface="Wingdings" panose="05000000000000000000" pitchFamily="2" charset="2"/>
              </a:rPr>
              <a:t>binop</a:t>
            </a:r>
            <a:r>
              <a:rPr lang="en-US" dirty="0">
                <a:sym typeface="Wingdings" panose="05000000000000000000" pitchFamily="2" charset="2"/>
              </a:rPr>
              <a:t> start head) rest)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Apply the binary operation </a:t>
            </a:r>
            <a:r>
              <a:rPr lang="en-US" dirty="0" err="1">
                <a:sym typeface="Wingdings" panose="05000000000000000000" pitchFamily="2" charset="2"/>
              </a:rPr>
              <a:t>binop</a:t>
            </a:r>
            <a:r>
              <a:rPr lang="en-US" dirty="0">
                <a:sym typeface="Wingdings" panose="05000000000000000000" pitchFamily="2" charset="2"/>
              </a:rPr>
              <a:t> from left to right to the list</a:t>
            </a:r>
            <a:r>
              <a:rPr lang="en-US" dirty="0"/>
              <a:t>                       </a:t>
            </a:r>
          </a:p>
        </p:txBody>
      </p:sp>
      <p:sp>
        <p:nvSpPr>
          <p:cNvPr id="6" name="Rectangle 5"/>
          <p:cNvSpPr/>
          <p:nvPr/>
        </p:nvSpPr>
        <p:spPr>
          <a:xfrm>
            <a:off x="5104017" y="3877120"/>
            <a:ext cx="277091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7" name="Rectangle 6"/>
          <p:cNvSpPr/>
          <p:nvPr/>
        </p:nvSpPr>
        <p:spPr>
          <a:xfrm>
            <a:off x="5314364" y="4289367"/>
            <a:ext cx="277091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9" name="Straight Arrow Connector 8"/>
          <p:cNvCxnSpPr>
            <a:stCxn id="6" idx="2"/>
            <a:endCxn id="5" idx="0"/>
          </p:cNvCxnSpPr>
          <p:nvPr/>
        </p:nvCxnSpPr>
        <p:spPr>
          <a:xfrm flipH="1">
            <a:off x="5056670" y="4159753"/>
            <a:ext cx="185893" cy="129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2"/>
            <a:endCxn id="7" idx="0"/>
          </p:cNvCxnSpPr>
          <p:nvPr/>
        </p:nvCxnSpPr>
        <p:spPr>
          <a:xfrm>
            <a:off x="5242563" y="4159753"/>
            <a:ext cx="210347" cy="129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32231" y="4698952"/>
            <a:ext cx="277091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18124" y="4286705"/>
            <a:ext cx="277091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8471" y="4698952"/>
            <a:ext cx="277091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8" name="Straight Arrow Connector 17"/>
          <p:cNvCxnSpPr>
            <a:stCxn id="16" idx="2"/>
            <a:endCxn id="15" idx="0"/>
          </p:cNvCxnSpPr>
          <p:nvPr/>
        </p:nvCxnSpPr>
        <p:spPr>
          <a:xfrm flipH="1">
            <a:off x="4870777" y="4569338"/>
            <a:ext cx="185893" cy="129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6" idx="2"/>
            <a:endCxn id="17" idx="0"/>
          </p:cNvCxnSpPr>
          <p:nvPr/>
        </p:nvCxnSpPr>
        <p:spPr>
          <a:xfrm>
            <a:off x="5056670" y="4569338"/>
            <a:ext cx="210347" cy="129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549510" y="5111199"/>
            <a:ext cx="277091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45750" y="5111199"/>
            <a:ext cx="277091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22" name="Straight Arrow Connector 21"/>
          <p:cNvCxnSpPr>
            <a:endCxn id="20" idx="0"/>
          </p:cNvCxnSpPr>
          <p:nvPr/>
        </p:nvCxnSpPr>
        <p:spPr>
          <a:xfrm flipH="1">
            <a:off x="4688056" y="4981585"/>
            <a:ext cx="185893" cy="129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endCxn id="21" idx="0"/>
          </p:cNvCxnSpPr>
          <p:nvPr/>
        </p:nvCxnSpPr>
        <p:spPr>
          <a:xfrm>
            <a:off x="4873949" y="4981585"/>
            <a:ext cx="210347" cy="129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912768" y="3797411"/>
            <a:ext cx="21242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foldl</a:t>
            </a:r>
            <a:r>
              <a:rPr lang="en-US" sz="2400" dirty="0"/>
              <a:t> (+)        4:[]</a:t>
            </a:r>
          </a:p>
        </p:txBody>
      </p:sp>
    </p:spTree>
    <p:extLst>
      <p:ext uri="{BB962C8B-B14F-4D97-AF65-F5344CB8AC3E}">
        <p14:creationId xmlns:p14="http://schemas.microsoft.com/office/powerpoint/2010/main" val="3181656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7703845" cy="1325563"/>
          </a:xfrm>
        </p:spPr>
        <p:txBody>
          <a:bodyPr/>
          <a:lstStyle/>
          <a:p>
            <a:r>
              <a:rPr lang="en-US" dirty="0" err="1"/>
              <a:t>foldl</a:t>
            </a:r>
            <a:r>
              <a:rPr lang="en-US" dirty="0"/>
              <a:t>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494" y="1825625"/>
            <a:ext cx="9761306" cy="1532717"/>
          </a:xfrm>
        </p:spPr>
        <p:txBody>
          <a:bodyPr>
            <a:normAutofit lnSpcReduction="10000"/>
          </a:bodyPr>
          <a:lstStyle/>
          <a:p>
            <a:r>
              <a:rPr lang="en-US" dirty="0" err="1">
                <a:sym typeface="Wingdings" panose="05000000000000000000" pitchFamily="2" charset="2"/>
              </a:rPr>
              <a:t>foldl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binop</a:t>
            </a:r>
            <a:r>
              <a:rPr lang="en-US" dirty="0">
                <a:sym typeface="Wingdings" panose="05000000000000000000" pitchFamily="2" charset="2"/>
              </a:rPr>
              <a:t> start </a:t>
            </a:r>
            <a:r>
              <a:rPr lang="en-US" dirty="0" err="1">
                <a:sym typeface="Wingdings" panose="05000000000000000000" pitchFamily="2" charset="2"/>
              </a:rPr>
              <a:t>lst</a:t>
            </a:r>
            <a:r>
              <a:rPr lang="en-US" dirty="0">
                <a:sym typeface="Wingdings" panose="05000000000000000000" pitchFamily="2" charset="2"/>
              </a:rPr>
              <a:t> = case </a:t>
            </a:r>
            <a:r>
              <a:rPr lang="en-US" dirty="0" err="1">
                <a:sym typeface="Wingdings" panose="05000000000000000000" pitchFamily="2" charset="2"/>
              </a:rPr>
              <a:t>lst</a:t>
            </a:r>
            <a:r>
              <a:rPr lang="en-US" dirty="0">
                <a:sym typeface="Wingdings" panose="05000000000000000000" pitchFamily="2" charset="2"/>
              </a:rPr>
              <a:t> of 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                       []  -&gt; start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                        </a:t>
            </a:r>
            <a:r>
              <a:rPr lang="en-US" dirty="0" err="1">
                <a:sym typeface="Wingdings" panose="05000000000000000000" pitchFamily="2" charset="2"/>
              </a:rPr>
              <a:t>head:rest</a:t>
            </a:r>
            <a:r>
              <a:rPr lang="en-US" dirty="0">
                <a:sym typeface="Wingdings" panose="05000000000000000000" pitchFamily="2" charset="2"/>
              </a:rPr>
              <a:t> -&gt; (</a:t>
            </a:r>
            <a:r>
              <a:rPr lang="en-US" dirty="0" err="1">
                <a:sym typeface="Wingdings" panose="05000000000000000000" pitchFamily="2" charset="2"/>
              </a:rPr>
              <a:t>foldl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binop</a:t>
            </a:r>
            <a:r>
              <a:rPr lang="en-US" dirty="0">
                <a:sym typeface="Wingdings" panose="05000000000000000000" pitchFamily="2" charset="2"/>
              </a:rPr>
              <a:t> (</a:t>
            </a:r>
            <a:r>
              <a:rPr lang="en-US" dirty="0" err="1">
                <a:sym typeface="Wingdings" panose="05000000000000000000" pitchFamily="2" charset="2"/>
              </a:rPr>
              <a:t>binop</a:t>
            </a:r>
            <a:r>
              <a:rPr lang="en-US" dirty="0">
                <a:sym typeface="Wingdings" panose="05000000000000000000" pitchFamily="2" charset="2"/>
              </a:rPr>
              <a:t> start head) rest)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Apply the binary operation </a:t>
            </a:r>
            <a:r>
              <a:rPr lang="en-US" dirty="0" err="1">
                <a:sym typeface="Wingdings" panose="05000000000000000000" pitchFamily="2" charset="2"/>
              </a:rPr>
              <a:t>binop</a:t>
            </a:r>
            <a:r>
              <a:rPr lang="en-US" dirty="0">
                <a:sym typeface="Wingdings" panose="05000000000000000000" pitchFamily="2" charset="2"/>
              </a:rPr>
              <a:t> from left to right to the list</a:t>
            </a:r>
            <a:r>
              <a:rPr lang="en-US" dirty="0"/>
              <a:t>                       </a:t>
            </a:r>
          </a:p>
        </p:txBody>
      </p:sp>
      <p:sp>
        <p:nvSpPr>
          <p:cNvPr id="6" name="Rectangle 5"/>
          <p:cNvSpPr/>
          <p:nvPr/>
        </p:nvSpPr>
        <p:spPr>
          <a:xfrm>
            <a:off x="5104017" y="3877120"/>
            <a:ext cx="277091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7" name="Rectangle 6"/>
          <p:cNvSpPr/>
          <p:nvPr/>
        </p:nvSpPr>
        <p:spPr>
          <a:xfrm>
            <a:off x="5314364" y="4289367"/>
            <a:ext cx="277091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9" name="Straight Arrow Connector 8"/>
          <p:cNvCxnSpPr>
            <a:stCxn id="6" idx="2"/>
            <a:endCxn id="5" idx="0"/>
          </p:cNvCxnSpPr>
          <p:nvPr/>
        </p:nvCxnSpPr>
        <p:spPr>
          <a:xfrm flipH="1">
            <a:off x="5056670" y="4159753"/>
            <a:ext cx="185893" cy="129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2"/>
            <a:endCxn id="7" idx="0"/>
          </p:cNvCxnSpPr>
          <p:nvPr/>
        </p:nvCxnSpPr>
        <p:spPr>
          <a:xfrm>
            <a:off x="5242563" y="4159753"/>
            <a:ext cx="210347" cy="129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918124" y="4289367"/>
            <a:ext cx="277091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8471" y="4701614"/>
            <a:ext cx="277091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27" name="Straight Arrow Connector 26"/>
          <p:cNvCxnSpPr>
            <a:stCxn id="25" idx="2"/>
          </p:cNvCxnSpPr>
          <p:nvPr/>
        </p:nvCxnSpPr>
        <p:spPr>
          <a:xfrm flipH="1">
            <a:off x="4870777" y="4572000"/>
            <a:ext cx="185893" cy="129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5" idx="2"/>
            <a:endCxn id="26" idx="0"/>
          </p:cNvCxnSpPr>
          <p:nvPr/>
        </p:nvCxnSpPr>
        <p:spPr>
          <a:xfrm>
            <a:off x="5056670" y="4572000"/>
            <a:ext cx="210347" cy="129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4546338" y="5111199"/>
            <a:ext cx="277091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32231" y="4698952"/>
            <a:ext cx="277091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42578" y="5111199"/>
            <a:ext cx="277091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32" name="Straight Arrow Connector 31"/>
          <p:cNvCxnSpPr>
            <a:stCxn id="30" idx="2"/>
            <a:endCxn id="29" idx="0"/>
          </p:cNvCxnSpPr>
          <p:nvPr/>
        </p:nvCxnSpPr>
        <p:spPr>
          <a:xfrm flipH="1">
            <a:off x="4684884" y="4981585"/>
            <a:ext cx="185893" cy="129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30" idx="2"/>
            <a:endCxn id="31" idx="0"/>
          </p:cNvCxnSpPr>
          <p:nvPr/>
        </p:nvCxnSpPr>
        <p:spPr>
          <a:xfrm>
            <a:off x="4870777" y="4981585"/>
            <a:ext cx="210347" cy="129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4363617" y="5523446"/>
            <a:ext cx="277091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9857" y="5523446"/>
            <a:ext cx="277091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36" name="Straight Arrow Connector 35"/>
          <p:cNvCxnSpPr>
            <a:endCxn id="34" idx="0"/>
          </p:cNvCxnSpPr>
          <p:nvPr/>
        </p:nvCxnSpPr>
        <p:spPr>
          <a:xfrm flipH="1">
            <a:off x="4502163" y="5393832"/>
            <a:ext cx="185893" cy="129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35" idx="0"/>
          </p:cNvCxnSpPr>
          <p:nvPr/>
        </p:nvCxnSpPr>
        <p:spPr>
          <a:xfrm>
            <a:off x="4688056" y="5393832"/>
            <a:ext cx="210347" cy="129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912768" y="3797411"/>
            <a:ext cx="18869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foldl</a:t>
            </a:r>
            <a:r>
              <a:rPr lang="en-US" sz="2400" dirty="0"/>
              <a:t> (+)        []</a:t>
            </a:r>
          </a:p>
        </p:txBody>
      </p:sp>
    </p:spTree>
    <p:extLst>
      <p:ext uri="{BB962C8B-B14F-4D97-AF65-F5344CB8AC3E}">
        <p14:creationId xmlns:p14="http://schemas.microsoft.com/office/powerpoint/2010/main" val="2795080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7703845" cy="1325563"/>
          </a:xfrm>
        </p:spPr>
        <p:txBody>
          <a:bodyPr/>
          <a:lstStyle/>
          <a:p>
            <a:r>
              <a:rPr lang="en-US" dirty="0" err="1"/>
              <a:t>foldl</a:t>
            </a:r>
            <a:r>
              <a:rPr lang="en-US" dirty="0"/>
              <a:t>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494" y="1825625"/>
            <a:ext cx="9761306" cy="1532717"/>
          </a:xfrm>
        </p:spPr>
        <p:txBody>
          <a:bodyPr>
            <a:normAutofit lnSpcReduction="10000"/>
          </a:bodyPr>
          <a:lstStyle/>
          <a:p>
            <a:r>
              <a:rPr lang="en-US" dirty="0" err="1">
                <a:sym typeface="Wingdings" panose="05000000000000000000" pitchFamily="2" charset="2"/>
              </a:rPr>
              <a:t>foldl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binop</a:t>
            </a:r>
            <a:r>
              <a:rPr lang="en-US" dirty="0">
                <a:sym typeface="Wingdings" panose="05000000000000000000" pitchFamily="2" charset="2"/>
              </a:rPr>
              <a:t> start </a:t>
            </a:r>
            <a:r>
              <a:rPr lang="en-US" dirty="0" err="1">
                <a:sym typeface="Wingdings" panose="05000000000000000000" pitchFamily="2" charset="2"/>
              </a:rPr>
              <a:t>lst</a:t>
            </a:r>
            <a:r>
              <a:rPr lang="en-US" dirty="0">
                <a:sym typeface="Wingdings" panose="05000000000000000000" pitchFamily="2" charset="2"/>
              </a:rPr>
              <a:t> = case </a:t>
            </a:r>
            <a:r>
              <a:rPr lang="en-US" dirty="0" err="1">
                <a:sym typeface="Wingdings" panose="05000000000000000000" pitchFamily="2" charset="2"/>
              </a:rPr>
              <a:t>lst</a:t>
            </a:r>
            <a:r>
              <a:rPr lang="en-US" dirty="0">
                <a:sym typeface="Wingdings" panose="05000000000000000000" pitchFamily="2" charset="2"/>
              </a:rPr>
              <a:t> of 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                       []  -&gt; start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                        </a:t>
            </a:r>
            <a:r>
              <a:rPr lang="en-US" dirty="0" err="1">
                <a:sym typeface="Wingdings" panose="05000000000000000000" pitchFamily="2" charset="2"/>
              </a:rPr>
              <a:t>head:rest</a:t>
            </a:r>
            <a:r>
              <a:rPr lang="en-US" dirty="0">
                <a:sym typeface="Wingdings" panose="05000000000000000000" pitchFamily="2" charset="2"/>
              </a:rPr>
              <a:t> -&gt; (</a:t>
            </a:r>
            <a:r>
              <a:rPr lang="en-US" dirty="0" err="1">
                <a:sym typeface="Wingdings" panose="05000000000000000000" pitchFamily="2" charset="2"/>
              </a:rPr>
              <a:t>foldl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binop</a:t>
            </a:r>
            <a:r>
              <a:rPr lang="en-US" dirty="0">
                <a:sym typeface="Wingdings" panose="05000000000000000000" pitchFamily="2" charset="2"/>
              </a:rPr>
              <a:t> (</a:t>
            </a:r>
            <a:r>
              <a:rPr lang="en-US" dirty="0" err="1">
                <a:sym typeface="Wingdings" panose="05000000000000000000" pitchFamily="2" charset="2"/>
              </a:rPr>
              <a:t>binop</a:t>
            </a:r>
            <a:r>
              <a:rPr lang="en-US" dirty="0">
                <a:sym typeface="Wingdings" panose="05000000000000000000" pitchFamily="2" charset="2"/>
              </a:rPr>
              <a:t> start head) rest)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Apply the binary operation </a:t>
            </a:r>
            <a:r>
              <a:rPr lang="en-US" dirty="0" err="1">
                <a:sym typeface="Wingdings" panose="05000000000000000000" pitchFamily="2" charset="2"/>
              </a:rPr>
              <a:t>binop</a:t>
            </a:r>
            <a:r>
              <a:rPr lang="en-US" dirty="0">
                <a:sym typeface="Wingdings" panose="05000000000000000000" pitchFamily="2" charset="2"/>
              </a:rPr>
              <a:t> from left to right to the list</a:t>
            </a:r>
            <a:r>
              <a:rPr lang="en-US" dirty="0"/>
              <a:t>                       </a:t>
            </a:r>
          </a:p>
        </p:txBody>
      </p:sp>
      <p:sp>
        <p:nvSpPr>
          <p:cNvPr id="6" name="Rectangle 5"/>
          <p:cNvSpPr/>
          <p:nvPr/>
        </p:nvSpPr>
        <p:spPr>
          <a:xfrm>
            <a:off x="5104017" y="3877120"/>
            <a:ext cx="277091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7" name="Rectangle 6"/>
          <p:cNvSpPr/>
          <p:nvPr/>
        </p:nvSpPr>
        <p:spPr>
          <a:xfrm>
            <a:off x="5314364" y="4289367"/>
            <a:ext cx="277091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9" name="Straight Arrow Connector 8"/>
          <p:cNvCxnSpPr>
            <a:stCxn id="6" idx="2"/>
            <a:endCxn id="5" idx="0"/>
          </p:cNvCxnSpPr>
          <p:nvPr/>
        </p:nvCxnSpPr>
        <p:spPr>
          <a:xfrm flipH="1">
            <a:off x="5056670" y="4159753"/>
            <a:ext cx="185893" cy="129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2"/>
            <a:endCxn id="7" idx="0"/>
          </p:cNvCxnSpPr>
          <p:nvPr/>
        </p:nvCxnSpPr>
        <p:spPr>
          <a:xfrm>
            <a:off x="5242563" y="4159753"/>
            <a:ext cx="210347" cy="129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4918124" y="4289367"/>
            <a:ext cx="277091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8471" y="4701614"/>
            <a:ext cx="277091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27" name="Straight Arrow Connector 26"/>
          <p:cNvCxnSpPr>
            <a:stCxn id="25" idx="2"/>
          </p:cNvCxnSpPr>
          <p:nvPr/>
        </p:nvCxnSpPr>
        <p:spPr>
          <a:xfrm flipH="1">
            <a:off x="4870777" y="4572000"/>
            <a:ext cx="185893" cy="129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5" idx="2"/>
            <a:endCxn id="26" idx="0"/>
          </p:cNvCxnSpPr>
          <p:nvPr/>
        </p:nvCxnSpPr>
        <p:spPr>
          <a:xfrm>
            <a:off x="5056670" y="4572000"/>
            <a:ext cx="210347" cy="129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4546338" y="5111199"/>
            <a:ext cx="277091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32231" y="4698952"/>
            <a:ext cx="277091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42578" y="5111199"/>
            <a:ext cx="277091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32" name="Straight Arrow Connector 31"/>
          <p:cNvCxnSpPr>
            <a:stCxn id="30" idx="2"/>
            <a:endCxn id="29" idx="0"/>
          </p:cNvCxnSpPr>
          <p:nvPr/>
        </p:nvCxnSpPr>
        <p:spPr>
          <a:xfrm flipH="1">
            <a:off x="4684884" y="4981585"/>
            <a:ext cx="185893" cy="129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30" idx="2"/>
            <a:endCxn id="31" idx="0"/>
          </p:cNvCxnSpPr>
          <p:nvPr/>
        </p:nvCxnSpPr>
        <p:spPr>
          <a:xfrm>
            <a:off x="4870777" y="4981585"/>
            <a:ext cx="210347" cy="129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4363617" y="5523446"/>
            <a:ext cx="277091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9857" y="5523446"/>
            <a:ext cx="277091" cy="282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36" name="Straight Arrow Connector 35"/>
          <p:cNvCxnSpPr>
            <a:endCxn id="34" idx="0"/>
          </p:cNvCxnSpPr>
          <p:nvPr/>
        </p:nvCxnSpPr>
        <p:spPr>
          <a:xfrm flipH="1">
            <a:off x="4502163" y="5393832"/>
            <a:ext cx="185893" cy="129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35" idx="0"/>
          </p:cNvCxnSpPr>
          <p:nvPr/>
        </p:nvCxnSpPr>
        <p:spPr>
          <a:xfrm>
            <a:off x="4688056" y="5393832"/>
            <a:ext cx="210347" cy="129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4814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71500" indent="-571500" defTabSz="584200" hangingPunct="0">
              <a:lnSpc>
                <a:spcPct val="150000"/>
              </a:lnSpc>
              <a:spcBef>
                <a:spcPts val="0"/>
              </a:spcBef>
              <a:buClrTx/>
              <a:buSzTx/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sym typeface="Helvetica Light"/>
              </a:rPr>
              <a:t>Teacher has a gradebook</a:t>
            </a:r>
          </a:p>
          <a:p>
            <a:pPr marL="571500" indent="-571500" defTabSz="584200" hangingPunct="0">
              <a:lnSpc>
                <a:spcPct val="150000"/>
              </a:lnSpc>
              <a:spcBef>
                <a:spcPts val="0"/>
              </a:spcBef>
              <a:buClrTx/>
              <a:buSzTx/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</a:rPr>
              <a:t>Wants to drop the lowest score for each student</a:t>
            </a:r>
          </a:p>
          <a:p>
            <a:pPr marL="571500" indent="-571500" defTabSz="584200" hangingPunct="0">
              <a:lnSpc>
                <a:spcPct val="150000"/>
              </a:lnSpc>
              <a:spcBef>
                <a:spcPts val="0"/>
              </a:spcBef>
              <a:buClrTx/>
              <a:buSzTx/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</a:rPr>
              <a:t>Needs a program to do this operation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790824"/>
              </p:ext>
            </p:extLst>
          </p:nvPr>
        </p:nvGraphicFramePr>
        <p:xfrm>
          <a:off x="6207108" y="1399473"/>
          <a:ext cx="5264456" cy="4976734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214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1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44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46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31357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Midterm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Midterm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Final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8459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Student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8459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Student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8459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Student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4000" dirty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Multiply 5"/>
          <p:cNvSpPr/>
          <p:nvPr/>
        </p:nvSpPr>
        <p:spPr>
          <a:xfrm>
            <a:off x="7429226" y="2947486"/>
            <a:ext cx="624426" cy="573353"/>
          </a:xfrm>
          <a:prstGeom prst="mathMultiply">
            <a:avLst/>
          </a:prstGeom>
          <a:solidFill>
            <a:schemeClr val="accent2">
              <a:lumMod val="75000"/>
              <a:alpha val="54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7" name="Multiply 6"/>
          <p:cNvSpPr/>
          <p:nvPr/>
        </p:nvSpPr>
        <p:spPr>
          <a:xfrm>
            <a:off x="8913571" y="4220242"/>
            <a:ext cx="624426" cy="573353"/>
          </a:xfrm>
          <a:prstGeom prst="mathMultiply">
            <a:avLst/>
          </a:prstGeom>
          <a:solidFill>
            <a:schemeClr val="accent2">
              <a:lumMod val="75000"/>
              <a:alpha val="54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8" name="Multiply 7"/>
          <p:cNvSpPr/>
          <p:nvPr/>
        </p:nvSpPr>
        <p:spPr>
          <a:xfrm>
            <a:off x="7429226" y="5453341"/>
            <a:ext cx="624426" cy="573353"/>
          </a:xfrm>
          <a:prstGeom prst="mathMultiply">
            <a:avLst/>
          </a:prstGeom>
          <a:solidFill>
            <a:schemeClr val="accent2">
              <a:lumMod val="75000"/>
              <a:alpha val="54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alt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401223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Drop the smallest element from each list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177694" y="4430784"/>
            <a:ext cx="644577" cy="719528"/>
          </a:xfrm>
          <a:prstGeom prst="rightArrow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391855" y="3726275"/>
                <a:ext cx="4018023" cy="20487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4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4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4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4000" b="0" i="1" smtClean="0">
                                              <a:latin typeface="Cambria Math" panose="02040503050406030204" pitchFamily="18" charset="0"/>
                                            </a:rPr>
                                            <m:t>7</m:t>
                                          </m:r>
                                          <m:r>
                                            <a:rPr lang="en-US" sz="4000" b="0" i="1" smtClean="0">
                                              <a:latin typeface="Cambria Math" panose="02040503050406030204" pitchFamily="18" charset="0"/>
                                            </a:rPr>
                                            <m:t>1,</m:t>
                                          </m:r>
                                        </m:e>
                                        <m:e>
                                          <m:r>
                                            <a:rPr lang="en-US" sz="4000" b="0" i="1" smtClean="0">
                                              <a:latin typeface="Cambria Math" panose="02040503050406030204" pitchFamily="18" charset="0"/>
                                            </a:rPr>
                                            <m:t>75,</m:t>
                                          </m:r>
                                        </m:e>
                                        <m:e>
                                          <m:r>
                                            <a:rPr lang="en-US" sz="4000" b="0" i="1" smtClean="0">
                                              <a:latin typeface="Cambria Math" panose="02040503050406030204" pitchFamily="18" charset="0"/>
                                            </a:rPr>
                                            <m:t>83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4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4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4000" b="0" i="1" smtClean="0">
                                              <a:latin typeface="Cambria Math" panose="02040503050406030204" pitchFamily="18" charset="0"/>
                                            </a:rPr>
                                            <m:t>9</m:t>
                                          </m:r>
                                          <m:r>
                                            <a:rPr lang="en-US" sz="4000" b="0" i="1" smtClean="0">
                                              <a:latin typeface="Cambria Math" panose="02040503050406030204" pitchFamily="18" charset="0"/>
                                            </a:rPr>
                                            <m:t>0,</m:t>
                                          </m:r>
                                        </m:e>
                                        <m:e>
                                          <m:r>
                                            <a:rPr lang="en-US" sz="4000" b="0" i="1" smtClean="0">
                                              <a:latin typeface="Cambria Math" panose="02040503050406030204" pitchFamily="18" charset="0"/>
                                            </a:rPr>
                                            <m:t>87,</m:t>
                                          </m:r>
                                        </m:e>
                                        <m:e>
                                          <m:r>
                                            <a:rPr lang="en-US" sz="4000" b="0" i="1" smtClean="0">
                                              <a:latin typeface="Cambria Math" panose="02040503050406030204" pitchFamily="18" charset="0"/>
                                            </a:rPr>
                                            <m:t>95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4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4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4000" b="0" i="1" smtClean="0">
                                              <a:latin typeface="Cambria Math" panose="02040503050406030204" pitchFamily="18" charset="0"/>
                                            </a:rPr>
                                            <m:t>6</m:t>
                                          </m:r>
                                          <m:r>
                                            <a:rPr lang="en-US" sz="4000" b="0" i="1" smtClean="0">
                                              <a:latin typeface="Cambria Math" panose="02040503050406030204" pitchFamily="18" charset="0"/>
                                            </a:rPr>
                                            <m:t>8,</m:t>
                                          </m:r>
                                        </m:e>
                                        <m:e>
                                          <m:r>
                                            <a:rPr lang="en-US" sz="4000" b="0" i="1" smtClean="0">
                                              <a:latin typeface="Cambria Math" panose="02040503050406030204" pitchFamily="18" charset="0"/>
                                            </a:rPr>
                                            <m:t>77,</m:t>
                                          </m:r>
                                        </m:e>
                                        <m:e>
                                          <m:r>
                                            <a:rPr lang="en-US" sz="4000" b="0" i="1" smtClean="0">
                                              <a:latin typeface="Cambria Math" panose="02040503050406030204" pitchFamily="18" charset="0"/>
                                            </a:rPr>
                                            <m:t>80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855" y="3726275"/>
                <a:ext cx="4018023" cy="20487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337660" y="3726275"/>
                <a:ext cx="2831801" cy="20487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4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4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4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4000" b="0" i="1" smtClean="0">
                                              <a:latin typeface="Cambria Math" panose="02040503050406030204" pitchFamily="18" charset="0"/>
                                            </a:rPr>
                                            <m:t>7</m:t>
                                          </m:r>
                                          <m:r>
                                            <a:rPr lang="en-US" sz="4000" b="0" i="1" smtClean="0">
                                              <a:latin typeface="Cambria Math" panose="02040503050406030204" pitchFamily="18" charset="0"/>
                                            </a:rPr>
                                            <m:t>5,</m:t>
                                          </m:r>
                                        </m:e>
                                        <m:e>
                                          <m:r>
                                            <a:rPr lang="en-US" sz="4000" b="0" i="1" smtClean="0">
                                              <a:latin typeface="Cambria Math" panose="02040503050406030204" pitchFamily="18" charset="0"/>
                                            </a:rPr>
                                            <m:t>83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4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4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4000" b="0" i="1" smtClean="0">
                                              <a:latin typeface="Cambria Math" panose="02040503050406030204" pitchFamily="18" charset="0"/>
                                            </a:rPr>
                                            <m:t>9</m:t>
                                          </m:r>
                                          <m:r>
                                            <a:rPr lang="en-US" sz="40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sz="4000" b="0" i="1" smtClean="0">
                                              <a:latin typeface="Cambria Math" panose="02040503050406030204" pitchFamily="18" charset="0"/>
                                            </a:rPr>
                                            <m:t>95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4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4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4000" b="0" i="1" smtClean="0">
                                              <a:latin typeface="Cambria Math" panose="02040503050406030204" pitchFamily="18" charset="0"/>
                                            </a:rPr>
                                            <m:t>7</m:t>
                                          </m:r>
                                          <m:r>
                                            <a:rPr lang="en-US" sz="4000" b="0" i="1" smtClean="0">
                                              <a:latin typeface="Cambria Math" panose="02040503050406030204" pitchFamily="18" charset="0"/>
                                            </a:rPr>
                                            <m:t>7</m:t>
                                          </m:r>
                                        </m:e>
                                        <m:e>
                                          <m:r>
                                            <a:rPr lang="en-US" sz="4000" b="0" i="1" smtClean="0">
                                              <a:latin typeface="Cambria Math" panose="02040503050406030204" pitchFamily="18" charset="0"/>
                                            </a:rPr>
                                            <m:t>80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7660" y="3726275"/>
                <a:ext cx="2831801" cy="20487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904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734348" y="1961190"/>
            <a:ext cx="644577" cy="815181"/>
          </a:xfrm>
          <a:prstGeom prst="rightArrow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391855" y="1398717"/>
                <a:ext cx="3630801" cy="18531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3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7</m:t>
                                          </m:r>
                                          <m: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1,</m:t>
                                          </m:r>
                                        </m:e>
                                        <m:e>
                                          <m: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75,</m:t>
                                          </m:r>
                                        </m:e>
                                        <m:e>
                                          <m: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83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3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9</m:t>
                                          </m:r>
                                          <m: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0,</m:t>
                                          </m:r>
                                        </m:e>
                                        <m:e>
                                          <m: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87,</m:t>
                                          </m:r>
                                        </m:e>
                                        <m:e>
                                          <m: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95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3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6</m:t>
                                          </m:r>
                                          <m: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8,</m:t>
                                          </m:r>
                                        </m:e>
                                        <m:e>
                                          <m: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77,</m:t>
                                          </m:r>
                                        </m:e>
                                        <m:e>
                                          <m: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80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855" y="1398717"/>
                <a:ext cx="3630801" cy="18531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337660" y="1398717"/>
                <a:ext cx="2564805" cy="18531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3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7</m:t>
                                          </m:r>
                                          <m: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5,</m:t>
                                          </m:r>
                                        </m:e>
                                        <m:e>
                                          <m: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83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3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9</m:t>
                                          </m:r>
                                          <m: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95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3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7</m:t>
                                          </m:r>
                                          <m: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7</m:t>
                                          </m:r>
                                        </m:e>
                                        <m:e>
                                          <m: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80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7660" y="1398717"/>
                <a:ext cx="2564805" cy="18531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20" y="4326594"/>
            <a:ext cx="11065135" cy="188440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29890" y="3658671"/>
            <a:ext cx="46099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How can we discover this program?</a:t>
            </a:r>
          </a:p>
        </p:txBody>
      </p:sp>
    </p:spTree>
    <p:extLst>
      <p:ext uri="{BB962C8B-B14F-4D97-AF65-F5344CB8AC3E}">
        <p14:creationId xmlns:p14="http://schemas.microsoft.com/office/powerpoint/2010/main" val="2661868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the language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262436" y="1778923"/>
                <a:ext cx="5472780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i="1" dirty="0"/>
                  <a:t>expr</a:t>
                </a:r>
                <a:r>
                  <a:rPr lang="en-US" sz="3600" dirty="0"/>
                  <a:t> =  </a:t>
                </a:r>
                <a:r>
                  <a:rPr lang="en-US" sz="3600" dirty="0" err="1"/>
                  <a:t>var</a:t>
                </a:r>
                <a:r>
                  <a:rPr lang="en-US" sz="3600" dirty="0"/>
                  <a:t> </a:t>
                </a:r>
              </a:p>
              <a:p>
                <a:r>
                  <a:rPr lang="en-US" sz="3600" dirty="0"/>
                  <a:t>           |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𝑒𝑥𝑝𝑟</m:t>
                    </m:r>
                  </m:oMath>
                </a14:m>
                <a:r>
                  <a:rPr lang="en-US" sz="3600" dirty="0"/>
                  <a:t> </a:t>
                </a:r>
              </a:p>
              <a:p>
                <a:r>
                  <a:rPr lang="en-US" sz="3600" dirty="0"/>
                  <a:t>           | </a:t>
                </a:r>
                <a:r>
                  <a:rPr lang="en-US" sz="3600" b="1" dirty="0"/>
                  <a:t>filter</a:t>
                </a:r>
                <a:r>
                  <a:rPr lang="en-US" sz="3600" dirty="0"/>
                  <a:t> </a:t>
                </a:r>
                <a:r>
                  <a:rPr lang="en-US" sz="3600" i="1" dirty="0"/>
                  <a:t>expr </a:t>
                </a:r>
                <a:r>
                  <a:rPr lang="en-US" sz="3600" i="1" dirty="0" err="1"/>
                  <a:t>expr</a:t>
                </a:r>
                <a:endParaRPr lang="en-US" sz="3600" i="1" dirty="0"/>
              </a:p>
              <a:p>
                <a:r>
                  <a:rPr lang="en-US" sz="3600" dirty="0"/>
                  <a:t>           | </a:t>
                </a:r>
                <a:r>
                  <a:rPr lang="en-US" sz="3600" b="1" dirty="0"/>
                  <a:t>map</a:t>
                </a:r>
                <a:r>
                  <a:rPr lang="en-US" sz="3600" dirty="0"/>
                  <a:t> </a:t>
                </a:r>
                <a:r>
                  <a:rPr lang="en-US" sz="3600" i="1" dirty="0"/>
                  <a:t>expr </a:t>
                </a:r>
                <a:r>
                  <a:rPr lang="en-US" sz="3600" i="1" dirty="0" err="1"/>
                  <a:t>expr</a:t>
                </a:r>
                <a:endParaRPr lang="en-US" sz="3600" i="1" dirty="0"/>
              </a:p>
              <a:p>
                <a:r>
                  <a:rPr lang="en-US" sz="3600" dirty="0"/>
                  <a:t>           | </a:t>
                </a:r>
                <a:r>
                  <a:rPr lang="en-US" sz="3600" b="1" dirty="0" err="1"/>
                  <a:t>foldl</a:t>
                </a:r>
                <a:r>
                  <a:rPr lang="en-US" sz="3600" dirty="0"/>
                  <a:t>  </a:t>
                </a:r>
                <a:r>
                  <a:rPr lang="en-US" sz="3600" i="1" dirty="0"/>
                  <a:t>expr </a:t>
                </a:r>
                <a:r>
                  <a:rPr lang="en-US" sz="3600" i="1" dirty="0" err="1"/>
                  <a:t>expr</a:t>
                </a:r>
                <a:r>
                  <a:rPr lang="en-US" sz="3600" i="1" dirty="0"/>
                  <a:t> </a:t>
                </a:r>
                <a:r>
                  <a:rPr lang="en-US" sz="3600" i="1" dirty="0" err="1"/>
                  <a:t>expr</a:t>
                </a:r>
                <a:endParaRPr lang="en-US" sz="3600" i="1" dirty="0"/>
              </a:p>
              <a:p>
                <a:r>
                  <a:rPr lang="en-US" sz="3600" dirty="0"/>
                  <a:t>           | </a:t>
                </a:r>
                <a:r>
                  <a:rPr lang="en-US" sz="3600" i="1" dirty="0" err="1"/>
                  <a:t>boolExpr</a:t>
                </a:r>
                <a:r>
                  <a:rPr lang="en-US" sz="3600" dirty="0"/>
                  <a:t> | </a:t>
                </a:r>
                <a:r>
                  <a:rPr lang="en-US" sz="3600" i="1" dirty="0" err="1"/>
                  <a:t>arithExpr</a:t>
                </a:r>
                <a:endParaRPr lang="en-US" sz="3600" i="1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436" y="1778923"/>
                <a:ext cx="5472780" cy="3416320"/>
              </a:xfrm>
              <a:prstGeom prst="rect">
                <a:avLst/>
              </a:prstGeom>
              <a:blipFill>
                <a:blip r:embed="rId2"/>
                <a:stretch>
                  <a:fillRect l="-3341" t="-2857" r="-1782" b="-58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7021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144015" y="179998"/>
                <a:ext cx="2808782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/>
                  <a:t>expr</a:t>
                </a:r>
                <a:r>
                  <a:rPr lang="en-US" dirty="0"/>
                  <a:t> =  </a:t>
                </a:r>
                <a:r>
                  <a:rPr lang="en-US" dirty="0" err="1"/>
                  <a:t>var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           |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𝑒𝑥𝑝𝑟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           | </a:t>
                </a:r>
                <a:r>
                  <a:rPr lang="en-US" b="1" dirty="0"/>
                  <a:t>filter</a:t>
                </a:r>
                <a:r>
                  <a:rPr lang="en-US" dirty="0"/>
                  <a:t> </a:t>
                </a:r>
                <a:r>
                  <a:rPr lang="en-US" i="1" dirty="0"/>
                  <a:t>expr </a:t>
                </a:r>
                <a:r>
                  <a:rPr lang="en-US" i="1" dirty="0" err="1"/>
                  <a:t>expr</a:t>
                </a:r>
                <a:endParaRPr lang="en-US" i="1" dirty="0"/>
              </a:p>
              <a:p>
                <a:r>
                  <a:rPr lang="en-US" dirty="0"/>
                  <a:t>           | </a:t>
                </a:r>
                <a:r>
                  <a:rPr lang="en-US" b="1" dirty="0"/>
                  <a:t>map</a:t>
                </a:r>
                <a:r>
                  <a:rPr lang="en-US" dirty="0"/>
                  <a:t> </a:t>
                </a:r>
                <a:r>
                  <a:rPr lang="en-US" i="1" dirty="0"/>
                  <a:t>expr </a:t>
                </a:r>
                <a:r>
                  <a:rPr lang="en-US" i="1" dirty="0" err="1"/>
                  <a:t>expr</a:t>
                </a:r>
                <a:endParaRPr lang="en-US" i="1" dirty="0"/>
              </a:p>
              <a:p>
                <a:r>
                  <a:rPr lang="en-US" dirty="0"/>
                  <a:t>           | </a:t>
                </a:r>
                <a:r>
                  <a:rPr lang="en-US" b="1" dirty="0" err="1"/>
                  <a:t>foldl</a:t>
                </a:r>
                <a:r>
                  <a:rPr lang="en-US" dirty="0"/>
                  <a:t>  </a:t>
                </a:r>
                <a:r>
                  <a:rPr lang="en-US" i="1" dirty="0"/>
                  <a:t>expr </a:t>
                </a:r>
                <a:r>
                  <a:rPr lang="en-US" i="1" dirty="0" err="1"/>
                  <a:t>expr</a:t>
                </a:r>
                <a:r>
                  <a:rPr lang="en-US" i="1" dirty="0"/>
                  <a:t> </a:t>
                </a:r>
                <a:r>
                  <a:rPr lang="en-US" i="1" dirty="0" err="1"/>
                  <a:t>expr</a:t>
                </a:r>
                <a:endParaRPr lang="en-US" i="1" dirty="0"/>
              </a:p>
              <a:p>
                <a:r>
                  <a:rPr lang="en-US" dirty="0"/>
                  <a:t>           | </a:t>
                </a:r>
                <a:r>
                  <a:rPr lang="en-US" i="1" dirty="0" err="1"/>
                  <a:t>boolExpr</a:t>
                </a:r>
                <a:r>
                  <a:rPr lang="en-US" dirty="0"/>
                  <a:t> | </a:t>
                </a:r>
                <a:r>
                  <a:rPr lang="en-US" i="1" dirty="0" err="1"/>
                  <a:t>arithExpr</a:t>
                </a:r>
                <a:endParaRPr lang="en-US" i="1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15" y="179998"/>
                <a:ext cx="2808782" cy="1754326"/>
              </a:xfrm>
              <a:prstGeom prst="rect">
                <a:avLst/>
              </a:prstGeom>
              <a:blipFill>
                <a:blip r:embed="rId2"/>
                <a:stretch>
                  <a:fillRect l="-1735" t="-2091" r="-1518"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4355870" y="1479664"/>
            <a:ext cx="21291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dropmins</a:t>
            </a:r>
            <a:r>
              <a:rPr lang="en-US" sz="2000" dirty="0"/>
              <a:t> in =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9135" y="2626821"/>
            <a:ext cx="378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97774" y="2626821"/>
                <a:ext cx="109055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</a:rPr>
                  <a:t>expr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774" y="2626821"/>
                <a:ext cx="1090555" cy="400110"/>
              </a:xfrm>
              <a:prstGeom prst="rect">
                <a:avLst/>
              </a:prstGeom>
              <a:blipFill>
                <a:blip r:embed="rId3"/>
                <a:stretch>
                  <a:fillRect t="-9091" r="-5587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2017221" y="2626821"/>
            <a:ext cx="1731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filter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70218" y="2626821"/>
            <a:ext cx="2208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map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65528" y="2626821"/>
            <a:ext cx="2151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fold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13732" y="2626821"/>
            <a:ext cx="1107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accent1"/>
                </a:solidFill>
              </a:rPr>
              <a:t>boolExpr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322000" y="2626821"/>
            <a:ext cx="1138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accent1"/>
                </a:solidFill>
              </a:rPr>
              <a:t>arithExpr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5935287" y="1762298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cxnSp>
        <p:nvCxnSpPr>
          <p:cNvPr id="16" name="Straight Arrow Connector 15"/>
          <p:cNvCxnSpPr>
            <a:stCxn id="14" idx="4"/>
            <a:endCxn id="7" idx="0"/>
          </p:cNvCxnSpPr>
          <p:nvPr/>
        </p:nvCxnSpPr>
        <p:spPr>
          <a:xfrm flipH="1">
            <a:off x="1443052" y="1808017"/>
            <a:ext cx="4515095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4" idx="4"/>
            <a:endCxn id="9" idx="0"/>
          </p:cNvCxnSpPr>
          <p:nvPr/>
        </p:nvCxnSpPr>
        <p:spPr>
          <a:xfrm flipH="1">
            <a:off x="2883132" y="1808017"/>
            <a:ext cx="3075015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4" idx="5"/>
            <a:endCxn id="10" idx="0"/>
          </p:cNvCxnSpPr>
          <p:nvPr/>
        </p:nvCxnSpPr>
        <p:spPr>
          <a:xfrm flipH="1">
            <a:off x="5274591" y="1801322"/>
            <a:ext cx="699720" cy="825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4" idx="4"/>
            <a:endCxn id="11" idx="0"/>
          </p:cNvCxnSpPr>
          <p:nvPr/>
        </p:nvCxnSpPr>
        <p:spPr>
          <a:xfrm>
            <a:off x="5958147" y="1808017"/>
            <a:ext cx="1483349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4" idx="4"/>
            <a:endCxn id="12" idx="0"/>
          </p:cNvCxnSpPr>
          <p:nvPr/>
        </p:nvCxnSpPr>
        <p:spPr>
          <a:xfrm>
            <a:off x="5958147" y="1808017"/>
            <a:ext cx="3409583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4" idx="4"/>
            <a:endCxn id="13" idx="0"/>
          </p:cNvCxnSpPr>
          <p:nvPr/>
        </p:nvCxnSpPr>
        <p:spPr>
          <a:xfrm>
            <a:off x="5958147" y="1808017"/>
            <a:ext cx="4933080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4" idx="4"/>
            <a:endCxn id="6" idx="0"/>
          </p:cNvCxnSpPr>
          <p:nvPr/>
        </p:nvCxnSpPr>
        <p:spPr>
          <a:xfrm flipH="1">
            <a:off x="538450" y="1808017"/>
            <a:ext cx="5419697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1558416" y="2943325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cxnSp>
        <p:nvCxnSpPr>
          <p:cNvPr id="47" name="Straight Arrow Connector 46"/>
          <p:cNvCxnSpPr>
            <a:stCxn id="46" idx="4"/>
            <a:endCxn id="63" idx="0"/>
          </p:cNvCxnSpPr>
          <p:nvPr/>
        </p:nvCxnSpPr>
        <p:spPr>
          <a:xfrm flipH="1">
            <a:off x="1493055" y="2989044"/>
            <a:ext cx="88221" cy="9387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46" idx="4"/>
            <a:endCxn id="60" idx="7"/>
          </p:cNvCxnSpPr>
          <p:nvPr/>
        </p:nvCxnSpPr>
        <p:spPr>
          <a:xfrm flipH="1">
            <a:off x="533064" y="2989044"/>
            <a:ext cx="1048212" cy="945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46" idx="5"/>
            <a:endCxn id="61" idx="7"/>
          </p:cNvCxnSpPr>
          <p:nvPr/>
        </p:nvCxnSpPr>
        <p:spPr>
          <a:xfrm flipH="1">
            <a:off x="858449" y="2982349"/>
            <a:ext cx="738991" cy="9521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46" idx="4"/>
            <a:endCxn id="64" idx="0"/>
          </p:cNvCxnSpPr>
          <p:nvPr/>
        </p:nvCxnSpPr>
        <p:spPr>
          <a:xfrm>
            <a:off x="1581276" y="2989044"/>
            <a:ext cx="237164" cy="9387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46" idx="4"/>
            <a:endCxn id="65" idx="6"/>
          </p:cNvCxnSpPr>
          <p:nvPr/>
        </p:nvCxnSpPr>
        <p:spPr>
          <a:xfrm>
            <a:off x="1581276" y="2989044"/>
            <a:ext cx="585408" cy="961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46" idx="4"/>
            <a:endCxn id="66" idx="0"/>
          </p:cNvCxnSpPr>
          <p:nvPr/>
        </p:nvCxnSpPr>
        <p:spPr>
          <a:xfrm>
            <a:off x="1581276" y="2989044"/>
            <a:ext cx="887933" cy="9387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46" idx="4"/>
            <a:endCxn id="62" idx="0"/>
          </p:cNvCxnSpPr>
          <p:nvPr/>
        </p:nvCxnSpPr>
        <p:spPr>
          <a:xfrm flipH="1">
            <a:off x="1167670" y="2989044"/>
            <a:ext cx="413606" cy="9387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494040" y="3927786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61" name="Oval 60"/>
          <p:cNvSpPr/>
          <p:nvPr/>
        </p:nvSpPr>
        <p:spPr>
          <a:xfrm>
            <a:off x="819425" y="3927786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62" name="Oval 61"/>
          <p:cNvSpPr/>
          <p:nvPr/>
        </p:nvSpPr>
        <p:spPr>
          <a:xfrm>
            <a:off x="1144810" y="3927786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63" name="Oval 62"/>
          <p:cNvSpPr/>
          <p:nvPr/>
        </p:nvSpPr>
        <p:spPr>
          <a:xfrm>
            <a:off x="1470195" y="3927786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64" name="Oval 63"/>
          <p:cNvSpPr/>
          <p:nvPr/>
        </p:nvSpPr>
        <p:spPr>
          <a:xfrm>
            <a:off x="1795580" y="3927786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65" name="Oval 64"/>
          <p:cNvSpPr/>
          <p:nvPr/>
        </p:nvSpPr>
        <p:spPr>
          <a:xfrm>
            <a:off x="2120965" y="3927786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66" name="Oval 65"/>
          <p:cNvSpPr/>
          <p:nvPr/>
        </p:nvSpPr>
        <p:spPr>
          <a:xfrm>
            <a:off x="2446349" y="3927786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5" name="TextBox 74"/>
          <p:cNvSpPr txBox="1"/>
          <p:nvPr/>
        </p:nvSpPr>
        <p:spPr>
          <a:xfrm>
            <a:off x="4550763" y="4190337"/>
            <a:ext cx="753071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Many of these programs can be eliminated before </a:t>
            </a:r>
          </a:p>
          <a:p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having to complete them!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50762" y="5098111"/>
            <a:ext cx="10200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How?</a:t>
            </a:r>
          </a:p>
        </p:txBody>
      </p:sp>
    </p:spTree>
    <p:extLst>
      <p:ext uri="{BB962C8B-B14F-4D97-AF65-F5344CB8AC3E}">
        <p14:creationId xmlns:p14="http://schemas.microsoft.com/office/powerpoint/2010/main" val="844766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144015" y="179998"/>
                <a:ext cx="2808782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/>
                  <a:t>expr</a:t>
                </a:r>
                <a:r>
                  <a:rPr lang="en-US" dirty="0"/>
                  <a:t> =  </a:t>
                </a:r>
                <a:r>
                  <a:rPr lang="en-US" dirty="0" err="1"/>
                  <a:t>var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           |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𝑒𝑥𝑝𝑟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           | </a:t>
                </a:r>
                <a:r>
                  <a:rPr lang="en-US" b="1" dirty="0"/>
                  <a:t>filter</a:t>
                </a:r>
                <a:r>
                  <a:rPr lang="en-US" dirty="0"/>
                  <a:t> </a:t>
                </a:r>
                <a:r>
                  <a:rPr lang="en-US" i="1" dirty="0"/>
                  <a:t>expr </a:t>
                </a:r>
                <a:r>
                  <a:rPr lang="en-US" i="1" dirty="0" err="1"/>
                  <a:t>expr</a:t>
                </a:r>
                <a:endParaRPr lang="en-US" i="1" dirty="0"/>
              </a:p>
              <a:p>
                <a:r>
                  <a:rPr lang="en-US" dirty="0"/>
                  <a:t>           | </a:t>
                </a:r>
                <a:r>
                  <a:rPr lang="en-US" b="1" dirty="0"/>
                  <a:t>map</a:t>
                </a:r>
                <a:r>
                  <a:rPr lang="en-US" dirty="0"/>
                  <a:t> </a:t>
                </a:r>
                <a:r>
                  <a:rPr lang="en-US" i="1" dirty="0"/>
                  <a:t>expr </a:t>
                </a:r>
                <a:r>
                  <a:rPr lang="en-US" i="1" dirty="0" err="1"/>
                  <a:t>expr</a:t>
                </a:r>
                <a:endParaRPr lang="en-US" i="1" dirty="0"/>
              </a:p>
              <a:p>
                <a:r>
                  <a:rPr lang="en-US" dirty="0"/>
                  <a:t>           | </a:t>
                </a:r>
                <a:r>
                  <a:rPr lang="en-US" b="1" dirty="0" err="1"/>
                  <a:t>foldl</a:t>
                </a:r>
                <a:r>
                  <a:rPr lang="en-US" dirty="0"/>
                  <a:t>  </a:t>
                </a:r>
                <a:r>
                  <a:rPr lang="en-US" i="1" dirty="0"/>
                  <a:t>expr </a:t>
                </a:r>
                <a:r>
                  <a:rPr lang="en-US" i="1" dirty="0" err="1"/>
                  <a:t>expr</a:t>
                </a:r>
                <a:r>
                  <a:rPr lang="en-US" i="1" dirty="0"/>
                  <a:t> </a:t>
                </a:r>
                <a:r>
                  <a:rPr lang="en-US" i="1" dirty="0" err="1"/>
                  <a:t>expr</a:t>
                </a:r>
                <a:endParaRPr lang="en-US" i="1" dirty="0"/>
              </a:p>
              <a:p>
                <a:r>
                  <a:rPr lang="en-US" dirty="0"/>
                  <a:t>           | </a:t>
                </a:r>
                <a:r>
                  <a:rPr lang="en-US" i="1" dirty="0" err="1"/>
                  <a:t>boolExpr</a:t>
                </a:r>
                <a:r>
                  <a:rPr lang="en-US" dirty="0"/>
                  <a:t> | </a:t>
                </a:r>
                <a:r>
                  <a:rPr lang="en-US" i="1" dirty="0" err="1"/>
                  <a:t>arithExpr</a:t>
                </a:r>
                <a:endParaRPr lang="en-US" i="1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15" y="179998"/>
                <a:ext cx="2808782" cy="1754326"/>
              </a:xfrm>
              <a:prstGeom prst="rect">
                <a:avLst/>
              </a:prstGeom>
              <a:blipFill>
                <a:blip r:embed="rId2"/>
                <a:stretch>
                  <a:fillRect l="-1735" t="-2091" r="-1518"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4355870" y="1479664"/>
            <a:ext cx="21291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dropmins</a:t>
            </a:r>
            <a:r>
              <a:rPr lang="en-US" sz="2000" dirty="0"/>
              <a:t> in =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9135" y="2626821"/>
            <a:ext cx="378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97774" y="2626821"/>
                <a:ext cx="109055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</a:rPr>
                  <a:t>expr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774" y="2626821"/>
                <a:ext cx="1090555" cy="400110"/>
              </a:xfrm>
              <a:prstGeom prst="rect">
                <a:avLst/>
              </a:prstGeom>
              <a:blipFill>
                <a:blip r:embed="rId3"/>
                <a:stretch>
                  <a:fillRect t="-9091" r="-5587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2017221" y="2626821"/>
            <a:ext cx="1731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filter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70218" y="2626821"/>
            <a:ext cx="16916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map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65528" y="2626821"/>
            <a:ext cx="2151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fold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13732" y="2626821"/>
            <a:ext cx="1107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accent1"/>
                </a:solidFill>
              </a:rPr>
              <a:t>boolExpr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322000" y="2626821"/>
            <a:ext cx="1138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accent1"/>
                </a:solidFill>
              </a:rPr>
              <a:t>arithExpr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5935287" y="1762298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cxnSp>
        <p:nvCxnSpPr>
          <p:cNvPr id="16" name="Straight Arrow Connector 15"/>
          <p:cNvCxnSpPr>
            <a:stCxn id="14" idx="4"/>
            <a:endCxn id="7" idx="0"/>
          </p:cNvCxnSpPr>
          <p:nvPr/>
        </p:nvCxnSpPr>
        <p:spPr>
          <a:xfrm flipH="1">
            <a:off x="1399418" y="1808017"/>
            <a:ext cx="4558729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4" idx="4"/>
            <a:endCxn id="9" idx="0"/>
          </p:cNvCxnSpPr>
          <p:nvPr/>
        </p:nvCxnSpPr>
        <p:spPr>
          <a:xfrm flipH="1">
            <a:off x="2798942" y="1808017"/>
            <a:ext cx="3159205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4" idx="5"/>
            <a:endCxn id="10" idx="0"/>
          </p:cNvCxnSpPr>
          <p:nvPr/>
        </p:nvCxnSpPr>
        <p:spPr>
          <a:xfrm flipH="1">
            <a:off x="5174275" y="1801322"/>
            <a:ext cx="800036" cy="825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4" idx="4"/>
            <a:endCxn id="11" idx="0"/>
          </p:cNvCxnSpPr>
          <p:nvPr/>
        </p:nvCxnSpPr>
        <p:spPr>
          <a:xfrm>
            <a:off x="5958147" y="1808017"/>
            <a:ext cx="1385662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4" idx="4"/>
            <a:endCxn id="12" idx="0"/>
          </p:cNvCxnSpPr>
          <p:nvPr/>
        </p:nvCxnSpPr>
        <p:spPr>
          <a:xfrm>
            <a:off x="5958147" y="1808017"/>
            <a:ext cx="3363898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4" idx="4"/>
            <a:endCxn id="13" idx="0"/>
          </p:cNvCxnSpPr>
          <p:nvPr/>
        </p:nvCxnSpPr>
        <p:spPr>
          <a:xfrm>
            <a:off x="5958147" y="1808017"/>
            <a:ext cx="4884188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4" idx="4"/>
            <a:endCxn id="6" idx="0"/>
          </p:cNvCxnSpPr>
          <p:nvPr/>
        </p:nvCxnSpPr>
        <p:spPr>
          <a:xfrm flipH="1">
            <a:off x="528832" y="1808017"/>
            <a:ext cx="5429315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ight Arrow 2"/>
          <p:cNvSpPr/>
          <p:nvPr/>
        </p:nvSpPr>
        <p:spPr>
          <a:xfrm rot="14165526">
            <a:off x="431162" y="3152153"/>
            <a:ext cx="707666" cy="437322"/>
          </a:xfrm>
          <a:prstGeom prst="rightArrow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8" name="TextBox 37"/>
          <p:cNvSpPr txBox="1"/>
          <p:nvPr/>
        </p:nvSpPr>
        <p:spPr>
          <a:xfrm>
            <a:off x="907246" y="3699308"/>
            <a:ext cx="561365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This is a fully concrete program, and </a:t>
            </a:r>
            <a:br>
              <a:rPr lang="en-US" sz="28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it clearly doesn’t match the examples</a:t>
            </a:r>
          </a:p>
        </p:txBody>
      </p:sp>
    </p:spTree>
    <p:extLst>
      <p:ext uri="{BB962C8B-B14F-4D97-AF65-F5344CB8AC3E}">
        <p14:creationId xmlns:p14="http://schemas.microsoft.com/office/powerpoint/2010/main" val="2928999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144015" y="179998"/>
                <a:ext cx="2808782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/>
                  <a:t>expr</a:t>
                </a:r>
                <a:r>
                  <a:rPr lang="en-US" dirty="0"/>
                  <a:t> =  </a:t>
                </a:r>
                <a:r>
                  <a:rPr lang="en-US" dirty="0" err="1"/>
                  <a:t>var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           |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𝑒𝑥𝑝𝑟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           | </a:t>
                </a:r>
                <a:r>
                  <a:rPr lang="en-US" b="1" dirty="0"/>
                  <a:t>filter</a:t>
                </a:r>
                <a:r>
                  <a:rPr lang="en-US" dirty="0"/>
                  <a:t> </a:t>
                </a:r>
                <a:r>
                  <a:rPr lang="en-US" i="1" dirty="0"/>
                  <a:t>expr </a:t>
                </a:r>
                <a:r>
                  <a:rPr lang="en-US" i="1" dirty="0" err="1"/>
                  <a:t>expr</a:t>
                </a:r>
                <a:endParaRPr lang="en-US" i="1" dirty="0"/>
              </a:p>
              <a:p>
                <a:r>
                  <a:rPr lang="en-US" dirty="0"/>
                  <a:t>           | </a:t>
                </a:r>
                <a:r>
                  <a:rPr lang="en-US" b="1" dirty="0"/>
                  <a:t>map</a:t>
                </a:r>
                <a:r>
                  <a:rPr lang="en-US" dirty="0"/>
                  <a:t> </a:t>
                </a:r>
                <a:r>
                  <a:rPr lang="en-US" i="1" dirty="0"/>
                  <a:t>expr </a:t>
                </a:r>
                <a:r>
                  <a:rPr lang="en-US" i="1" dirty="0" err="1"/>
                  <a:t>expr</a:t>
                </a:r>
                <a:endParaRPr lang="en-US" i="1" dirty="0"/>
              </a:p>
              <a:p>
                <a:r>
                  <a:rPr lang="en-US" dirty="0"/>
                  <a:t>           | </a:t>
                </a:r>
                <a:r>
                  <a:rPr lang="en-US" b="1" dirty="0" err="1"/>
                  <a:t>foldl</a:t>
                </a:r>
                <a:r>
                  <a:rPr lang="en-US" dirty="0"/>
                  <a:t>  </a:t>
                </a:r>
                <a:r>
                  <a:rPr lang="en-US" i="1" dirty="0"/>
                  <a:t>expr </a:t>
                </a:r>
                <a:r>
                  <a:rPr lang="en-US" i="1" dirty="0" err="1"/>
                  <a:t>expr</a:t>
                </a:r>
                <a:r>
                  <a:rPr lang="en-US" i="1" dirty="0"/>
                  <a:t> </a:t>
                </a:r>
                <a:r>
                  <a:rPr lang="en-US" i="1" dirty="0" err="1"/>
                  <a:t>expr</a:t>
                </a:r>
                <a:endParaRPr lang="en-US" i="1" dirty="0"/>
              </a:p>
              <a:p>
                <a:r>
                  <a:rPr lang="en-US" dirty="0"/>
                  <a:t>           | </a:t>
                </a:r>
                <a:r>
                  <a:rPr lang="en-US" i="1" dirty="0" err="1"/>
                  <a:t>boolExpr</a:t>
                </a:r>
                <a:r>
                  <a:rPr lang="en-US" dirty="0"/>
                  <a:t> | </a:t>
                </a:r>
                <a:r>
                  <a:rPr lang="en-US" i="1" dirty="0" err="1"/>
                  <a:t>arithExpr</a:t>
                </a:r>
                <a:endParaRPr lang="en-US" i="1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15" y="179998"/>
                <a:ext cx="2808782" cy="1754326"/>
              </a:xfrm>
              <a:prstGeom prst="rect">
                <a:avLst/>
              </a:prstGeom>
              <a:blipFill>
                <a:blip r:embed="rId2"/>
                <a:stretch>
                  <a:fillRect l="-1735" t="-2091" r="-1518"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4355870" y="1479664"/>
            <a:ext cx="21291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dropmins</a:t>
            </a:r>
            <a:r>
              <a:rPr lang="en-US" sz="2000" dirty="0"/>
              <a:t> in =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9135" y="2626821"/>
            <a:ext cx="378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97774" y="2626821"/>
                <a:ext cx="109055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</a:rPr>
                  <a:t>expr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774" y="2626821"/>
                <a:ext cx="1090555" cy="400110"/>
              </a:xfrm>
              <a:prstGeom prst="rect">
                <a:avLst/>
              </a:prstGeom>
              <a:blipFill>
                <a:blip r:embed="rId3"/>
                <a:stretch>
                  <a:fillRect t="-9091" r="-5587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2017221" y="2626821"/>
            <a:ext cx="1731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filter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70218" y="2626821"/>
            <a:ext cx="16916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map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65528" y="2626821"/>
            <a:ext cx="2151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fold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13732" y="2626821"/>
            <a:ext cx="1107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accent1"/>
                </a:solidFill>
              </a:rPr>
              <a:t>boolExpr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322000" y="2626821"/>
            <a:ext cx="1138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accent1"/>
                </a:solidFill>
              </a:rPr>
              <a:t>arithExpr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5935287" y="1762298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cxnSp>
        <p:nvCxnSpPr>
          <p:cNvPr id="16" name="Straight Arrow Connector 15"/>
          <p:cNvCxnSpPr>
            <a:stCxn id="14" idx="4"/>
            <a:endCxn id="7" idx="0"/>
          </p:cNvCxnSpPr>
          <p:nvPr/>
        </p:nvCxnSpPr>
        <p:spPr>
          <a:xfrm flipH="1">
            <a:off x="1399418" y="1808017"/>
            <a:ext cx="4558729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4" idx="4"/>
            <a:endCxn id="9" idx="0"/>
          </p:cNvCxnSpPr>
          <p:nvPr/>
        </p:nvCxnSpPr>
        <p:spPr>
          <a:xfrm flipH="1">
            <a:off x="2798942" y="1808017"/>
            <a:ext cx="3159205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4" idx="5"/>
            <a:endCxn id="10" idx="0"/>
          </p:cNvCxnSpPr>
          <p:nvPr/>
        </p:nvCxnSpPr>
        <p:spPr>
          <a:xfrm flipH="1">
            <a:off x="5174275" y="1801322"/>
            <a:ext cx="800036" cy="825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4" idx="4"/>
            <a:endCxn id="11" idx="0"/>
          </p:cNvCxnSpPr>
          <p:nvPr/>
        </p:nvCxnSpPr>
        <p:spPr>
          <a:xfrm>
            <a:off x="5958147" y="1808017"/>
            <a:ext cx="1385662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4" idx="4"/>
            <a:endCxn id="12" idx="0"/>
          </p:cNvCxnSpPr>
          <p:nvPr/>
        </p:nvCxnSpPr>
        <p:spPr>
          <a:xfrm>
            <a:off x="5958147" y="1808017"/>
            <a:ext cx="3363898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4" idx="4"/>
            <a:endCxn id="13" idx="0"/>
          </p:cNvCxnSpPr>
          <p:nvPr/>
        </p:nvCxnSpPr>
        <p:spPr>
          <a:xfrm>
            <a:off x="5958147" y="1808017"/>
            <a:ext cx="4884188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4" idx="4"/>
            <a:endCxn id="6" idx="0"/>
          </p:cNvCxnSpPr>
          <p:nvPr/>
        </p:nvCxnSpPr>
        <p:spPr>
          <a:xfrm flipH="1">
            <a:off x="528832" y="1808017"/>
            <a:ext cx="5429315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ight Arrow 2"/>
          <p:cNvSpPr/>
          <p:nvPr/>
        </p:nvSpPr>
        <p:spPr>
          <a:xfrm rot="14165526">
            <a:off x="1240382" y="3139676"/>
            <a:ext cx="707666" cy="437322"/>
          </a:xfrm>
          <a:prstGeom prst="rightArrow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8" name="TextBox 37"/>
          <p:cNvSpPr txBox="1"/>
          <p:nvPr/>
        </p:nvSpPr>
        <p:spPr>
          <a:xfrm>
            <a:off x="1716466" y="3686831"/>
            <a:ext cx="929498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This program has a missing expression, but we can already tell </a:t>
            </a:r>
          </a:p>
          <a:p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it will not work. Why not?</a:t>
            </a:r>
          </a:p>
        </p:txBody>
      </p:sp>
      <p:sp>
        <p:nvSpPr>
          <p:cNvPr id="8" name="Cross 7"/>
          <p:cNvSpPr/>
          <p:nvPr/>
        </p:nvSpPr>
        <p:spPr>
          <a:xfrm rot="18888170">
            <a:off x="379409" y="2668288"/>
            <a:ext cx="339326" cy="341906"/>
          </a:xfrm>
          <a:prstGeom prst="plus">
            <a:avLst>
              <a:gd name="adj" fmla="val 4387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6766870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494" y="1825625"/>
            <a:ext cx="9761306" cy="893721"/>
          </a:xfrm>
        </p:spPr>
        <p:txBody>
          <a:bodyPr/>
          <a:lstStyle/>
          <a:p>
            <a:r>
              <a:rPr lang="en-US" dirty="0"/>
              <a:t>Our simple language supports an infinite set of types of 3 basic kinds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30588" y="3054917"/>
                <a:ext cx="1002415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  ≔  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𝐼𝑛𝑡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  |  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𝐵𝑜𝑜𝑙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    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    </m:t>
                          </m:r>
                        </m:e>
                      </m:d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588" y="3054917"/>
                <a:ext cx="10024154" cy="8309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1423514" y="4734738"/>
            <a:ext cx="12228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Integer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4510" y="4734738"/>
            <a:ext cx="25940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List of some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56254" y="4734738"/>
            <a:ext cx="38357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Function from some type </a:t>
            </a:r>
            <a:br>
              <a:rPr lang="en-US" sz="2800" dirty="0"/>
            </a:br>
            <a:r>
              <a:rPr lang="en-US" sz="2800" dirty="0"/>
              <a:t>to some other type</a:t>
            </a:r>
          </a:p>
        </p:txBody>
      </p:sp>
      <p:cxnSp>
        <p:nvCxnSpPr>
          <p:cNvPr id="9" name="Straight Arrow Connector 8"/>
          <p:cNvCxnSpPr>
            <a:stCxn id="7" idx="0"/>
          </p:cNvCxnSpPr>
          <p:nvPr/>
        </p:nvCxnSpPr>
        <p:spPr>
          <a:xfrm flipH="1" flipV="1">
            <a:off x="9589275" y="4015410"/>
            <a:ext cx="684852" cy="719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0"/>
          </p:cNvCxnSpPr>
          <p:nvPr/>
        </p:nvCxnSpPr>
        <p:spPr>
          <a:xfrm flipV="1">
            <a:off x="6781535" y="4015410"/>
            <a:ext cx="16831" cy="719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0"/>
          </p:cNvCxnSpPr>
          <p:nvPr/>
        </p:nvCxnSpPr>
        <p:spPr>
          <a:xfrm flipV="1">
            <a:off x="2034964" y="4015409"/>
            <a:ext cx="676275" cy="7193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293398" y="4736064"/>
            <a:ext cx="1378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Boolean</a:t>
            </a:r>
          </a:p>
        </p:txBody>
      </p:sp>
      <p:cxnSp>
        <p:nvCxnSpPr>
          <p:cNvPr id="19" name="Straight Arrow Connector 18"/>
          <p:cNvCxnSpPr>
            <a:stCxn id="18" idx="0"/>
          </p:cNvCxnSpPr>
          <p:nvPr/>
        </p:nvCxnSpPr>
        <p:spPr>
          <a:xfrm flipV="1">
            <a:off x="3982850" y="4016736"/>
            <a:ext cx="598273" cy="7193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83623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5734348" y="2478024"/>
            <a:ext cx="644577" cy="815181"/>
          </a:xfrm>
          <a:prstGeom prst="rightArrow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391855" y="1915551"/>
                <a:ext cx="3630801" cy="18531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3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7</m:t>
                                          </m:r>
                                          <m: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1,</m:t>
                                          </m:r>
                                        </m:e>
                                        <m:e>
                                          <m: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75,</m:t>
                                          </m:r>
                                        </m:e>
                                        <m:e>
                                          <m: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83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3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9</m:t>
                                          </m:r>
                                          <m: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0,</m:t>
                                          </m:r>
                                        </m:e>
                                        <m:e>
                                          <m: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87,</m:t>
                                          </m:r>
                                        </m:e>
                                        <m:e>
                                          <m: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95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3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6</m:t>
                                          </m:r>
                                          <m: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8,</m:t>
                                          </m:r>
                                        </m:e>
                                        <m:e>
                                          <m: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77,</m:t>
                                          </m:r>
                                        </m:e>
                                        <m:e>
                                          <m: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80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855" y="1915551"/>
                <a:ext cx="3630801" cy="18531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337660" y="1915551"/>
                <a:ext cx="2564805" cy="18531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3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7</m:t>
                                          </m:r>
                                          <m: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5,</m:t>
                                          </m:r>
                                        </m:e>
                                        <m:e>
                                          <m: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83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3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9</m:t>
                                          </m:r>
                                          <m: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95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3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3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7</m:t>
                                          </m:r>
                                          <m: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7</m:t>
                                          </m:r>
                                        </m:e>
                                        <m:e>
                                          <m:r>
                                            <a:rPr lang="en-US" sz="3600" b="0" i="1" smtClean="0">
                                              <a:latin typeface="Cambria Math" panose="02040503050406030204" pitchFamily="18" charset="0"/>
                                            </a:rPr>
                                            <m:t>80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7660" y="1915551"/>
                <a:ext cx="2564805" cy="18531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963973" y="4222142"/>
                <a:ext cx="217059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[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𝐼𝑛𝑡</m:t>
                          </m:r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  ]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3973" y="4222142"/>
                <a:ext cx="2170594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534765" y="4222142"/>
                <a:ext cx="217059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[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𝐼𝑛𝑡</m:t>
                          </m:r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  ]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4765" y="4222142"/>
                <a:ext cx="2170594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2449001" y="5621573"/>
            <a:ext cx="7389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Input and output types are lists of lists of integers</a:t>
            </a:r>
          </a:p>
        </p:txBody>
      </p:sp>
    </p:spTree>
    <p:extLst>
      <p:ext uri="{BB962C8B-B14F-4D97-AF65-F5344CB8AC3E}">
        <p14:creationId xmlns:p14="http://schemas.microsoft.com/office/powerpoint/2010/main" val="14507624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92494" y="1825624"/>
                <a:ext cx="9761306" cy="4458443"/>
              </a:xfrm>
            </p:spPr>
            <p:txBody>
              <a:bodyPr/>
              <a:lstStyle/>
              <a:p>
                <a:r>
                  <a:rPr lang="en-US" dirty="0"/>
                  <a:t>Each element in our language has a type given by a </a:t>
                </a:r>
                <a:r>
                  <a:rPr lang="en-US" i="1" dirty="0">
                    <a:solidFill>
                      <a:schemeClr val="accent2">
                        <a:lumMod val="50000"/>
                      </a:schemeClr>
                    </a:solidFill>
                  </a:rPr>
                  <a:t>typing rule</a:t>
                </a:r>
              </a:p>
              <a:p>
                <a:endParaRPr lang="en-US" i="1" dirty="0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endParaRPr lang="en-US" i="1" dirty="0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endParaRPr lang="en-US" i="1" dirty="0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endParaRPr lang="en-US" i="1" dirty="0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A typing rule like the one above states that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𝑒𝑥𝑝𝑟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has type</a:t>
                </a:r>
                <a:br>
                  <a:rPr lang="en-US" dirty="0">
                    <a:solidFill>
                      <a:schemeClr val="tx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in a context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as long as all the premises are satisfied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A context simply tracks information about the type of any variables </a:t>
                </a:r>
              </a:p>
              <a:p>
                <a:endParaRPr lang="en-US" i="1" dirty="0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endParaRPr lang="en-US" i="1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92494" y="1825624"/>
                <a:ext cx="9761306" cy="4458443"/>
              </a:xfrm>
              <a:blipFill>
                <a:blip r:embed="rId2"/>
                <a:stretch>
                  <a:fillRect t="-21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591576" y="2417549"/>
                <a:ext cx="2733697" cy="12189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𝑝𝑟𝑒𝑚𝑖𝑠𝑒𝑠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⊢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𝑒𝑥𝑝𝑟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 :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1576" y="2417549"/>
                <a:ext cx="2733697" cy="12189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86589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494" y="1825625"/>
            <a:ext cx="9761306" cy="901672"/>
          </a:xfrm>
        </p:spPr>
        <p:txBody>
          <a:bodyPr/>
          <a:lstStyle/>
          <a:p>
            <a:r>
              <a:rPr lang="en-US" dirty="0"/>
              <a:t>Each element in our language has a type given by a </a:t>
            </a:r>
            <a:r>
              <a:rPr lang="en-US" i="1" dirty="0">
                <a:solidFill>
                  <a:schemeClr val="accent2">
                    <a:lumMod val="50000"/>
                  </a:schemeClr>
                </a:solidFill>
              </a:rPr>
              <a:t>typing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90629" y="2739796"/>
                <a:ext cx="1742528" cy="113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eqArr>
                            <m:eqArr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says</m:t>
                              </m:r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var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h𝑎𝑠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𝑡𝑦𝑝𝑒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⊢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var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: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629" y="2739796"/>
                <a:ext cx="1742528" cy="11346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992272" y="2739796"/>
                <a:ext cx="3284617" cy="8484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: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𝑒𝑥𝑝𝑟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: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expr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: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2272" y="2739796"/>
                <a:ext cx="3284617" cy="8484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041526" y="5734694"/>
                <a:ext cx="4298484" cy="8845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𝑓𝑖𝑙𝑡𝑒𝑟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𝐵𝑜𝑜𝑙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→[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] 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526" y="5734694"/>
                <a:ext cx="4298484" cy="8845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3829" y="4278908"/>
                <a:ext cx="4152099" cy="8845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𝑚𝑎𝑝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→[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] 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29" y="4278908"/>
                <a:ext cx="4152099" cy="8845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575590" y="4278908"/>
                <a:ext cx="7589514" cy="8828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𝑓𝑜𝑙𝑑𝑙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𝑠𝑡𝑎𝑟𝑡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𝑙𝑠𝑡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𝑠𝑡𝑎𝑟𝑡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𝑠𝑡𝑎𝑟𝑡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𝑙𝑠𝑡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𝑠𝑡𝑎𝑟𝑡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5590" y="4278908"/>
                <a:ext cx="7589514" cy="8828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846427" y="5738926"/>
                <a:ext cx="2494465" cy="880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𝑏𝑜𝑜𝑙𝐸𝑥𝑝𝑟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: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𝐵𝑜𝑜𝑙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427" y="5738926"/>
                <a:ext cx="2494465" cy="88030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9167243" y="5738926"/>
                <a:ext cx="2085058" cy="880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𝑖𝑛𝑡𝐸𝑥𝑝𝑟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: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𝐼𝑛𝑡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7243" y="5738926"/>
                <a:ext cx="2085058" cy="88030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062638" y="2731909"/>
                <a:ext cx="3008323" cy="8592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    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𝑒𝑝𝑥𝑟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⊢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𝑒𝑥𝑝𝑟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638" y="2731909"/>
                <a:ext cx="3008323" cy="8592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75890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Type-based pruning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144015" y="179998"/>
                <a:ext cx="2808782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/>
                  <a:t>expr</a:t>
                </a:r>
                <a:r>
                  <a:rPr lang="en-US" dirty="0"/>
                  <a:t> =  </a:t>
                </a:r>
                <a:r>
                  <a:rPr lang="en-US" dirty="0" err="1"/>
                  <a:t>var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           |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𝑒𝑥𝑝𝑟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           | </a:t>
                </a:r>
                <a:r>
                  <a:rPr lang="en-US" b="1" dirty="0"/>
                  <a:t>filter</a:t>
                </a:r>
                <a:r>
                  <a:rPr lang="en-US" dirty="0"/>
                  <a:t> </a:t>
                </a:r>
                <a:r>
                  <a:rPr lang="en-US" i="1" dirty="0"/>
                  <a:t>expr </a:t>
                </a:r>
                <a:r>
                  <a:rPr lang="en-US" i="1" dirty="0" err="1"/>
                  <a:t>expr</a:t>
                </a:r>
                <a:endParaRPr lang="en-US" i="1" dirty="0"/>
              </a:p>
              <a:p>
                <a:r>
                  <a:rPr lang="en-US" dirty="0"/>
                  <a:t>           | </a:t>
                </a:r>
                <a:r>
                  <a:rPr lang="en-US" b="1" dirty="0"/>
                  <a:t>map</a:t>
                </a:r>
                <a:r>
                  <a:rPr lang="en-US" dirty="0"/>
                  <a:t> </a:t>
                </a:r>
                <a:r>
                  <a:rPr lang="en-US" i="1" dirty="0"/>
                  <a:t>expr </a:t>
                </a:r>
                <a:r>
                  <a:rPr lang="en-US" i="1" dirty="0" err="1"/>
                  <a:t>expr</a:t>
                </a:r>
                <a:endParaRPr lang="en-US" i="1" dirty="0"/>
              </a:p>
              <a:p>
                <a:r>
                  <a:rPr lang="en-US" dirty="0"/>
                  <a:t>           | </a:t>
                </a:r>
                <a:r>
                  <a:rPr lang="en-US" b="1" dirty="0" err="1"/>
                  <a:t>foldl</a:t>
                </a:r>
                <a:r>
                  <a:rPr lang="en-US" dirty="0"/>
                  <a:t>  </a:t>
                </a:r>
                <a:r>
                  <a:rPr lang="en-US" i="1" dirty="0"/>
                  <a:t>expr </a:t>
                </a:r>
                <a:r>
                  <a:rPr lang="en-US" i="1" dirty="0" err="1"/>
                  <a:t>expr</a:t>
                </a:r>
                <a:r>
                  <a:rPr lang="en-US" i="1" dirty="0"/>
                  <a:t> </a:t>
                </a:r>
                <a:r>
                  <a:rPr lang="en-US" i="1" dirty="0" err="1"/>
                  <a:t>expr</a:t>
                </a:r>
                <a:endParaRPr lang="en-US" i="1" dirty="0"/>
              </a:p>
              <a:p>
                <a:r>
                  <a:rPr lang="en-US" dirty="0"/>
                  <a:t>           | </a:t>
                </a:r>
                <a:r>
                  <a:rPr lang="en-US" i="1" dirty="0" err="1"/>
                  <a:t>boolExpr</a:t>
                </a:r>
                <a:r>
                  <a:rPr lang="en-US" dirty="0"/>
                  <a:t> | </a:t>
                </a:r>
                <a:r>
                  <a:rPr lang="en-US" i="1" dirty="0" err="1"/>
                  <a:t>arithExpr</a:t>
                </a:r>
                <a:endParaRPr lang="en-US" i="1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15" y="179998"/>
                <a:ext cx="2808782" cy="1754326"/>
              </a:xfrm>
              <a:prstGeom prst="rect">
                <a:avLst/>
              </a:prstGeom>
              <a:blipFill>
                <a:blip r:embed="rId2"/>
                <a:stretch>
                  <a:fillRect l="-1735" t="-2091" r="-1518"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4355870" y="1479664"/>
            <a:ext cx="21291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dropmins</a:t>
            </a:r>
            <a:r>
              <a:rPr lang="en-US" sz="2000" dirty="0"/>
              <a:t> in =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9135" y="2626821"/>
            <a:ext cx="378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97774" y="2626821"/>
                <a:ext cx="109055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</a:rPr>
                  <a:t>expr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774" y="2626821"/>
                <a:ext cx="1090555" cy="400110"/>
              </a:xfrm>
              <a:prstGeom prst="rect">
                <a:avLst/>
              </a:prstGeom>
              <a:blipFill>
                <a:blip r:embed="rId3"/>
                <a:stretch>
                  <a:fillRect t="-9091" r="-5587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2017221" y="2626821"/>
            <a:ext cx="1731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filter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70218" y="2626821"/>
            <a:ext cx="16916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map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65528" y="2626821"/>
            <a:ext cx="2151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fold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13732" y="2626821"/>
            <a:ext cx="1107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accent1"/>
                </a:solidFill>
              </a:rPr>
              <a:t>boolExpr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322000" y="2626821"/>
            <a:ext cx="1138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accent1"/>
                </a:solidFill>
              </a:rPr>
              <a:t>arithExpr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5935287" y="1762298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cxnSp>
        <p:nvCxnSpPr>
          <p:cNvPr id="16" name="Straight Arrow Connector 15"/>
          <p:cNvCxnSpPr>
            <a:stCxn id="14" idx="4"/>
            <a:endCxn id="7" idx="0"/>
          </p:cNvCxnSpPr>
          <p:nvPr/>
        </p:nvCxnSpPr>
        <p:spPr>
          <a:xfrm flipH="1">
            <a:off x="1399418" y="1808017"/>
            <a:ext cx="4558729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4" idx="4"/>
            <a:endCxn id="9" idx="0"/>
          </p:cNvCxnSpPr>
          <p:nvPr/>
        </p:nvCxnSpPr>
        <p:spPr>
          <a:xfrm flipH="1">
            <a:off x="2798942" y="1808017"/>
            <a:ext cx="3159205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4" idx="5"/>
            <a:endCxn id="10" idx="0"/>
          </p:cNvCxnSpPr>
          <p:nvPr/>
        </p:nvCxnSpPr>
        <p:spPr>
          <a:xfrm flipH="1">
            <a:off x="5174275" y="1801322"/>
            <a:ext cx="800036" cy="825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4" idx="4"/>
            <a:endCxn id="11" idx="0"/>
          </p:cNvCxnSpPr>
          <p:nvPr/>
        </p:nvCxnSpPr>
        <p:spPr>
          <a:xfrm>
            <a:off x="5958147" y="1808017"/>
            <a:ext cx="1385662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4" idx="4"/>
            <a:endCxn id="12" idx="0"/>
          </p:cNvCxnSpPr>
          <p:nvPr/>
        </p:nvCxnSpPr>
        <p:spPr>
          <a:xfrm>
            <a:off x="5958147" y="1808017"/>
            <a:ext cx="3363898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4" idx="4"/>
            <a:endCxn id="13" idx="0"/>
          </p:cNvCxnSpPr>
          <p:nvPr/>
        </p:nvCxnSpPr>
        <p:spPr>
          <a:xfrm>
            <a:off x="5958147" y="1808017"/>
            <a:ext cx="4884188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4" idx="4"/>
            <a:endCxn id="6" idx="0"/>
          </p:cNvCxnSpPr>
          <p:nvPr/>
        </p:nvCxnSpPr>
        <p:spPr>
          <a:xfrm flipH="1">
            <a:off x="528832" y="1808017"/>
            <a:ext cx="5429315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ight Arrow 2"/>
          <p:cNvSpPr/>
          <p:nvPr/>
        </p:nvSpPr>
        <p:spPr>
          <a:xfrm rot="14165526">
            <a:off x="1240382" y="3139676"/>
            <a:ext cx="707666" cy="437322"/>
          </a:xfrm>
          <a:prstGeom prst="rightArrow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8" name="Cross 7"/>
          <p:cNvSpPr/>
          <p:nvPr/>
        </p:nvSpPr>
        <p:spPr>
          <a:xfrm rot="18888170">
            <a:off x="379409" y="2668288"/>
            <a:ext cx="339326" cy="341906"/>
          </a:xfrm>
          <a:prstGeom prst="plus">
            <a:avLst>
              <a:gd name="adj" fmla="val 4387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62705" y="3972249"/>
                <a:ext cx="3650423" cy="8434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𝑒𝑥𝑝𝑟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: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𝑎𝑠𝑠𝑢𝑚𝑖𝑛𝑔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: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expr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: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05" y="3972249"/>
                <a:ext cx="3650423" cy="8434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616317" y="3859561"/>
                <a:ext cx="8667116" cy="18158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>
                        <a:lumMod val="50000"/>
                      </a:schemeClr>
                    </a:solidFill>
                  </a:rPr>
                  <a:t>Based on the rule, this expression will have a type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br>
                  <a:rPr lang="en-US" sz="2800" dirty="0">
                    <a:solidFill>
                      <a:schemeClr val="accent2">
                        <a:lumMod val="50000"/>
                      </a:schemeClr>
                    </a:solidFill>
                  </a:rPr>
                </a:br>
                <a:r>
                  <a:rPr lang="en-US" sz="2800" dirty="0">
                    <a:solidFill>
                      <a:schemeClr val="accent2">
                        <a:lumMod val="50000"/>
                      </a:schemeClr>
                    </a:solidFill>
                  </a:rPr>
                  <a:t>But we know the output must have type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[  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𝐼𝑛𝑡</m:t>
                        </m:r>
                      </m:e>
                    </m:d>
                    <m:r>
                      <a:rPr lang="en-US" sz="28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 ]</m:t>
                    </m:r>
                  </m:oMath>
                </a14:m>
                <a:r>
                  <a:rPr lang="en-US" sz="2800" dirty="0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</a:p>
              <a:p>
                <a:r>
                  <a:rPr lang="en-US" sz="2800" dirty="0">
                    <a:solidFill>
                      <a:schemeClr val="accent2">
                        <a:lumMod val="50000"/>
                      </a:schemeClr>
                    </a:solidFill>
                  </a:rPr>
                  <a:t>There is no way those types can be made equal, </a:t>
                </a:r>
                <a:br>
                  <a:rPr lang="en-US" sz="2800" dirty="0">
                    <a:solidFill>
                      <a:schemeClr val="accent2">
                        <a:lumMod val="50000"/>
                      </a:schemeClr>
                    </a:solidFill>
                  </a:rPr>
                </a:br>
                <a:r>
                  <a:rPr lang="en-US" sz="2800" dirty="0">
                    <a:solidFill>
                      <a:schemeClr val="accent2">
                        <a:lumMod val="50000"/>
                      </a:schemeClr>
                    </a:solidFill>
                  </a:rPr>
                  <a:t>so we can discard this expression!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6317" y="3859561"/>
                <a:ext cx="8667116" cy="1815882"/>
              </a:xfrm>
              <a:prstGeom prst="rect">
                <a:avLst/>
              </a:prstGeom>
              <a:blipFill>
                <a:blip r:embed="rId5"/>
                <a:stretch>
                  <a:fillRect l="-1406" t="-3020" b="-8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21708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Type-based pruning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144015" y="179998"/>
                <a:ext cx="2808782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/>
                  <a:t>expr</a:t>
                </a:r>
                <a:r>
                  <a:rPr lang="en-US" dirty="0"/>
                  <a:t> =  </a:t>
                </a:r>
                <a:r>
                  <a:rPr lang="en-US" dirty="0" err="1"/>
                  <a:t>var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           |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𝑒𝑥𝑝𝑟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           | </a:t>
                </a:r>
                <a:r>
                  <a:rPr lang="en-US" b="1" dirty="0"/>
                  <a:t>filter</a:t>
                </a:r>
                <a:r>
                  <a:rPr lang="en-US" dirty="0"/>
                  <a:t> </a:t>
                </a:r>
                <a:r>
                  <a:rPr lang="en-US" i="1" dirty="0"/>
                  <a:t>expr </a:t>
                </a:r>
                <a:r>
                  <a:rPr lang="en-US" i="1" dirty="0" err="1"/>
                  <a:t>expr</a:t>
                </a:r>
                <a:endParaRPr lang="en-US" i="1" dirty="0"/>
              </a:p>
              <a:p>
                <a:r>
                  <a:rPr lang="en-US" dirty="0"/>
                  <a:t>           | </a:t>
                </a:r>
                <a:r>
                  <a:rPr lang="en-US" b="1" dirty="0"/>
                  <a:t>map</a:t>
                </a:r>
                <a:r>
                  <a:rPr lang="en-US" dirty="0"/>
                  <a:t> </a:t>
                </a:r>
                <a:r>
                  <a:rPr lang="en-US" i="1" dirty="0"/>
                  <a:t>expr </a:t>
                </a:r>
                <a:r>
                  <a:rPr lang="en-US" i="1" dirty="0" err="1"/>
                  <a:t>expr</a:t>
                </a:r>
                <a:endParaRPr lang="en-US" i="1" dirty="0"/>
              </a:p>
              <a:p>
                <a:r>
                  <a:rPr lang="en-US" dirty="0"/>
                  <a:t>           | </a:t>
                </a:r>
                <a:r>
                  <a:rPr lang="en-US" b="1" dirty="0" err="1"/>
                  <a:t>foldl</a:t>
                </a:r>
                <a:r>
                  <a:rPr lang="en-US" dirty="0"/>
                  <a:t>  </a:t>
                </a:r>
                <a:r>
                  <a:rPr lang="en-US" i="1" dirty="0"/>
                  <a:t>expr </a:t>
                </a:r>
                <a:r>
                  <a:rPr lang="en-US" i="1" dirty="0" err="1"/>
                  <a:t>expr</a:t>
                </a:r>
                <a:r>
                  <a:rPr lang="en-US" i="1" dirty="0"/>
                  <a:t> </a:t>
                </a:r>
                <a:r>
                  <a:rPr lang="en-US" i="1" dirty="0" err="1"/>
                  <a:t>expr</a:t>
                </a:r>
                <a:endParaRPr lang="en-US" i="1" dirty="0"/>
              </a:p>
              <a:p>
                <a:r>
                  <a:rPr lang="en-US" dirty="0"/>
                  <a:t>           | </a:t>
                </a:r>
                <a:r>
                  <a:rPr lang="en-US" i="1" dirty="0" err="1"/>
                  <a:t>boolExpr</a:t>
                </a:r>
                <a:r>
                  <a:rPr lang="en-US" dirty="0"/>
                  <a:t> | </a:t>
                </a:r>
                <a:r>
                  <a:rPr lang="en-US" i="1" dirty="0" err="1"/>
                  <a:t>arithExpr</a:t>
                </a:r>
                <a:endParaRPr lang="en-US" i="1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15" y="179998"/>
                <a:ext cx="2808782" cy="1754326"/>
              </a:xfrm>
              <a:prstGeom prst="rect">
                <a:avLst/>
              </a:prstGeom>
              <a:blipFill>
                <a:blip r:embed="rId2"/>
                <a:stretch>
                  <a:fillRect l="-1735" t="-2091" r="-1518"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4355870" y="1479664"/>
            <a:ext cx="21291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dropmins</a:t>
            </a:r>
            <a:r>
              <a:rPr lang="en-US" sz="2000" dirty="0"/>
              <a:t> in =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9135" y="2626821"/>
            <a:ext cx="378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97774" y="2626821"/>
                <a:ext cx="109055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</a:rPr>
                  <a:t>expr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774" y="2626821"/>
                <a:ext cx="1090555" cy="400110"/>
              </a:xfrm>
              <a:prstGeom prst="rect">
                <a:avLst/>
              </a:prstGeom>
              <a:blipFill>
                <a:blip r:embed="rId3"/>
                <a:stretch>
                  <a:fillRect t="-9091" r="-5587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2017221" y="2626821"/>
            <a:ext cx="1731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filter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70218" y="2626821"/>
            <a:ext cx="16916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map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65528" y="2626821"/>
            <a:ext cx="2151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fold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13732" y="2626821"/>
            <a:ext cx="1107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accent1"/>
                </a:solidFill>
              </a:rPr>
              <a:t>boolExpr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322000" y="2626821"/>
            <a:ext cx="1138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accent1"/>
                </a:solidFill>
              </a:rPr>
              <a:t>arithExpr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5935287" y="1762298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cxnSp>
        <p:nvCxnSpPr>
          <p:cNvPr id="16" name="Straight Arrow Connector 15"/>
          <p:cNvCxnSpPr>
            <a:stCxn id="14" idx="4"/>
            <a:endCxn id="7" idx="0"/>
          </p:cNvCxnSpPr>
          <p:nvPr/>
        </p:nvCxnSpPr>
        <p:spPr>
          <a:xfrm flipH="1">
            <a:off x="1399418" y="1808017"/>
            <a:ext cx="4558729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4" idx="4"/>
            <a:endCxn id="9" idx="0"/>
          </p:cNvCxnSpPr>
          <p:nvPr/>
        </p:nvCxnSpPr>
        <p:spPr>
          <a:xfrm flipH="1">
            <a:off x="2798942" y="1808017"/>
            <a:ext cx="3159205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4" idx="5"/>
            <a:endCxn id="10" idx="0"/>
          </p:cNvCxnSpPr>
          <p:nvPr/>
        </p:nvCxnSpPr>
        <p:spPr>
          <a:xfrm flipH="1">
            <a:off x="5174275" y="1801322"/>
            <a:ext cx="800036" cy="825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4" idx="4"/>
            <a:endCxn id="11" idx="0"/>
          </p:cNvCxnSpPr>
          <p:nvPr/>
        </p:nvCxnSpPr>
        <p:spPr>
          <a:xfrm>
            <a:off x="5958147" y="1808017"/>
            <a:ext cx="1385662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4" idx="4"/>
            <a:endCxn id="12" idx="0"/>
          </p:cNvCxnSpPr>
          <p:nvPr/>
        </p:nvCxnSpPr>
        <p:spPr>
          <a:xfrm>
            <a:off x="5958147" y="1808017"/>
            <a:ext cx="3363898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4" idx="4"/>
            <a:endCxn id="13" idx="0"/>
          </p:cNvCxnSpPr>
          <p:nvPr/>
        </p:nvCxnSpPr>
        <p:spPr>
          <a:xfrm>
            <a:off x="5958147" y="1808017"/>
            <a:ext cx="4884188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4" idx="4"/>
            <a:endCxn id="6" idx="0"/>
          </p:cNvCxnSpPr>
          <p:nvPr/>
        </p:nvCxnSpPr>
        <p:spPr>
          <a:xfrm flipH="1">
            <a:off x="528832" y="1808017"/>
            <a:ext cx="5429315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ight Arrow 2"/>
          <p:cNvSpPr/>
          <p:nvPr/>
        </p:nvSpPr>
        <p:spPr>
          <a:xfrm rot="7434474" flipH="1">
            <a:off x="8658059" y="3169759"/>
            <a:ext cx="707666" cy="437322"/>
          </a:xfrm>
          <a:prstGeom prst="rightArrow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ross 7"/>
          <p:cNvSpPr/>
          <p:nvPr/>
        </p:nvSpPr>
        <p:spPr>
          <a:xfrm rot="18888170">
            <a:off x="379409" y="2668288"/>
            <a:ext cx="339326" cy="341906"/>
          </a:xfrm>
          <a:prstGeom prst="plus">
            <a:avLst>
              <a:gd name="adj" fmla="val 4387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5" name="TextBox 14"/>
          <p:cNvSpPr txBox="1"/>
          <p:nvPr/>
        </p:nvSpPr>
        <p:spPr>
          <a:xfrm>
            <a:off x="4277801" y="3859561"/>
            <a:ext cx="729289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With the same reasoning we can discard both of </a:t>
            </a:r>
          </a:p>
          <a:p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these expressions</a:t>
            </a:r>
            <a:br>
              <a:rPr lang="en-US" sz="28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They cannot possibly have the correct type </a:t>
            </a:r>
          </a:p>
        </p:txBody>
      </p:sp>
      <p:sp>
        <p:nvSpPr>
          <p:cNvPr id="25" name="Cross 24"/>
          <p:cNvSpPr/>
          <p:nvPr/>
        </p:nvSpPr>
        <p:spPr>
          <a:xfrm rot="18888170">
            <a:off x="1320587" y="2640534"/>
            <a:ext cx="339326" cy="341906"/>
          </a:xfrm>
          <a:prstGeom prst="plus">
            <a:avLst>
              <a:gd name="adj" fmla="val 4387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308218" y="3590791"/>
                <a:ext cx="2494465" cy="880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𝑏𝑜𝑜𝑙𝐸𝑥𝑝𝑟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: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𝐵𝑜𝑜𝑙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218" y="3590791"/>
                <a:ext cx="2494465" cy="8803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ight Arrow 27"/>
          <p:cNvSpPr/>
          <p:nvPr/>
        </p:nvSpPr>
        <p:spPr>
          <a:xfrm rot="7434474" flipH="1">
            <a:off x="10194573" y="3195248"/>
            <a:ext cx="707666" cy="437322"/>
          </a:xfrm>
          <a:prstGeom prst="rightArrow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08218" y="4840429"/>
                <a:ext cx="2085058" cy="880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𝑖𝑛𝑡𝐸𝑥𝑝𝑟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: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𝐼𝑛𝑡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218" y="4840429"/>
                <a:ext cx="2085058" cy="8803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7272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Type-based pruning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144015" y="179998"/>
                <a:ext cx="2808782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/>
                  <a:t>expr</a:t>
                </a:r>
                <a:r>
                  <a:rPr lang="en-US" dirty="0"/>
                  <a:t> =  </a:t>
                </a:r>
                <a:r>
                  <a:rPr lang="en-US" dirty="0" err="1"/>
                  <a:t>var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           |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𝑒𝑥𝑝𝑟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           | </a:t>
                </a:r>
                <a:r>
                  <a:rPr lang="en-US" b="1" dirty="0"/>
                  <a:t>filter</a:t>
                </a:r>
                <a:r>
                  <a:rPr lang="en-US" dirty="0"/>
                  <a:t> </a:t>
                </a:r>
                <a:r>
                  <a:rPr lang="en-US" i="1" dirty="0"/>
                  <a:t>expr </a:t>
                </a:r>
                <a:r>
                  <a:rPr lang="en-US" i="1" dirty="0" err="1"/>
                  <a:t>expr</a:t>
                </a:r>
                <a:endParaRPr lang="en-US" i="1" dirty="0"/>
              </a:p>
              <a:p>
                <a:r>
                  <a:rPr lang="en-US" dirty="0"/>
                  <a:t>           | </a:t>
                </a:r>
                <a:r>
                  <a:rPr lang="en-US" b="1" dirty="0"/>
                  <a:t>map</a:t>
                </a:r>
                <a:r>
                  <a:rPr lang="en-US" dirty="0"/>
                  <a:t> </a:t>
                </a:r>
                <a:r>
                  <a:rPr lang="en-US" i="1" dirty="0"/>
                  <a:t>expr </a:t>
                </a:r>
                <a:r>
                  <a:rPr lang="en-US" i="1" dirty="0" err="1"/>
                  <a:t>expr</a:t>
                </a:r>
                <a:endParaRPr lang="en-US" i="1" dirty="0"/>
              </a:p>
              <a:p>
                <a:r>
                  <a:rPr lang="en-US" dirty="0"/>
                  <a:t>           | </a:t>
                </a:r>
                <a:r>
                  <a:rPr lang="en-US" b="1" dirty="0" err="1"/>
                  <a:t>foldl</a:t>
                </a:r>
                <a:r>
                  <a:rPr lang="en-US" dirty="0"/>
                  <a:t>  </a:t>
                </a:r>
                <a:r>
                  <a:rPr lang="en-US" i="1" dirty="0"/>
                  <a:t>expr </a:t>
                </a:r>
                <a:r>
                  <a:rPr lang="en-US" i="1" dirty="0" err="1"/>
                  <a:t>expr</a:t>
                </a:r>
                <a:r>
                  <a:rPr lang="en-US" i="1" dirty="0"/>
                  <a:t> </a:t>
                </a:r>
                <a:r>
                  <a:rPr lang="en-US" i="1" dirty="0" err="1"/>
                  <a:t>expr</a:t>
                </a:r>
                <a:endParaRPr lang="en-US" i="1" dirty="0"/>
              </a:p>
              <a:p>
                <a:r>
                  <a:rPr lang="en-US" dirty="0"/>
                  <a:t>           | </a:t>
                </a:r>
                <a:r>
                  <a:rPr lang="en-US" i="1" dirty="0" err="1"/>
                  <a:t>boolExpr</a:t>
                </a:r>
                <a:r>
                  <a:rPr lang="en-US" dirty="0"/>
                  <a:t> | </a:t>
                </a:r>
                <a:r>
                  <a:rPr lang="en-US" i="1" dirty="0" err="1"/>
                  <a:t>arithExpr</a:t>
                </a:r>
                <a:endParaRPr lang="en-US" i="1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15" y="179998"/>
                <a:ext cx="2808782" cy="1754326"/>
              </a:xfrm>
              <a:prstGeom prst="rect">
                <a:avLst/>
              </a:prstGeom>
              <a:blipFill>
                <a:blip r:embed="rId2"/>
                <a:stretch>
                  <a:fillRect l="-1735" t="-2091" r="-1518"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4355870" y="1479664"/>
            <a:ext cx="21291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dropmins</a:t>
            </a:r>
            <a:r>
              <a:rPr lang="en-US" sz="2000" dirty="0"/>
              <a:t> in =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9135" y="2626821"/>
            <a:ext cx="378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97774" y="2626821"/>
                <a:ext cx="109055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</a:rPr>
                  <a:t>expr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774" y="2626821"/>
                <a:ext cx="1090555" cy="400110"/>
              </a:xfrm>
              <a:prstGeom prst="rect">
                <a:avLst/>
              </a:prstGeom>
              <a:blipFill>
                <a:blip r:embed="rId3"/>
                <a:stretch>
                  <a:fillRect t="-9091" r="-5587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2017221" y="2626821"/>
            <a:ext cx="1731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filter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70218" y="2626821"/>
            <a:ext cx="16916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map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65528" y="2626821"/>
            <a:ext cx="2151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fold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13732" y="2626821"/>
            <a:ext cx="1107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accent1"/>
                </a:solidFill>
              </a:rPr>
              <a:t>boolExpr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322000" y="2626821"/>
            <a:ext cx="1138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accent1"/>
                </a:solidFill>
              </a:rPr>
              <a:t>arithExpr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5935287" y="1762298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cxnSp>
        <p:nvCxnSpPr>
          <p:cNvPr id="16" name="Straight Arrow Connector 15"/>
          <p:cNvCxnSpPr>
            <a:stCxn id="14" idx="4"/>
            <a:endCxn id="7" idx="0"/>
          </p:cNvCxnSpPr>
          <p:nvPr/>
        </p:nvCxnSpPr>
        <p:spPr>
          <a:xfrm flipH="1">
            <a:off x="1399418" y="1808017"/>
            <a:ext cx="4558729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4" idx="4"/>
            <a:endCxn id="9" idx="0"/>
          </p:cNvCxnSpPr>
          <p:nvPr/>
        </p:nvCxnSpPr>
        <p:spPr>
          <a:xfrm flipH="1">
            <a:off x="2798942" y="1808017"/>
            <a:ext cx="3159205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4" idx="5"/>
            <a:endCxn id="10" idx="0"/>
          </p:cNvCxnSpPr>
          <p:nvPr/>
        </p:nvCxnSpPr>
        <p:spPr>
          <a:xfrm flipH="1">
            <a:off x="5174275" y="1801322"/>
            <a:ext cx="800036" cy="825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4" idx="4"/>
            <a:endCxn id="11" idx="0"/>
          </p:cNvCxnSpPr>
          <p:nvPr/>
        </p:nvCxnSpPr>
        <p:spPr>
          <a:xfrm>
            <a:off x="5958147" y="1808017"/>
            <a:ext cx="1385662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4" idx="4"/>
            <a:endCxn id="12" idx="0"/>
          </p:cNvCxnSpPr>
          <p:nvPr/>
        </p:nvCxnSpPr>
        <p:spPr>
          <a:xfrm>
            <a:off x="5958147" y="1808017"/>
            <a:ext cx="3363898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4" idx="4"/>
            <a:endCxn id="13" idx="0"/>
          </p:cNvCxnSpPr>
          <p:nvPr/>
        </p:nvCxnSpPr>
        <p:spPr>
          <a:xfrm>
            <a:off x="5958147" y="1808017"/>
            <a:ext cx="4884188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4" idx="4"/>
            <a:endCxn id="6" idx="0"/>
          </p:cNvCxnSpPr>
          <p:nvPr/>
        </p:nvCxnSpPr>
        <p:spPr>
          <a:xfrm flipH="1">
            <a:off x="528832" y="1808017"/>
            <a:ext cx="5429315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ross 7"/>
          <p:cNvSpPr/>
          <p:nvPr/>
        </p:nvSpPr>
        <p:spPr>
          <a:xfrm rot="18888170">
            <a:off x="379409" y="2668288"/>
            <a:ext cx="339326" cy="341906"/>
          </a:xfrm>
          <a:prstGeom prst="plus">
            <a:avLst>
              <a:gd name="adj" fmla="val 4387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5" name="Cross 24"/>
          <p:cNvSpPr/>
          <p:nvPr/>
        </p:nvSpPr>
        <p:spPr>
          <a:xfrm rot="18888170">
            <a:off x="1320587" y="2640534"/>
            <a:ext cx="339326" cy="341906"/>
          </a:xfrm>
          <a:prstGeom prst="plus">
            <a:avLst>
              <a:gd name="adj" fmla="val 4387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8" name="Right Arrow 27"/>
          <p:cNvSpPr/>
          <p:nvPr/>
        </p:nvSpPr>
        <p:spPr>
          <a:xfrm rot="14165526">
            <a:off x="4957439" y="3115379"/>
            <a:ext cx="707666" cy="437322"/>
          </a:xfrm>
          <a:prstGeom prst="rightArrow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1" name="Cross 30"/>
          <p:cNvSpPr/>
          <p:nvPr/>
        </p:nvSpPr>
        <p:spPr>
          <a:xfrm rot="18888170">
            <a:off x="9145611" y="2667595"/>
            <a:ext cx="339326" cy="341906"/>
          </a:xfrm>
          <a:prstGeom prst="plus">
            <a:avLst>
              <a:gd name="adj" fmla="val 4387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2" name="Cross 31"/>
          <p:cNvSpPr/>
          <p:nvPr/>
        </p:nvSpPr>
        <p:spPr>
          <a:xfrm rot="18888170">
            <a:off x="10612523" y="2667596"/>
            <a:ext cx="339326" cy="341906"/>
          </a:xfrm>
          <a:prstGeom prst="plus">
            <a:avLst>
              <a:gd name="adj" fmla="val 4387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81212" y="3626901"/>
                <a:ext cx="4152099" cy="8845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𝑚𝑎𝑝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→[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] 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12" y="3626901"/>
                <a:ext cx="4152099" cy="8845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473532" y="3891023"/>
                <a:ext cx="7698261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solidFill>
                      <a:schemeClr val="accent2">
                        <a:lumMod val="50000"/>
                      </a:schemeClr>
                    </a:solidFill>
                  </a:rPr>
                  <a:t>We know the output should be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32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3200" b="0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𝐼𝑛𝑡</m:t>
                            </m:r>
                          </m:e>
                        </m:d>
                        <m:r>
                          <a:rPr lang="en-US" sz="32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br>
                  <a:rPr lang="en-US" sz="3200" b="0" dirty="0">
                    <a:solidFill>
                      <a:schemeClr val="accent2">
                        <a:lumMod val="50000"/>
                      </a:schemeClr>
                    </a:solidFill>
                  </a:rPr>
                </a:br>
                <a:r>
                  <a:rPr lang="en-US" sz="3200" b="0" dirty="0">
                    <a:solidFill>
                      <a:schemeClr val="accent2">
                        <a:lumMod val="50000"/>
                      </a:schemeClr>
                    </a:solidFill>
                  </a:rPr>
                  <a:t>This means the first expr must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2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→[</m:t>
                    </m:r>
                    <m:r>
                      <a:rPr lang="en-US" sz="32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𝐼𝑛𝑡</m:t>
                    </m:r>
                    <m:r>
                      <a:rPr lang="en-US" sz="32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3200" dirty="0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  <a:br>
                  <a:rPr lang="en-US" sz="3200" dirty="0">
                    <a:solidFill>
                      <a:schemeClr val="accent2">
                        <a:lumMod val="50000"/>
                      </a:schemeClr>
                    </a:solidFill>
                  </a:rPr>
                </a:br>
                <a:r>
                  <a:rPr lang="en-US" sz="3200" dirty="0">
                    <a:solidFill>
                      <a:schemeClr val="accent2">
                        <a:lumMod val="50000"/>
                      </a:schemeClr>
                    </a:solidFill>
                  </a:rPr>
                  <a:t>otherwise the types won’t match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3532" y="3891023"/>
                <a:ext cx="7698261" cy="1569660"/>
              </a:xfrm>
              <a:prstGeom prst="rect">
                <a:avLst/>
              </a:prstGeom>
              <a:blipFill>
                <a:blip r:embed="rId5"/>
                <a:stretch>
                  <a:fillRect l="-2059" t="-4651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59888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Type-based pruning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144015" y="179998"/>
                <a:ext cx="2808782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/>
                  <a:t>expr</a:t>
                </a:r>
                <a:r>
                  <a:rPr lang="en-US" dirty="0"/>
                  <a:t> =  </a:t>
                </a:r>
                <a:r>
                  <a:rPr lang="en-US" dirty="0" err="1"/>
                  <a:t>var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           |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𝑒𝑥𝑝𝑟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           | </a:t>
                </a:r>
                <a:r>
                  <a:rPr lang="en-US" b="1" dirty="0"/>
                  <a:t>filter</a:t>
                </a:r>
                <a:r>
                  <a:rPr lang="en-US" dirty="0"/>
                  <a:t> </a:t>
                </a:r>
                <a:r>
                  <a:rPr lang="en-US" i="1" dirty="0"/>
                  <a:t>expr </a:t>
                </a:r>
                <a:r>
                  <a:rPr lang="en-US" i="1" dirty="0" err="1"/>
                  <a:t>expr</a:t>
                </a:r>
                <a:endParaRPr lang="en-US" i="1" dirty="0"/>
              </a:p>
              <a:p>
                <a:r>
                  <a:rPr lang="en-US" dirty="0"/>
                  <a:t>           | </a:t>
                </a:r>
                <a:r>
                  <a:rPr lang="en-US" b="1" dirty="0"/>
                  <a:t>map</a:t>
                </a:r>
                <a:r>
                  <a:rPr lang="en-US" dirty="0"/>
                  <a:t> </a:t>
                </a:r>
                <a:r>
                  <a:rPr lang="en-US" i="1" dirty="0"/>
                  <a:t>expr </a:t>
                </a:r>
                <a:r>
                  <a:rPr lang="en-US" i="1" dirty="0" err="1"/>
                  <a:t>expr</a:t>
                </a:r>
                <a:endParaRPr lang="en-US" i="1" dirty="0"/>
              </a:p>
              <a:p>
                <a:r>
                  <a:rPr lang="en-US" dirty="0"/>
                  <a:t>           | </a:t>
                </a:r>
                <a:r>
                  <a:rPr lang="en-US" b="1" dirty="0" err="1"/>
                  <a:t>foldl</a:t>
                </a:r>
                <a:r>
                  <a:rPr lang="en-US" dirty="0"/>
                  <a:t>  </a:t>
                </a:r>
                <a:r>
                  <a:rPr lang="en-US" i="1" dirty="0"/>
                  <a:t>expr </a:t>
                </a:r>
                <a:r>
                  <a:rPr lang="en-US" i="1" dirty="0" err="1"/>
                  <a:t>expr</a:t>
                </a:r>
                <a:r>
                  <a:rPr lang="en-US" i="1" dirty="0"/>
                  <a:t> </a:t>
                </a:r>
                <a:r>
                  <a:rPr lang="en-US" i="1" dirty="0" err="1"/>
                  <a:t>expr</a:t>
                </a:r>
                <a:endParaRPr lang="en-US" i="1" dirty="0"/>
              </a:p>
              <a:p>
                <a:r>
                  <a:rPr lang="en-US" dirty="0"/>
                  <a:t>           | </a:t>
                </a:r>
                <a:r>
                  <a:rPr lang="en-US" i="1" dirty="0" err="1"/>
                  <a:t>boolExpr</a:t>
                </a:r>
                <a:r>
                  <a:rPr lang="en-US" dirty="0"/>
                  <a:t> | </a:t>
                </a:r>
                <a:r>
                  <a:rPr lang="en-US" i="1" dirty="0" err="1"/>
                  <a:t>arithExpr</a:t>
                </a:r>
                <a:endParaRPr lang="en-US" i="1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15" y="179998"/>
                <a:ext cx="2808782" cy="1754326"/>
              </a:xfrm>
              <a:prstGeom prst="rect">
                <a:avLst/>
              </a:prstGeom>
              <a:blipFill>
                <a:blip r:embed="rId2"/>
                <a:stretch>
                  <a:fillRect l="-1735" t="-2091" r="-1518"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4355870" y="1479664"/>
            <a:ext cx="21291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dropmins</a:t>
            </a:r>
            <a:r>
              <a:rPr lang="en-US" sz="2000" dirty="0"/>
              <a:t> in =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9135" y="2626821"/>
            <a:ext cx="378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97774" y="2626821"/>
                <a:ext cx="109055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</a:rPr>
                  <a:t>expr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774" y="2626821"/>
                <a:ext cx="1090555" cy="400110"/>
              </a:xfrm>
              <a:prstGeom prst="rect">
                <a:avLst/>
              </a:prstGeom>
              <a:blipFill>
                <a:blip r:embed="rId3"/>
                <a:stretch>
                  <a:fillRect t="-9091" r="-5587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2017221" y="2626821"/>
            <a:ext cx="1731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filter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70218" y="2626821"/>
            <a:ext cx="16916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map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65528" y="2626821"/>
            <a:ext cx="2151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fold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13732" y="2626821"/>
            <a:ext cx="1107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accent1"/>
                </a:solidFill>
              </a:rPr>
              <a:t>boolExpr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322000" y="2626821"/>
            <a:ext cx="1138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accent1"/>
                </a:solidFill>
              </a:rPr>
              <a:t>arithExpr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5935287" y="1762298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cxnSp>
        <p:nvCxnSpPr>
          <p:cNvPr id="16" name="Straight Arrow Connector 15"/>
          <p:cNvCxnSpPr>
            <a:stCxn id="14" idx="4"/>
            <a:endCxn id="7" idx="0"/>
          </p:cNvCxnSpPr>
          <p:nvPr/>
        </p:nvCxnSpPr>
        <p:spPr>
          <a:xfrm flipH="1">
            <a:off x="1399418" y="1808017"/>
            <a:ext cx="4558729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4" idx="4"/>
            <a:endCxn id="9" idx="0"/>
          </p:cNvCxnSpPr>
          <p:nvPr/>
        </p:nvCxnSpPr>
        <p:spPr>
          <a:xfrm flipH="1">
            <a:off x="2798942" y="1808017"/>
            <a:ext cx="3159205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4" idx="5"/>
            <a:endCxn id="10" idx="0"/>
          </p:cNvCxnSpPr>
          <p:nvPr/>
        </p:nvCxnSpPr>
        <p:spPr>
          <a:xfrm flipH="1">
            <a:off x="5174275" y="1801322"/>
            <a:ext cx="800036" cy="825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4" idx="4"/>
            <a:endCxn id="11" idx="0"/>
          </p:cNvCxnSpPr>
          <p:nvPr/>
        </p:nvCxnSpPr>
        <p:spPr>
          <a:xfrm>
            <a:off x="5958147" y="1808017"/>
            <a:ext cx="1385662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4" idx="4"/>
            <a:endCxn id="12" idx="0"/>
          </p:cNvCxnSpPr>
          <p:nvPr/>
        </p:nvCxnSpPr>
        <p:spPr>
          <a:xfrm>
            <a:off x="5958147" y="1808017"/>
            <a:ext cx="3363898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4" idx="4"/>
            <a:endCxn id="13" idx="0"/>
          </p:cNvCxnSpPr>
          <p:nvPr/>
        </p:nvCxnSpPr>
        <p:spPr>
          <a:xfrm>
            <a:off x="5958147" y="1808017"/>
            <a:ext cx="4884188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4" idx="4"/>
            <a:endCxn id="6" idx="0"/>
          </p:cNvCxnSpPr>
          <p:nvPr/>
        </p:nvCxnSpPr>
        <p:spPr>
          <a:xfrm flipH="1">
            <a:off x="528832" y="1808017"/>
            <a:ext cx="5429315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ross 7"/>
          <p:cNvSpPr/>
          <p:nvPr/>
        </p:nvSpPr>
        <p:spPr>
          <a:xfrm rot="18888170">
            <a:off x="379409" y="2668288"/>
            <a:ext cx="339326" cy="341906"/>
          </a:xfrm>
          <a:prstGeom prst="plus">
            <a:avLst>
              <a:gd name="adj" fmla="val 4387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5" name="Cross 24"/>
          <p:cNvSpPr/>
          <p:nvPr/>
        </p:nvSpPr>
        <p:spPr>
          <a:xfrm rot="18888170">
            <a:off x="1320587" y="2640534"/>
            <a:ext cx="339326" cy="341906"/>
          </a:xfrm>
          <a:prstGeom prst="plus">
            <a:avLst>
              <a:gd name="adj" fmla="val 4387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1" name="Cross 30"/>
          <p:cNvSpPr/>
          <p:nvPr/>
        </p:nvSpPr>
        <p:spPr>
          <a:xfrm rot="18888170">
            <a:off x="9145611" y="2667595"/>
            <a:ext cx="339326" cy="341906"/>
          </a:xfrm>
          <a:prstGeom prst="plus">
            <a:avLst>
              <a:gd name="adj" fmla="val 4387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2" name="Cross 31"/>
          <p:cNvSpPr/>
          <p:nvPr/>
        </p:nvSpPr>
        <p:spPr>
          <a:xfrm rot="18888170">
            <a:off x="10612523" y="2667596"/>
            <a:ext cx="339326" cy="341906"/>
          </a:xfrm>
          <a:prstGeom prst="plus">
            <a:avLst>
              <a:gd name="adj" fmla="val 4387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7" name="TextBox 26"/>
          <p:cNvSpPr txBox="1"/>
          <p:nvPr/>
        </p:nvSpPr>
        <p:spPr>
          <a:xfrm>
            <a:off x="262996" y="4042488"/>
            <a:ext cx="378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811635" y="4042488"/>
                <a:ext cx="109055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</a:rPr>
                  <a:t>expr</a:t>
                </a: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635" y="4042488"/>
                <a:ext cx="1090555" cy="400110"/>
              </a:xfrm>
              <a:prstGeom prst="rect">
                <a:avLst/>
              </a:prstGeom>
              <a:blipFill>
                <a:blip r:embed="rId4"/>
                <a:stretch>
                  <a:fillRect t="-7576" r="-5587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/>
          <p:cNvSpPr txBox="1"/>
          <p:nvPr/>
        </p:nvSpPr>
        <p:spPr>
          <a:xfrm>
            <a:off x="1931082" y="4042488"/>
            <a:ext cx="1731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filter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084079" y="4042488"/>
            <a:ext cx="16916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map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279389" y="4042488"/>
            <a:ext cx="2151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fold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727593" y="4042488"/>
            <a:ext cx="1107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accent1"/>
                </a:solidFill>
              </a:rPr>
              <a:t>boolExpr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235861" y="4042488"/>
            <a:ext cx="1138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accent1"/>
                </a:solidFill>
              </a:rPr>
              <a:t>arithExpr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4886453" y="2992946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cxnSp>
        <p:nvCxnSpPr>
          <p:cNvPr id="40" name="Straight Arrow Connector 39"/>
          <p:cNvCxnSpPr>
            <a:stCxn id="39" idx="4"/>
            <a:endCxn id="30" idx="0"/>
          </p:cNvCxnSpPr>
          <p:nvPr/>
        </p:nvCxnSpPr>
        <p:spPr>
          <a:xfrm flipH="1">
            <a:off x="1356913" y="3038665"/>
            <a:ext cx="3552400" cy="1003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39" idx="4"/>
            <a:endCxn id="34" idx="0"/>
          </p:cNvCxnSpPr>
          <p:nvPr/>
        </p:nvCxnSpPr>
        <p:spPr>
          <a:xfrm flipH="1">
            <a:off x="2796993" y="3038665"/>
            <a:ext cx="2112320" cy="1003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9" idx="4"/>
            <a:endCxn id="35" idx="0"/>
          </p:cNvCxnSpPr>
          <p:nvPr/>
        </p:nvCxnSpPr>
        <p:spPr>
          <a:xfrm>
            <a:off x="4909313" y="3038665"/>
            <a:ext cx="20607" cy="1003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39" idx="4"/>
            <a:endCxn id="36" idx="0"/>
          </p:cNvCxnSpPr>
          <p:nvPr/>
        </p:nvCxnSpPr>
        <p:spPr>
          <a:xfrm>
            <a:off x="4909313" y="3038665"/>
            <a:ext cx="2446044" cy="1003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39" idx="4"/>
            <a:endCxn id="37" idx="0"/>
          </p:cNvCxnSpPr>
          <p:nvPr/>
        </p:nvCxnSpPr>
        <p:spPr>
          <a:xfrm>
            <a:off x="4909313" y="3038665"/>
            <a:ext cx="4372278" cy="1003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9" idx="4"/>
            <a:endCxn id="38" idx="0"/>
          </p:cNvCxnSpPr>
          <p:nvPr/>
        </p:nvCxnSpPr>
        <p:spPr>
          <a:xfrm>
            <a:off x="4909313" y="3038665"/>
            <a:ext cx="5895775" cy="1003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39" idx="4"/>
            <a:endCxn id="27" idx="0"/>
          </p:cNvCxnSpPr>
          <p:nvPr/>
        </p:nvCxnSpPr>
        <p:spPr>
          <a:xfrm flipH="1">
            <a:off x="452311" y="3038665"/>
            <a:ext cx="4457002" cy="1003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ross 46"/>
          <p:cNvSpPr/>
          <p:nvPr/>
        </p:nvSpPr>
        <p:spPr>
          <a:xfrm rot="18888170">
            <a:off x="293270" y="4083955"/>
            <a:ext cx="339326" cy="341906"/>
          </a:xfrm>
          <a:prstGeom prst="plus">
            <a:avLst>
              <a:gd name="adj" fmla="val 4387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49" name="Cross 48"/>
          <p:cNvSpPr/>
          <p:nvPr/>
        </p:nvSpPr>
        <p:spPr>
          <a:xfrm rot="18888170">
            <a:off x="9059472" y="4083262"/>
            <a:ext cx="339326" cy="341906"/>
          </a:xfrm>
          <a:prstGeom prst="plus">
            <a:avLst>
              <a:gd name="adj" fmla="val 4387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0" name="Cross 49"/>
          <p:cNvSpPr/>
          <p:nvPr/>
        </p:nvSpPr>
        <p:spPr>
          <a:xfrm rot="18888170">
            <a:off x="10526384" y="4083263"/>
            <a:ext cx="339326" cy="341906"/>
          </a:xfrm>
          <a:prstGeom prst="plus">
            <a:avLst>
              <a:gd name="adj" fmla="val 4387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2088116" y="5151557"/>
                <a:ext cx="8485849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solidFill>
                      <a:schemeClr val="accent2">
                        <a:lumMod val="50000"/>
                      </a:schemeClr>
                    </a:solidFill>
                  </a:rPr>
                  <a:t>We can quickly dismiss many possible expressions</a:t>
                </a:r>
              </a:p>
              <a:p>
                <a:r>
                  <a:rPr lang="en-US" sz="3200" dirty="0">
                    <a:solidFill>
                      <a:schemeClr val="accent2">
                        <a:lumMod val="50000"/>
                      </a:schemeClr>
                    </a:solidFill>
                  </a:rPr>
                  <a:t>because they cannot produce the type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2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→[</m:t>
                    </m:r>
                    <m:r>
                      <a:rPr lang="en-US" sz="32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𝐼𝑛𝑡</m:t>
                    </m:r>
                    <m:r>
                      <a:rPr lang="en-US" sz="32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3200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8116" y="5151557"/>
                <a:ext cx="8485849" cy="1077218"/>
              </a:xfrm>
              <a:prstGeom prst="rect">
                <a:avLst/>
              </a:prstGeom>
              <a:blipFill>
                <a:blip r:embed="rId5"/>
                <a:stretch>
                  <a:fillRect l="-1868" t="-7345" r="-718" b="-180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07492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can do better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observation: in some cases we can propagate examples to the sub-components</a:t>
            </a:r>
          </a:p>
        </p:txBody>
      </p:sp>
    </p:spTree>
    <p:extLst>
      <p:ext uri="{BB962C8B-B14F-4D97-AF65-F5344CB8AC3E}">
        <p14:creationId xmlns:p14="http://schemas.microsoft.com/office/powerpoint/2010/main" val="1900756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7743669" y="1761268"/>
            <a:ext cx="644577" cy="692904"/>
          </a:xfrm>
          <a:prstGeom prst="rightArrow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40102" y="1376815"/>
                <a:ext cx="2869311" cy="14618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7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1,</m:t>
                                          </m:r>
                                        </m:e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75,</m:t>
                                          </m:r>
                                        </m:e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83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9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0,</m:t>
                                          </m:r>
                                        </m:e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87,</m:t>
                                          </m:r>
                                        </m:e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95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6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8,</m:t>
                                          </m:r>
                                        </m:e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77,</m:t>
                                          </m:r>
                                        </m:e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80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102" y="1376815"/>
                <a:ext cx="2869311" cy="14618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388246" y="1354752"/>
                <a:ext cx="2038956" cy="14618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7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5,</m:t>
                                          </m:r>
                                        </m:e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83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9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95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8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7</m:t>
                                          </m:r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7</m:t>
                                          </m:r>
                                        </m:e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80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8246" y="1354752"/>
                <a:ext cx="2038956" cy="14618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255682" y="1731714"/>
                <a:ext cx="361913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dirty="0"/>
                  <a:t>map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𝑖𝑛</m:t>
                    </m:r>
                  </m:oMath>
                </a14:m>
                <a:r>
                  <a:rPr lang="en-US" sz="4000" dirty="0"/>
                  <a:t> </a:t>
                </a:r>
                <a14:m>
                  <m:oMath xmlns:m="http://schemas.openxmlformats.org/officeDocument/2006/math">
                    <m:r>
                      <a:rPr lang="en-US" sz="4000" b="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4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4000" b="0" i="1" dirty="0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sz="4000" b="0" i="1" dirty="0" smtClean="0">
                        <a:latin typeface="Cambria Math" panose="02040503050406030204" pitchFamily="18" charset="0"/>
                      </a:rPr>
                      <m:t>𝑒𝑥𝑝𝑟</m:t>
                    </m:r>
                  </m:oMath>
                </a14:m>
                <a:endParaRPr lang="en-US" sz="4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5682" y="1731714"/>
                <a:ext cx="3619132" cy="707886"/>
              </a:xfrm>
              <a:prstGeom prst="rect">
                <a:avLst/>
              </a:prstGeom>
              <a:blipFill>
                <a:blip r:embed="rId4"/>
                <a:stretch>
                  <a:fillRect l="-5892"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3826386" y="1952077"/>
            <a:ext cx="322288" cy="3112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577345" y="3795759"/>
                <a:ext cx="2576154" cy="21643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eqArr>
                              <m:eqArr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7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1,</m:t>
                                          </m:r>
                                        </m:e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75,</m:t>
                                          </m:r>
                                        </m:e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83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  <m:e/>
                            </m:eqArr>
                          </m:e>
                        </m:mr>
                        <m:mr>
                          <m:e>
                            <m:eqArr>
                              <m:eqArr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9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0,</m:t>
                                          </m:r>
                                        </m:e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87,</m:t>
                                          </m:r>
                                        </m:e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95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  <m:e/>
                            </m:eqArr>
                          </m:e>
                        </m:mr>
                        <m:m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8,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77,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80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7345" y="3795759"/>
                <a:ext cx="2576154" cy="21643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912253" y="3795759"/>
                <a:ext cx="1745799" cy="21643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eqArr>
                              <m:eqArr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7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5,</m:t>
                                          </m:r>
                                        </m:e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83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  <m:e/>
                            </m:eqArr>
                          </m:e>
                        </m:mr>
                        <m:mr>
                          <m:e>
                            <m:eqArr>
                              <m:eqArr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9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95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  <m:e/>
                            </m:eqArr>
                          </m:e>
                        </m:mr>
                        <m:m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80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2253" y="3795759"/>
                <a:ext cx="1745799" cy="21643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001650" y="4554748"/>
                <a:ext cx="192078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𝑒𝑥𝑝𝑟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1650" y="4554748"/>
                <a:ext cx="1920782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ight Arrow 14"/>
          <p:cNvSpPr/>
          <p:nvPr/>
        </p:nvSpPr>
        <p:spPr>
          <a:xfrm>
            <a:off x="6904125" y="4508175"/>
            <a:ext cx="644577" cy="692904"/>
          </a:xfrm>
          <a:prstGeom prst="rightArrow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300078" y="4698984"/>
            <a:ext cx="322288" cy="3112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587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Continuing the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713532" y="1247112"/>
                <a:ext cx="2576154" cy="13767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1,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75,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83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  <m:m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0,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87,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95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  <m:m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8,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77,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80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532" y="1247112"/>
                <a:ext cx="2576154" cy="13767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048440" y="1247112"/>
                <a:ext cx="1745799" cy="13767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5,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83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  <m:m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95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  <m:m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80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8440" y="1247112"/>
                <a:ext cx="1745799" cy="13767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246323" y="1636789"/>
                <a:ext cx="192078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𝑒𝑥𝑝𝑟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6323" y="1636789"/>
                <a:ext cx="1920782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Arrow 6"/>
          <p:cNvSpPr/>
          <p:nvPr/>
        </p:nvSpPr>
        <p:spPr>
          <a:xfrm>
            <a:off x="7148798" y="1590216"/>
            <a:ext cx="644577" cy="692904"/>
          </a:xfrm>
          <a:prstGeom prst="rightArrow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44751" y="1781025"/>
            <a:ext cx="322288" cy="3112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57697" y="3337387"/>
            <a:ext cx="378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306336" y="3337387"/>
                <a:ext cx="109055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</a:rPr>
                  <a:t>expr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6336" y="3337387"/>
                <a:ext cx="1090555" cy="400110"/>
              </a:xfrm>
              <a:prstGeom prst="rect">
                <a:avLst/>
              </a:prstGeom>
              <a:blipFill>
                <a:blip r:embed="rId5"/>
                <a:stretch>
                  <a:fillRect t="-7576" r="-5587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2425783" y="3337387"/>
            <a:ext cx="1731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filter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8780" y="3337387"/>
            <a:ext cx="16916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map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74090" y="3337387"/>
            <a:ext cx="2151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fold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22294" y="3337387"/>
            <a:ext cx="1107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accent1"/>
                </a:solidFill>
              </a:rPr>
              <a:t>boolExpr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30562" y="3337387"/>
            <a:ext cx="1138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accent1"/>
                </a:solidFill>
              </a:rPr>
              <a:t>arithExpr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6343849" y="2472864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>
            <a:stCxn id="16" idx="4"/>
            <a:endCxn id="10" idx="0"/>
          </p:cNvCxnSpPr>
          <p:nvPr/>
        </p:nvCxnSpPr>
        <p:spPr>
          <a:xfrm flipH="1">
            <a:off x="1851614" y="2518583"/>
            <a:ext cx="4515095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6" idx="4"/>
            <a:endCxn id="11" idx="0"/>
          </p:cNvCxnSpPr>
          <p:nvPr/>
        </p:nvCxnSpPr>
        <p:spPr>
          <a:xfrm flipH="1">
            <a:off x="3291694" y="2518583"/>
            <a:ext cx="3075015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6" idx="5"/>
            <a:endCxn id="12" idx="0"/>
          </p:cNvCxnSpPr>
          <p:nvPr/>
        </p:nvCxnSpPr>
        <p:spPr>
          <a:xfrm flipH="1">
            <a:off x="5424621" y="2511888"/>
            <a:ext cx="958252" cy="825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6" idx="4"/>
            <a:endCxn id="13" idx="0"/>
          </p:cNvCxnSpPr>
          <p:nvPr/>
        </p:nvCxnSpPr>
        <p:spPr>
          <a:xfrm>
            <a:off x="6366709" y="2518583"/>
            <a:ext cx="1483349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6" idx="4"/>
            <a:endCxn id="14" idx="0"/>
          </p:cNvCxnSpPr>
          <p:nvPr/>
        </p:nvCxnSpPr>
        <p:spPr>
          <a:xfrm>
            <a:off x="6366709" y="2518583"/>
            <a:ext cx="3409583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6" idx="4"/>
            <a:endCxn id="15" idx="0"/>
          </p:cNvCxnSpPr>
          <p:nvPr/>
        </p:nvCxnSpPr>
        <p:spPr>
          <a:xfrm>
            <a:off x="6366709" y="2518583"/>
            <a:ext cx="4933080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6" idx="4"/>
            <a:endCxn id="9" idx="0"/>
          </p:cNvCxnSpPr>
          <p:nvPr/>
        </p:nvCxnSpPr>
        <p:spPr>
          <a:xfrm flipH="1">
            <a:off x="947012" y="2518583"/>
            <a:ext cx="5419697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ight Arrow 25"/>
          <p:cNvSpPr/>
          <p:nvPr/>
        </p:nvSpPr>
        <p:spPr>
          <a:xfrm rot="14165526">
            <a:off x="782728" y="3923635"/>
            <a:ext cx="707666" cy="437322"/>
          </a:xfrm>
          <a:prstGeom prst="rightArrow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7" name="TextBox 26"/>
          <p:cNvSpPr txBox="1"/>
          <p:nvPr/>
        </p:nvSpPr>
        <p:spPr>
          <a:xfrm>
            <a:off x="1258812" y="4470790"/>
            <a:ext cx="561365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This is a fully concrete program, and </a:t>
            </a:r>
            <a:br>
              <a:rPr lang="en-US" sz="28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it clearly doesn’t match the examples</a:t>
            </a:r>
          </a:p>
        </p:txBody>
      </p:sp>
    </p:spTree>
    <p:extLst>
      <p:ext uri="{BB962C8B-B14F-4D97-AF65-F5344CB8AC3E}">
        <p14:creationId xmlns:p14="http://schemas.microsoft.com/office/powerpoint/2010/main" val="24758958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Continuing the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713532" y="1247112"/>
                <a:ext cx="2576154" cy="13767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1,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75,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83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  <m:m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0,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87,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95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  <m:m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8,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77,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80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532" y="1247112"/>
                <a:ext cx="2576154" cy="13767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048440" y="1247112"/>
                <a:ext cx="1745799" cy="13767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5,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83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  <m:m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95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  <m:m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80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8440" y="1247112"/>
                <a:ext cx="1745799" cy="13767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246323" y="1636789"/>
                <a:ext cx="192078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𝑒𝑥𝑝𝑟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6323" y="1636789"/>
                <a:ext cx="1920782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Arrow 6"/>
          <p:cNvSpPr/>
          <p:nvPr/>
        </p:nvSpPr>
        <p:spPr>
          <a:xfrm>
            <a:off x="7148798" y="1590216"/>
            <a:ext cx="644577" cy="692904"/>
          </a:xfrm>
          <a:prstGeom prst="rightArrow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44751" y="1781025"/>
            <a:ext cx="322288" cy="3112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57697" y="3337387"/>
            <a:ext cx="378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306336" y="3337387"/>
                <a:ext cx="109055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</a:rPr>
                  <a:t>expr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6336" y="3337387"/>
                <a:ext cx="1090555" cy="400110"/>
              </a:xfrm>
              <a:prstGeom prst="rect">
                <a:avLst/>
              </a:prstGeom>
              <a:blipFill>
                <a:blip r:embed="rId5"/>
                <a:stretch>
                  <a:fillRect t="-7576" r="-5587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2425783" y="3337387"/>
            <a:ext cx="1731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filter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8780" y="3337387"/>
            <a:ext cx="16916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map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74090" y="3337387"/>
            <a:ext cx="2151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fold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22294" y="3337387"/>
            <a:ext cx="1107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accent1"/>
                </a:solidFill>
              </a:rPr>
              <a:t>boolExpr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30562" y="3337387"/>
            <a:ext cx="1138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accent1"/>
                </a:solidFill>
              </a:rPr>
              <a:t>arithExpr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6343849" y="2472864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>
            <a:stCxn id="16" idx="4"/>
            <a:endCxn id="10" idx="0"/>
          </p:cNvCxnSpPr>
          <p:nvPr/>
        </p:nvCxnSpPr>
        <p:spPr>
          <a:xfrm flipH="1">
            <a:off x="1807980" y="2518583"/>
            <a:ext cx="4558729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6" idx="4"/>
            <a:endCxn id="11" idx="0"/>
          </p:cNvCxnSpPr>
          <p:nvPr/>
        </p:nvCxnSpPr>
        <p:spPr>
          <a:xfrm flipH="1">
            <a:off x="3207504" y="2518583"/>
            <a:ext cx="3159205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6" idx="5"/>
            <a:endCxn id="12" idx="0"/>
          </p:cNvCxnSpPr>
          <p:nvPr/>
        </p:nvCxnSpPr>
        <p:spPr>
          <a:xfrm flipH="1">
            <a:off x="5582837" y="2511888"/>
            <a:ext cx="800036" cy="825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6" idx="4"/>
            <a:endCxn id="13" idx="0"/>
          </p:cNvCxnSpPr>
          <p:nvPr/>
        </p:nvCxnSpPr>
        <p:spPr>
          <a:xfrm>
            <a:off x="6366709" y="2518583"/>
            <a:ext cx="1385662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6" idx="4"/>
            <a:endCxn id="14" idx="0"/>
          </p:cNvCxnSpPr>
          <p:nvPr/>
        </p:nvCxnSpPr>
        <p:spPr>
          <a:xfrm>
            <a:off x="6366709" y="2518583"/>
            <a:ext cx="3363898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6" idx="4"/>
            <a:endCxn id="15" idx="0"/>
          </p:cNvCxnSpPr>
          <p:nvPr/>
        </p:nvCxnSpPr>
        <p:spPr>
          <a:xfrm>
            <a:off x="6366709" y="2518583"/>
            <a:ext cx="4884188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6" idx="4"/>
            <a:endCxn id="9" idx="0"/>
          </p:cNvCxnSpPr>
          <p:nvPr/>
        </p:nvCxnSpPr>
        <p:spPr>
          <a:xfrm flipH="1">
            <a:off x="937394" y="2518583"/>
            <a:ext cx="5429315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ight Arrow 24"/>
          <p:cNvSpPr/>
          <p:nvPr/>
        </p:nvSpPr>
        <p:spPr>
          <a:xfrm rot="7434474" flipH="1">
            <a:off x="9173625" y="4024737"/>
            <a:ext cx="707666" cy="437322"/>
          </a:xfrm>
          <a:prstGeom prst="rightArrow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8" name="TextBox 27"/>
          <p:cNvSpPr txBox="1"/>
          <p:nvPr/>
        </p:nvSpPr>
        <p:spPr>
          <a:xfrm>
            <a:off x="4793367" y="4714539"/>
            <a:ext cx="56273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Again, these are all of the wrong type</a:t>
            </a:r>
          </a:p>
        </p:txBody>
      </p:sp>
      <p:sp>
        <p:nvSpPr>
          <p:cNvPr id="29" name="Right Arrow 28"/>
          <p:cNvSpPr/>
          <p:nvPr/>
        </p:nvSpPr>
        <p:spPr>
          <a:xfrm rot="7434474" flipH="1">
            <a:off x="10710139" y="4050226"/>
            <a:ext cx="707666" cy="437322"/>
          </a:xfrm>
          <a:prstGeom prst="rightArrow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0" name="Right Arrow 29"/>
          <p:cNvSpPr/>
          <p:nvPr/>
        </p:nvSpPr>
        <p:spPr>
          <a:xfrm rot="14165526">
            <a:off x="1512302" y="3923635"/>
            <a:ext cx="707666" cy="437322"/>
          </a:xfrm>
          <a:prstGeom prst="rightArrow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1" name="Cross 30"/>
          <p:cNvSpPr/>
          <p:nvPr/>
        </p:nvSpPr>
        <p:spPr>
          <a:xfrm rot="18888170">
            <a:off x="788678" y="3373316"/>
            <a:ext cx="339326" cy="341906"/>
          </a:xfrm>
          <a:prstGeom prst="plus">
            <a:avLst>
              <a:gd name="adj" fmla="val 4387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9745826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Continuing the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713532" y="1247112"/>
                <a:ext cx="2576154" cy="13767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1,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75,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83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  <m:m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0,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87,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95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  <m:m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8,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77,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80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532" y="1247112"/>
                <a:ext cx="2576154" cy="13767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048440" y="1247112"/>
                <a:ext cx="1745799" cy="13767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5,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83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  <m:m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95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  <m:m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80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8440" y="1247112"/>
                <a:ext cx="1745799" cy="13767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246323" y="1636789"/>
                <a:ext cx="192078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𝑒𝑥𝑝𝑟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6323" y="1636789"/>
                <a:ext cx="1920782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Arrow 6"/>
          <p:cNvSpPr/>
          <p:nvPr/>
        </p:nvSpPr>
        <p:spPr>
          <a:xfrm>
            <a:off x="7148798" y="1590216"/>
            <a:ext cx="644577" cy="692904"/>
          </a:xfrm>
          <a:prstGeom prst="rightArrow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44751" y="1781025"/>
            <a:ext cx="322288" cy="3112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57697" y="3337387"/>
            <a:ext cx="378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306336" y="3337387"/>
                <a:ext cx="109055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</a:rPr>
                  <a:t>expr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6336" y="3337387"/>
                <a:ext cx="1090555" cy="400110"/>
              </a:xfrm>
              <a:prstGeom prst="rect">
                <a:avLst/>
              </a:prstGeom>
              <a:blipFill>
                <a:blip r:embed="rId5"/>
                <a:stretch>
                  <a:fillRect t="-7576" r="-5587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2425783" y="3337387"/>
            <a:ext cx="1731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filter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8780" y="3337387"/>
            <a:ext cx="16916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map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74090" y="3337387"/>
            <a:ext cx="2151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fold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expr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accent5">
                    <a:lumMod val="75000"/>
                  </a:schemeClr>
                </a:solidFill>
              </a:rPr>
              <a:t>expr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22294" y="3337387"/>
            <a:ext cx="11079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accent1"/>
                </a:solidFill>
              </a:rPr>
              <a:t>boolExpr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30562" y="3337387"/>
            <a:ext cx="1138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accent1"/>
                </a:solidFill>
              </a:rPr>
              <a:t>arithExpr</a:t>
            </a:r>
            <a:endParaRPr lang="en-US" sz="2000" dirty="0">
              <a:solidFill>
                <a:schemeClr val="accent1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6343849" y="2472864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>
            <a:stCxn id="16" idx="4"/>
            <a:endCxn id="10" idx="0"/>
          </p:cNvCxnSpPr>
          <p:nvPr/>
        </p:nvCxnSpPr>
        <p:spPr>
          <a:xfrm flipH="1">
            <a:off x="1807980" y="2518583"/>
            <a:ext cx="4558729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6" idx="4"/>
            <a:endCxn id="11" idx="0"/>
          </p:cNvCxnSpPr>
          <p:nvPr/>
        </p:nvCxnSpPr>
        <p:spPr>
          <a:xfrm flipH="1">
            <a:off x="3207504" y="2518583"/>
            <a:ext cx="3159205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6" idx="5"/>
            <a:endCxn id="12" idx="0"/>
          </p:cNvCxnSpPr>
          <p:nvPr/>
        </p:nvCxnSpPr>
        <p:spPr>
          <a:xfrm flipH="1">
            <a:off x="5582837" y="2511888"/>
            <a:ext cx="800036" cy="825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6" idx="4"/>
            <a:endCxn id="13" idx="0"/>
          </p:cNvCxnSpPr>
          <p:nvPr/>
        </p:nvCxnSpPr>
        <p:spPr>
          <a:xfrm>
            <a:off x="6366709" y="2518583"/>
            <a:ext cx="1385662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6" idx="4"/>
            <a:endCxn id="14" idx="0"/>
          </p:cNvCxnSpPr>
          <p:nvPr/>
        </p:nvCxnSpPr>
        <p:spPr>
          <a:xfrm>
            <a:off x="6366709" y="2518583"/>
            <a:ext cx="3363898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6" idx="4"/>
            <a:endCxn id="15" idx="0"/>
          </p:cNvCxnSpPr>
          <p:nvPr/>
        </p:nvCxnSpPr>
        <p:spPr>
          <a:xfrm>
            <a:off x="6366709" y="2518583"/>
            <a:ext cx="4884188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6" idx="4"/>
            <a:endCxn id="9" idx="0"/>
          </p:cNvCxnSpPr>
          <p:nvPr/>
        </p:nvCxnSpPr>
        <p:spPr>
          <a:xfrm flipH="1">
            <a:off x="937394" y="2518583"/>
            <a:ext cx="5429315" cy="81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ight Arrow 29"/>
          <p:cNvSpPr/>
          <p:nvPr/>
        </p:nvSpPr>
        <p:spPr>
          <a:xfrm rot="14165526">
            <a:off x="5229004" y="3806863"/>
            <a:ext cx="707666" cy="437322"/>
          </a:xfrm>
          <a:prstGeom prst="rightArrow">
            <a:avLst/>
          </a:prstGeom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1" name="Cross 30"/>
          <p:cNvSpPr/>
          <p:nvPr/>
        </p:nvSpPr>
        <p:spPr>
          <a:xfrm rot="18888170">
            <a:off x="788678" y="3373316"/>
            <a:ext cx="339326" cy="341906"/>
          </a:xfrm>
          <a:prstGeom prst="plus">
            <a:avLst>
              <a:gd name="adj" fmla="val 4387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2" name="Cross 31"/>
          <p:cNvSpPr/>
          <p:nvPr/>
        </p:nvSpPr>
        <p:spPr>
          <a:xfrm rot="18888170">
            <a:off x="1574686" y="3351099"/>
            <a:ext cx="339326" cy="341906"/>
          </a:xfrm>
          <a:prstGeom prst="plus">
            <a:avLst>
              <a:gd name="adj" fmla="val 4387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3" name="Cross 32"/>
          <p:cNvSpPr/>
          <p:nvPr/>
        </p:nvSpPr>
        <p:spPr>
          <a:xfrm rot="18888170">
            <a:off x="9559379" y="3399847"/>
            <a:ext cx="339326" cy="341906"/>
          </a:xfrm>
          <a:prstGeom prst="plus">
            <a:avLst>
              <a:gd name="adj" fmla="val 4387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4" name="Cross 33"/>
          <p:cNvSpPr/>
          <p:nvPr/>
        </p:nvSpPr>
        <p:spPr>
          <a:xfrm rot="18888170">
            <a:off x="11062749" y="3373315"/>
            <a:ext cx="339326" cy="341906"/>
          </a:xfrm>
          <a:prstGeom prst="plus">
            <a:avLst>
              <a:gd name="adj" fmla="val 43872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1057633" y="4536395"/>
                <a:ext cx="10650480" cy="18158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>
                        <a:lumMod val="50000"/>
                      </a:schemeClr>
                    </a:solidFill>
                  </a:rPr>
                  <a:t>We have a rule to propagate examples to </a:t>
                </a:r>
              </a:p>
              <a:p>
                <a:r>
                  <a:rPr lang="en-US" sz="2800" dirty="0">
                    <a:solidFill>
                      <a:schemeClr val="accent2">
                        <a:lumMod val="50000"/>
                      </a:schemeClr>
                    </a:solidFill>
                  </a:rPr>
                  <a:t>map x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8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sz="28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𝑒𝑥𝑝𝑟</m:t>
                    </m:r>
                  </m:oMath>
                </a14:m>
                <a:endParaRPr lang="en-US" sz="2800" dirty="0">
                  <a:solidFill>
                    <a:schemeClr val="accent2">
                      <a:lumMod val="50000"/>
                    </a:schemeClr>
                  </a:solidFill>
                </a:endParaRPr>
              </a:p>
              <a:p>
                <a:r>
                  <a:rPr lang="en-US" sz="2800" dirty="0">
                    <a:solidFill>
                      <a:schemeClr val="accent2">
                        <a:lumMod val="50000"/>
                      </a:schemeClr>
                    </a:solidFill>
                  </a:rPr>
                  <a:t>But it clearly cannot work in this case because the input and output lists</a:t>
                </a:r>
              </a:p>
              <a:p>
                <a:r>
                  <a:rPr lang="en-US" sz="2800" dirty="0">
                    <a:solidFill>
                      <a:schemeClr val="accent2">
                        <a:lumMod val="50000"/>
                      </a:schemeClr>
                    </a:solidFill>
                  </a:rPr>
                  <a:t>are of different sizes</a:t>
                </a: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633" y="4536395"/>
                <a:ext cx="10650480" cy="1815882"/>
              </a:xfrm>
              <a:prstGeom prst="rect">
                <a:avLst/>
              </a:prstGeom>
              <a:blipFill>
                <a:blip r:embed="rId6"/>
                <a:stretch>
                  <a:fillRect l="-1144" t="-3020" r="-114" b="-8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45648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 for filter as well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99130" y="1247112"/>
                <a:ext cx="2576154" cy="13767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1,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75,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83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  <m:m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0,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87,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95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  <m:m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8,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77,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80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130" y="1247112"/>
                <a:ext cx="2576154" cy="13767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748834" y="1247112"/>
                <a:ext cx="1745799" cy="13767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5,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83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  <m:m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9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95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  <m:m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7</m:t>
                                      </m:r>
                                    </m:e>
                                    <m:e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80</m:t>
                                      </m:r>
                                    </m:e>
                                  </m:mr>
                                </m:m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8834" y="1247112"/>
                <a:ext cx="1745799" cy="13767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Arrow 6"/>
          <p:cNvSpPr/>
          <p:nvPr/>
        </p:nvSpPr>
        <p:spPr>
          <a:xfrm>
            <a:off x="7849192" y="1590216"/>
            <a:ext cx="644577" cy="692904"/>
          </a:xfrm>
          <a:prstGeom prst="rightArrow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30349" y="1781025"/>
            <a:ext cx="322288" cy="3112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42342" y="1643117"/>
                <a:ext cx="374833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sz="3200" dirty="0"/>
                  <a:t>filter (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sz="3200" dirty="0"/>
                  <a:t>. expr)  x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2342" y="1643117"/>
                <a:ext cx="3748334" cy="584775"/>
              </a:xfrm>
              <a:prstGeom prst="rect">
                <a:avLst/>
              </a:prstGeom>
              <a:blipFill>
                <a:blip r:embed="rId4"/>
                <a:stretch>
                  <a:fillRect t="-12632" r="-651" b="-3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407992" y="2887682"/>
            <a:ext cx="3222357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x= [71, 75, 83] , y=71</a:t>
            </a:r>
          </a:p>
          <a:p>
            <a:r>
              <a:rPr lang="en-US" sz="2800" dirty="0"/>
              <a:t>x= [71, 75, 83] , y=75</a:t>
            </a:r>
          </a:p>
          <a:p>
            <a:r>
              <a:rPr lang="en-US" sz="2800" dirty="0"/>
              <a:t>x= [71, 75, 83] , y=83</a:t>
            </a:r>
          </a:p>
          <a:p>
            <a:r>
              <a:rPr lang="en-US" sz="2800" dirty="0"/>
              <a:t>x= [90, 87, 95] , y=90</a:t>
            </a:r>
          </a:p>
          <a:p>
            <a:r>
              <a:rPr lang="en-US" sz="2800" dirty="0"/>
              <a:t>x= [90, 87, 95] , y=87</a:t>
            </a:r>
          </a:p>
          <a:p>
            <a:r>
              <a:rPr lang="en-US" sz="2800" dirty="0"/>
              <a:t>x= [90, 87, 95] , y=95</a:t>
            </a:r>
          </a:p>
          <a:p>
            <a:r>
              <a:rPr lang="en-US" sz="2800" dirty="0"/>
              <a:t>x= [68, 77, 80] , y=68</a:t>
            </a:r>
          </a:p>
          <a:p>
            <a:r>
              <a:rPr lang="en-US" sz="2800" dirty="0"/>
              <a:t>x= [68, 77, 80] , y=77</a:t>
            </a:r>
          </a:p>
          <a:p>
            <a:r>
              <a:rPr lang="en-US" sz="2800" dirty="0"/>
              <a:t>x= [68, 77, 80] , y=80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849192" y="4330173"/>
            <a:ext cx="644577" cy="692904"/>
          </a:xfrm>
          <a:prstGeom prst="rightArrow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630349" y="4520982"/>
            <a:ext cx="322288" cy="3112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5441397" y="4330173"/>
            <a:ext cx="9190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expr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8748834" y="2929789"/>
            <a:ext cx="858953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false</a:t>
            </a:r>
          </a:p>
          <a:p>
            <a:r>
              <a:rPr lang="en-US" sz="2800" dirty="0"/>
              <a:t>true</a:t>
            </a:r>
          </a:p>
          <a:p>
            <a:r>
              <a:rPr lang="en-US" sz="2800" dirty="0"/>
              <a:t>true</a:t>
            </a:r>
          </a:p>
          <a:p>
            <a:r>
              <a:rPr lang="en-US" sz="2800" dirty="0"/>
              <a:t>true</a:t>
            </a:r>
          </a:p>
          <a:p>
            <a:r>
              <a:rPr lang="en-US" sz="2800" dirty="0"/>
              <a:t>false</a:t>
            </a:r>
          </a:p>
          <a:p>
            <a:r>
              <a:rPr lang="en-US" sz="2800" dirty="0"/>
              <a:t>true</a:t>
            </a:r>
          </a:p>
          <a:p>
            <a:r>
              <a:rPr lang="en-US" sz="2800" dirty="0"/>
              <a:t>false</a:t>
            </a:r>
          </a:p>
          <a:p>
            <a:r>
              <a:rPr lang="en-US" sz="2800" dirty="0"/>
              <a:t>true</a:t>
            </a:r>
          </a:p>
          <a:p>
            <a:r>
              <a:rPr lang="en-US" sz="2800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42197873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Deduction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of these tricks are codified into deduction rules</a:t>
            </a:r>
          </a:p>
          <a:p>
            <a:endParaRPr lang="en-US" dirty="0"/>
          </a:p>
          <a:p>
            <a:r>
              <a:rPr lang="en-US" dirty="0"/>
              <a:t>Two kinds of rules</a:t>
            </a:r>
          </a:p>
          <a:p>
            <a:pPr lvl="1"/>
            <a:r>
              <a:rPr lang="en-US" dirty="0"/>
              <a:t>Rules that tell you that a candidate is not going to work</a:t>
            </a:r>
          </a:p>
          <a:p>
            <a:pPr lvl="2"/>
            <a:r>
              <a:rPr lang="en-US" dirty="0"/>
              <a:t>for example if input list has different length from output list, map f in will not work</a:t>
            </a:r>
          </a:p>
          <a:p>
            <a:pPr lvl="1"/>
            <a:r>
              <a:rPr lang="en-US" dirty="0"/>
              <a:t>Rules that tell you how to propagate input/outputs to new expressions</a:t>
            </a:r>
          </a:p>
        </p:txBody>
      </p:sp>
    </p:spTree>
    <p:extLst>
      <p:ext uri="{BB962C8B-B14F-4D97-AF65-F5344CB8AC3E}">
        <p14:creationId xmlns:p14="http://schemas.microsoft.com/office/powerpoint/2010/main" val="30392180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8369453" cy="1325563"/>
          </a:xfrm>
        </p:spPr>
        <p:txBody>
          <a:bodyPr/>
          <a:lstStyle/>
          <a:p>
            <a:r>
              <a:rPr lang="en-US" dirty="0"/>
              <a:t>Rule format: when it won’t 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110901" y="2529191"/>
                <a:ext cx="7642220" cy="13690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𝑐𝑜𝑛𝑑𝑖𝑡𝑖𝑜𝑛𝑠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𝐸𝑥𝑎𝑚𝑝𝑙𝑒𝑠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𝑒𝑥𝑝𝑟𝑒𝑠𝑠𝑖𝑜𝑛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⊢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:⊥ </m:t>
                          </m:r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0901" y="2529191"/>
                <a:ext cx="7642220" cy="13690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endCxn id="4" idx="2"/>
          </p:cNvCxnSpPr>
          <p:nvPr/>
        </p:nvCxnSpPr>
        <p:spPr>
          <a:xfrm flipV="1">
            <a:off x="5107021" y="3898220"/>
            <a:ext cx="824990" cy="82942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 flipH="1">
            <a:off x="3417813" y="4790195"/>
            <a:ext cx="33784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Expression involving a function f </a:t>
            </a:r>
          </a:p>
        </p:txBody>
      </p:sp>
    </p:spTree>
    <p:extLst>
      <p:ext uri="{BB962C8B-B14F-4D97-AF65-F5344CB8AC3E}">
        <p14:creationId xmlns:p14="http://schemas.microsoft.com/office/powerpoint/2010/main" val="3480632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rule for map</a:t>
            </a:r>
          </a:p>
        </p:txBody>
      </p:sp>
      <p:pic>
        <p:nvPicPr>
          <p:cNvPr id="4" name="Picture 3" descr="Screen Shot 2016-03-21 at 7.17.19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68" y="1669189"/>
            <a:ext cx="9901745" cy="3646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5544" y="5315669"/>
            <a:ext cx="10706100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ja-JP" sz="3600" b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If</a:t>
            </a:r>
            <a:r>
              <a:rPr kumimoji="0" lang="en-US" altLang="ja-JP" sz="3600" b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 the same input value is mapped to multiple output values, then there is no possible function </a:t>
            </a:r>
            <a:r>
              <a:rPr kumimoji="0" lang="en-US" altLang="ja-JP" sz="3600" b="0" i="1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f</a:t>
            </a:r>
            <a:r>
              <a:rPr kumimoji="0" lang="en-US" altLang="ja-JP" sz="3600" b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Light"/>
              </a:rPr>
              <a:t>.</a:t>
            </a:r>
            <a:endParaRPr kumimoji="0" lang="ja-JP" altLang="en-US" sz="3600" b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2324740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8369453" cy="1325563"/>
          </a:xfrm>
        </p:spPr>
        <p:txBody>
          <a:bodyPr/>
          <a:lstStyle/>
          <a:p>
            <a:r>
              <a:rPr lang="en-US" dirty="0"/>
              <a:t>Rule format: when we can propagate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92220" y="2529191"/>
                <a:ext cx="10583603" cy="13690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4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𝑐𝑜𝑛𝑑𝑖𝑡𝑖𝑜𝑛𝑠</m:t>
                          </m:r>
                        </m:num>
                        <m:den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𝐸𝑥𝑎𝑚𝑝𝑙𝑒𝑠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𝑒𝑥𝑝𝑟𝑒𝑠𝑠𝑖𝑜𝑛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⊢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𝑁𝑒𝑤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𝐸𝑥𝑎𝑚𝑝𝑙𝑒𝑠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220" y="2529191"/>
                <a:ext cx="10583603" cy="13690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14385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rules for map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60" y="2533992"/>
            <a:ext cx="11459732" cy="265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833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xperimental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75B73"/>
      </a:accent1>
      <a:accent2>
        <a:srgbClr val="CD0909"/>
      </a:accent2>
      <a:accent3>
        <a:srgbClr val="3F7830"/>
      </a:accent3>
      <a:accent4>
        <a:srgbClr val="08110B"/>
      </a:accent4>
      <a:accent5>
        <a:srgbClr val="DCA800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erlin Sans FB"/>
        <a:ea typeface=""/>
        <a:cs typeface=""/>
      </a:majorFont>
      <a:minorFont>
        <a:latin typeface="Calibr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24502</TotalTime>
  <Words>1642</Words>
  <Application>Microsoft Office PowerPoint</Application>
  <PresentationFormat>Widescreen</PresentationFormat>
  <Paragraphs>351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Berlin Sans FB</vt:lpstr>
      <vt:lpstr>Calibri</vt:lpstr>
      <vt:lpstr>Cambria Math</vt:lpstr>
      <vt:lpstr>Helvetica Light</vt:lpstr>
      <vt:lpstr>Wingdings</vt:lpstr>
      <vt:lpstr>office theme</vt:lpstr>
      <vt:lpstr>Lecture 4 Top-Down Explicit Search</vt:lpstr>
      <vt:lpstr>Quick Intro to Functional Idioms</vt:lpstr>
      <vt:lpstr>foldl definition</vt:lpstr>
      <vt:lpstr>foldl definition</vt:lpstr>
      <vt:lpstr>foldl definition</vt:lpstr>
      <vt:lpstr>foldl definition</vt:lpstr>
      <vt:lpstr>foldl definition</vt:lpstr>
      <vt:lpstr>foldl definition</vt:lpstr>
      <vt:lpstr>foldl definition</vt:lpstr>
      <vt:lpstr>Example</vt:lpstr>
      <vt:lpstr>Example</vt:lpstr>
      <vt:lpstr>Example</vt:lpstr>
      <vt:lpstr>Defining the language</vt:lpstr>
      <vt:lpstr>Top-down search</vt:lpstr>
      <vt:lpstr>Top-down search</vt:lpstr>
      <vt:lpstr>Top-down search</vt:lpstr>
      <vt:lpstr>Types</vt:lpstr>
      <vt:lpstr>Types</vt:lpstr>
      <vt:lpstr>Types</vt:lpstr>
      <vt:lpstr>Types</vt:lpstr>
      <vt:lpstr>Type-based pruning</vt:lpstr>
      <vt:lpstr>Type-based pruning</vt:lpstr>
      <vt:lpstr>Type-based pruning</vt:lpstr>
      <vt:lpstr>Type-based pruning</vt:lpstr>
      <vt:lpstr>We can do better</vt:lpstr>
      <vt:lpstr>Example</vt:lpstr>
      <vt:lpstr>Continuing the search</vt:lpstr>
      <vt:lpstr>Continuing the search</vt:lpstr>
      <vt:lpstr>Continuing the search</vt:lpstr>
      <vt:lpstr>Works for filter as well</vt:lpstr>
      <vt:lpstr>Deduction rules</vt:lpstr>
      <vt:lpstr>Rule format: when it won’t work</vt:lpstr>
      <vt:lpstr>Example: rule for map</vt:lpstr>
      <vt:lpstr>Rule format: when we can propagate</vt:lpstr>
      <vt:lpstr>Example rules for 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Armando Solar-Lezama</dc:creator>
  <cp:lastModifiedBy>Armando Solar-Lezama</cp:lastModifiedBy>
  <cp:revision>726</cp:revision>
  <cp:lastPrinted>2014-10-05T11:58:39Z</cp:lastPrinted>
  <dcterms:created xsi:type="dcterms:W3CDTF">2014-09-23T19:26:18Z</dcterms:created>
  <dcterms:modified xsi:type="dcterms:W3CDTF">2025-09-12T20:57:57Z</dcterms:modified>
</cp:coreProperties>
</file>